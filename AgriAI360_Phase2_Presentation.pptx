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1371600"/>
            <a:ext cx="4114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6BB6A"/>
                </a:solidFill>
                <a:latin typeface="Calibri"/>
              </a:rPr>
              <a:t>MAJOR PROJECT · PHASE 2 PROGRESS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FC4B6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AgriAI 360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AFC4B6"/>
                </a:solidFill>
                <a:latin typeface="Calibri"/>
              </a:rPr>
              <a:t>Beyond Crop Recommendation — Yield, Profit, Water, Risk, Disease, Fertilizer, Market Price, Notifications, AI Assistant &amp; Real-Time Intelligence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3840480"/>
            <a:ext cx="10881360" cy="0"/>
          </a:xfrm>
          <a:prstGeom prst="line">
            <a:avLst/>
          </a:prstGeom>
          <a:ln w="9525">
            <a:solidFill>
              <a:srgbClr val="2A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4069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TEAM MEMBERS &amp; PRESENTATION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434840"/>
            <a:ext cx="6858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alibri"/>
              </a:rPr>
              <a:t>Alden Pais — NNM23CS020 (Yield &amp; Profit Prediction)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82312"/>
            <a:ext cx="6858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alibri"/>
              </a:rPr>
              <a:t>Disha Shetty — NNM23CS067 (Water Requirement &amp; Yield Risk)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129784"/>
            <a:ext cx="6858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alibri"/>
              </a:rPr>
              <a:t>Divya R — NNM23CS068 (Disease Detection &amp; Fertilizer Advisor)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477256"/>
            <a:ext cx="6858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alibri"/>
              </a:rPr>
              <a:t>Harsheel S Gowda — NNM23CS082 (Market Price Intelligence &amp; Notifications)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0690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UNDER THE GUIDANCE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44348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Dr. Dhasny Lydia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77316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Dept. of Computer Science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and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440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NMAM Institute of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574243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AFC4B6"/>
                </a:solidFill>
                <a:latin typeface="Calibri"/>
              </a:rPr>
              <a:t>Academic Year 2026–27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RECAP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1B15"/>
                </a:solidFill>
                <a:latin typeface="Calibri"/>
              </a:rPr>
              <a:t>What Was Already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Phase 1 shipped the core, explainable crop-recommendation engine end to end: a trained Random Forest classifier over real soil + weather data, SHAP-based explanations, and a 4-model comparison lab — verified against a running system, not a mockup.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31720"/>
            <a:ext cx="3538728" cy="1234440"/>
          </a:xfrm>
          <a:prstGeom prst="roundRect">
            <a:avLst>
              <a:gd name="adj" fmla="val 8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551176"/>
            <a:ext cx="1234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E7D32"/>
                </a:solidFill>
                <a:latin typeface="Calibri"/>
              </a:rPr>
              <a:t>99.3%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496312"/>
            <a:ext cx="18928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A5A50"/>
                </a:solidFill>
                <a:latin typeface="Calibri"/>
              </a:rPr>
              <a:t>Random Forest test accuracy on the 22-crop recommendation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331720"/>
            <a:ext cx="3538728" cy="1234440"/>
          </a:xfrm>
          <a:prstGeom prst="roundRect">
            <a:avLst>
              <a:gd name="adj" fmla="val 8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551176"/>
            <a:ext cx="1234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E7D32"/>
                </a:solidFill>
                <a:latin typeface="Calibri"/>
              </a:rPr>
              <a:t>SHAP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2496312"/>
            <a:ext cx="18928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A5A50"/>
                </a:solidFill>
                <a:latin typeface="Calibri"/>
              </a:rPr>
              <a:t>Real per-feature explanation for every "why this crop?" recommendation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2331720"/>
            <a:ext cx="3538728" cy="1234440"/>
          </a:xfrm>
          <a:prstGeom prst="roundRect">
            <a:avLst>
              <a:gd name="adj" fmla="val 8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2551176"/>
            <a:ext cx="1234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E7D32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8048" y="2496312"/>
            <a:ext cx="18928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A5A50"/>
                </a:solidFill>
                <a:latin typeface="Calibri"/>
              </a:rPr>
              <a:t>Algorithms honestly compared (RF, Gradient Boosting, XGBoost, SVM)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9476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995928"/>
            <a:ext cx="10479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THIS PRESENTATION COVERS WHAT'S BEEN BUILT SINCE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343400"/>
            <a:ext cx="1047902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Ten new modules layered on top of that Phase 1 core — nine implemented and verified end-to-end (Yield, Profit, Water, Risk, Disease Detection, Fertilizer, Market Price, Notifications, and the AI Agriculture Assistant) and one partially delivered (Real-Time Agri Intelligence: Weather and IoT ingestion are real; Satellite/NDVI has no data provider connected) — all following the same rule: every number shown is real, trained, or from a published source — never fabricated.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PRESENTATION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8 Modules, One per Member Pair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FC4B6"/>
                </a:solidFill>
                <a:latin typeface="Calibri"/>
              </a:rPr>
              <a:t>Same format as the Phase 1 literature review — each member owns two modules end to end: the problem it solves, the method/data behind it, and the honest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49240" cy="1783080"/>
          </a:xfrm>
          <a:prstGeom prst="roundRect">
            <a:avLst>
              <a:gd name="adj" fmla="val 5000"/>
            </a:avLst>
          </a:prstGeom>
          <a:solidFill>
            <a:srgbClr val="1F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26771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F4A2E"/>
                </a:solidFill>
                <a:latin typeface="Calibri"/>
              </a:rPr>
              <a:t>MEMBER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0048"/>
            <a:ext cx="48371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Alden Pais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48371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3EAE5"/>
                </a:solidFill>
                <a:latin typeface="Calibri"/>
              </a:rPr>
              <a:t>NNM23CS020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46704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Yield Prediction (ML)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Profit Prediction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2011680"/>
            <a:ext cx="5349240" cy="1783080"/>
          </a:xfrm>
          <a:prstGeom prst="roundRect">
            <a:avLst>
              <a:gd name="adj" fmla="val 5000"/>
            </a:avLst>
          </a:prstGeom>
          <a:solidFill>
            <a:srgbClr val="1E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9944" y="226771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E3A5C"/>
                </a:solidFill>
                <a:latin typeface="Calibri"/>
              </a:rPr>
              <a:t>MEMBER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670048"/>
            <a:ext cx="48371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Disha Shetty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017520"/>
            <a:ext cx="48371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3EAE5"/>
                </a:solidFill>
                <a:latin typeface="Calibri"/>
              </a:rPr>
              <a:t>NNM23CS067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3346704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Water Requirement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3639312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Yield Risk (ML)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41064"/>
            <a:ext cx="5349240" cy="1783080"/>
          </a:xfrm>
          <a:prstGeom prst="roundRect">
            <a:avLst>
              <a:gd name="adj" fmla="val 5000"/>
            </a:avLst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419709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8A5A1E"/>
                </a:solidFill>
                <a:latin typeface="Calibri"/>
              </a:rPr>
              <a:t>MEMBER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99432"/>
            <a:ext cx="48371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Divya 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46904"/>
            <a:ext cx="48371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3EAE5"/>
                </a:solidFill>
                <a:latin typeface="Calibri"/>
              </a:rPr>
              <a:t>NNM23CS068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76088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Disease Detection / Crop Doctor (ML)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568696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Fertilizer Advisor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3912" y="3941064"/>
            <a:ext cx="5349240" cy="1783080"/>
          </a:xfrm>
          <a:prstGeom prst="roundRect">
            <a:avLst>
              <a:gd name="adj" fmla="val 5000"/>
            </a:avLst>
          </a:prstGeom>
          <a:solidFill>
            <a:srgbClr val="7A2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9944" y="419709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A2E28"/>
                </a:solidFill>
                <a:latin typeface="Calibri"/>
              </a:rPr>
              <a:t>MEMBER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4599432"/>
            <a:ext cx="48371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Harsheel S Gowda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4946904"/>
            <a:ext cx="48371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3EAE5"/>
                </a:solidFill>
                <a:latin typeface="Calibri"/>
              </a:rPr>
              <a:t>NNM23CS082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5276088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Market Price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5568696"/>
            <a:ext cx="48371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→ Personalized Notifications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98017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66BB6A"/>
                </a:solidFill>
                <a:latin typeface="Calibri"/>
              </a:rPr>
              <a:t>+ 2 additional modules delivered as team-wide work (not assigned to an individual member): AI Agriculture Assistant · Real-Time Agri Intelligence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2A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Yield Prediction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17537" y="457200"/>
            <a:ext cx="3822191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ALDEN 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Estimates expected yield (tonnes/hectare) for a crop from its state, season and the trained regression model — a regional-historical estimate, not a per-farm forecast, and honestly labeled as such.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46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514600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325,000 district-level India crop-production records, 1997–2020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8269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Active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3282696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XGBoost Regressor (also trained: Random Forest, Gradient Boosting)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0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050792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11 of 22 crops — the rest honestly report "not available"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188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Shown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4818888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Right under the Top-5 crop recommendation on the detail page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1335024"/>
            <a:ext cx="4818888" cy="219456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MODEL PERFORMANCE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922008" y="1901952"/>
          <a:ext cx="4416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/>
                <a:gridCol w="1472184"/>
                <a:gridCol w="1472184"/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XGBoost (active)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0.919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1.03 t/ha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0.919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1.03 t/ha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0.793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2.09 t/ha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720840" y="3730752"/>
            <a:ext cx="4818888" cy="141732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8" y="393192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HONEST LIMITATION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4279392"/>
            <a:ext cx="4416552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No access to an individual farm's soil, irrigation or this season's real weather — it answers "how has this crop performed in this state/season historically," not a per-farm prediction.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Profit Prediction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17537" y="457200"/>
            <a:ext cx="3822191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ALDEN 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Not a trained model — a transparent calculation: real yield estimate × real historical market price, minus a cost the farmer supplies. Deliberately not modeled, because no honest per-farm cost-of-cultivation dataset exists.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1460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21B15"/>
                </a:solidFill>
                <a:latin typeface="Calibri"/>
              </a:rPr>
              <a:t>Yield Estimate (t/ha) × 2016 Agmarknet Median Price = Revenue − Farmer-Supplied Cost = Estimated Profit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335024"/>
            <a:ext cx="4818888" cy="155448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WHY COST ISN'T MODELED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2008" y="1883664"/>
            <a:ext cx="4416552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No honest public per-farm cost-of-cultivation dataset was found. Inventing one would violate this project's own "never fabricate a number" rule — so cost stays farmer-supplied, by design.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090672"/>
            <a:ext cx="4818888" cy="141732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2008" y="329184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3639312"/>
            <a:ext cx="4416552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6 crops — the intersection of yield-supported crops and price-supported crops. Revenue uses real but non-inflation-adjusted 2016 mandi prices.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Water Requirement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24928" y="457200"/>
            <a:ext cx="4114800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DISHA SHETTY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Not a trained model — the real, published FAO formula, fetched and parsed directly from the primary FAO documents rather than recalled from memory.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1460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4261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21B15"/>
                </a:solidFill>
                <a:latin typeface="Calibri"/>
              </a:rPr>
              <a:t>ETo = p × (0.46 × Tmean + 8)  →  × FAO-56 Kc_mid − USDA effective rainfall = Net Irrigation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4290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3429000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17 of 22 crops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9227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3922776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mm/day and liters/day/acre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335024"/>
            <a:ext cx="4818888" cy="182880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A BUG CAUGHT BEFORE SHIPPING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2008" y="1883664"/>
            <a:ext cx="4416552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An earlier version derived p from solar day-length instead of using FAO's own table — it produced an unrealistic ETo ≈ 22.8 mm/day vs. the real ≈ 6.2 mm/day for a test case. Caught, documented, and replaced with FAO's actual source table.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Yield Risk (ML-Based)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24928" y="457200"/>
            <a:ext cx="4114800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DISHA SHETTY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A trained classifier predicting LOW / MEDIUM / HIGH — how a crop has historically ranked nationally for a given state/season. Augments, never replaces, the existing rule-based risk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46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514600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Random Forest, 3 algorithms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083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Test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3008376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55.3% on 2016–2020 (years unseen in training) vs. 33.3%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77647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Sanity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3776472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Punjab correctly predicted LOW risk for rice — India's best-known high-yield rice state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335024"/>
            <a:ext cx="4818888" cy="182880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A TRAIN/TEST LEAKAGE BUG, CAUGHT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2008" y="1883664"/>
            <a:ext cx="4416552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A first random-split attempt reported a flattering 64.5%. Proper cross-validation on the same data came back at only 36.9% — near-duplicate (state, crop, season) rows from different years were leaking across train/test. Fixed with a temporal split; real result: 55.3%.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Disease Detection — "AI Crop Doctor"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56448" y="457200"/>
            <a:ext cx="3383280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DIVYA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Upload a leaf photo → real diagnosis. A frozen ImageNet-pretrained MobileNetV3-Small extracts a 576-dim feature vector; a trained classifier head identifies crop + disease/healthy condition.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46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514600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3,875 real leaf images (PlantVillage-Dataset)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083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3008376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13 classes across 4 crops — apple, maize, grapes, 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77647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Active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3776472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Logistic Regression on MobileNetV3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7024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Follow-up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4270248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Real curated care guidance (pathogen, cultural + chemical control) per class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1335024"/>
            <a:ext cx="4818888" cy="219456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MODEL PERFORMANCE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922008" y="1901952"/>
          <a:ext cx="4416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276"/>
                <a:gridCol w="2208276"/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Logistic Regression (active)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97.94%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95.74%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95.48%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720840" y="3730752"/>
            <a:ext cx="4818888" cy="141732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8" y="393192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VERIFIED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4279392"/>
            <a:ext cx="4416552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Maize Common Rust: 99.8% confidence. Healthy apple leaf: 99.98% confidence — both through the real /api/predict/disease endpoint, not just offline metrics.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Fertilizer Advisor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56448" y="457200"/>
            <a:ext cx="3383280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DIVYA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Rule-based decision support built on the same N/P/K/pH reference bands already used by the soil-health score — one source of truth, no drifting thresholds.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4600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>
                <a:solidFill>
                  <a:srgbClr val="121B15"/>
                </a:solidFill>
                <a:latin typeface="Calibri"/>
              </a:rPr>
              <a:t>•  Flags each nutrient DEFICIENT / ADEQUATE / EXCESS against agronomic reference ranges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36392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>
                <a:solidFill>
                  <a:srgbClr val="121B15"/>
                </a:solidFill>
                <a:latin typeface="Calibri"/>
              </a:rPr>
              <a:t>•  pH guidance for strongly acidic / alkaline soils (nutrient availability effects)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>
                <a:solidFill>
                  <a:srgbClr val="121B15"/>
                </a:solidFill>
                <a:latin typeface="Calibri"/>
              </a:rPr>
              <a:t>•  Organic carbon (SOC) guidance — low / moderate / healthy bands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42232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>
                <a:solidFill>
                  <a:srgbClr val="121B15"/>
                </a:solidFill>
                <a:latin typeface="Calibri"/>
              </a:rPr>
              <a:t>•  Growth-stage-aware application timing: seedling → vegetative → flowering → fruiting → maturity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64024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>
                <a:solidFill>
                  <a:srgbClr val="121B15"/>
                </a:solidFill>
                <a:latin typeface="Calibri"/>
              </a:rPr>
              <a:t>•  Warns on excess nutrients and low soil moisture before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335024"/>
            <a:ext cx="4818888" cy="173736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DELIBERATELY NO DOSAGE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1883664"/>
            <a:ext cx="4416552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Never outputs a kg/acre figure. Exact rates depend on a certified local soil-test report, crop variety, target yield and state agricultural-university guidance this system doesn't have — every response carries an explicit disclaimer.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Market Price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39712" y="457200"/>
            <a:ext cx="4700016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HARSHEEL S GOWDA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Real Agmarknet (Government of India) mandi price records, queried through a swappable MarketPriceProvider interface — mirrors the same pattern already used for weather, so a live Agmarknet/eNAM feed can be swapped in later without touching routes or frontend.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46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514600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263,520 real daily mandi price rows, calendar year 2016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8269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3282696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6 crops across up to 23 states and 848 markets/crop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0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050792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Latest snapshot, price trend, cross-market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335024"/>
            <a:ext cx="4818888" cy="219456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SAMPLE DATA SCALE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922008" y="1901952"/>
          <a:ext cx="4416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/>
                <a:gridCol w="1472184"/>
                <a:gridCol w="1472184"/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Crop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Records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Markets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Rice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69,488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Maize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55,902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848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Pigeon peas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41,240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679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720840" y="3730752"/>
            <a:ext cx="4818888" cy="105156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22008" y="393192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HONEST LABEL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4279392"/>
            <a:ext cx="44165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Real government data, but a fixed historical year — clearly marked "not live" everywhere it's shown.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1B15"/>
                </a:solidFill>
                <a:latin typeface="Calibri"/>
              </a:rPr>
              <a:t>Personalized Notifications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39712" y="457200"/>
            <a:ext cx="4700016" cy="384048"/>
          </a:xfrm>
          <a:prstGeom prst="roundRect">
            <a:avLst>
              <a:gd name="adj" fmla="val 50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PRESENTED BY HARSHEEL S GOWDA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Derives alerts from the same real data every other module already computes — soil health, weather, risk, latest disease diagnosis, market price trend. Never invents or randomizes content.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14600"/>
            <a:ext cx="5486400" cy="548640"/>
          </a:xfrm>
          <a:prstGeom prst="roundRect">
            <a:avLst>
              <a:gd name="adj" fmla="val 15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5146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1B15"/>
                </a:solidFill>
                <a:latin typeface="Calibri"/>
              </a:rPr>
              <a:t>Soil Health → Weather → Risk → Disease Diagnosis → Market Trend → Deduplicated Farmer Alert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335024"/>
            <a:ext cx="4818888" cy="155448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5 ALERT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2008" y="1883664"/>
            <a:ext cx="4416552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FERTILIZER (low soil score) · WEATHER (rain in forecast) · RISK (medium/high overall) · DISEASE (recent positive diagnosis) · MARKET (±5% price swing on the farmer's own top-recommended crop)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090672"/>
            <a:ext cx="4818888" cy="128016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2008" y="329184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NO SPAM,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3639312"/>
            <a:ext cx="4416552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A 12-hour dedup window skips re-creating an identical title+message, so repeated dashboard loads don't flood the farmer with duplicates.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121B15"/>
                </a:solidFill>
                <a:latin typeface="Calibri"/>
              </a:rPr>
              <a:t>AI Agriculture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A real, working chat grounded in the farmer's own data — not a general chatbot. Per the project's no-fabrication rule, it's built and explicitly labeled as a rule-based, keyword-classified Q&amp;A engine, not an 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No LLM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848" y="2514600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No ANTHROPIC_API_KEY / OPENAI_API_KEY configured in .env.example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8269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Grounded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3282696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Real per-farm soil, weather, risk, disease, fertilizer, market price &amp; live SHAP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50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4050792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Only recognized intents — says "I couldn't match that" rather than inventing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8188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Persisted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4818888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Real chat_sessions / chat_messages database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5869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5586984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21B15"/>
                </a:solidFill>
                <a:latin typeface="Calibri"/>
              </a:rPr>
              <a:t>POST /api/assistant/ask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335024"/>
            <a:ext cx="4818888" cy="123444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SINGLE SWAP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1883664"/>
            <a:ext cx="441655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If a real LLM/RAG API is added later, answer_question() is the one call site to swap — the router and DB schema don't need to change.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2770632"/>
            <a:ext cx="4818888" cy="214884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2008" y="297180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VERIFIED LIVE, THIS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8" y="3319272"/>
            <a:ext cx="4416552" cy="1399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A live HTTP test against the running backend confirmed: a bare greeting gets a friendly reply without a farm selected; a real question without a farm is correctly asked to select one; and a real question with a farm returns an answer grounded in that farm's actual soil record. A guard bug (a substring match on "hi" that let unrelated messages like "why is my risk high" bypass the farm-selection check) was found and fixed in this same session.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MODULE · PARTIALLY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21B15"/>
                </a:solidFill>
                <a:latin typeface="Calibri"/>
              </a:rPr>
              <a:t>Real-Time Agri Intelligence (Weather / Satellite / IoT)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4A5A50"/>
                </a:solidFill>
                <a:latin typeface="Calibri"/>
              </a:rPr>
              <a:t>Three sub-systems under one dashboard page — each honestly labeled for exactly what it is today. This is the one module, of the ten covered in this deck, that is not fully implemented.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WEATHER — real, dual-mode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0720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4A5A50"/>
                </a:solidFill>
                <a:latin typeface="Calibri"/>
              </a:rPr>
              <a:t>Default is a deterministic mock provider (source: "mock"). A genuine live provider (Open-Meteo, free, no key) also exists and works — just not switched on by default.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850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SATELLITE / NDVI — not implemented, honestly 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77640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4A5A50"/>
                </a:solidFill>
                <a:latin typeface="Calibri"/>
              </a:rPr>
              <a:t>GET /api/satellite/status always returns status: "PLANNED". No SATELLITE_API_KEY/SATELLITE_PROVIDER configured. Never fabricates an NDVI or vegetation-health reading.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8554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IOT SENSORS — real ingestion, no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148072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4A5A50"/>
                </a:solidFill>
                <a:latin typeface="Calibri"/>
              </a:rPr>
              <a:t>POST/GET /api/iot/readings are real, database-backed endpoints any physical gateway could use today. Demo readings (via /api/iot/demo/seed) are explicitly tagged source: "demo_simulation" — never mixed with real device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335024"/>
            <a:ext cx="4818888" cy="2103120"/>
          </a:xfrm>
          <a:prstGeom prst="roundRect">
            <a:avLst>
              <a:gd name="adj" fmla="val 6000"/>
            </a:avLst>
          </a:prstGeom>
          <a:solidFill>
            <a:srgbClr val="E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2008" y="1536192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WHY THIS STAYS FUTURE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1883664"/>
            <a:ext cx="4416552" cy="1353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A5A50"/>
                </a:solidFill>
                <a:latin typeface="Calibri"/>
              </a:rPr>
              <a:t>Satellite/NDVI needs a real paid/registered data provider (Sentinel Hub, Earth Engine, or Planet) — not something this project can integrate without external access. Physical IoT sensors need actual hardware. Both are architecture-ready, not simulated as done.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Updated End-to-End Block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10881360" cy="502920"/>
          </a:xfrm>
          <a:prstGeom prst="roundRect">
            <a:avLst>
              <a:gd name="adj" fmla="val 35000"/>
            </a:avLst>
          </a:prstGeom>
          <a:solidFill>
            <a:srgbClr val="2B4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Farmer / Farm Input (soil, weather, leaf photo, growth stage, chat message)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BB6A"/>
                </a:solidFill>
                <a:latin typeface="Calibri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0881360" cy="1874519"/>
          </a:xfrm>
          <a:prstGeom prst="roundRect">
            <a:avLst>
              <a:gd name="adj" fmla="val 4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FC4B6"/>
                </a:solidFill>
                <a:latin typeface="Calibri"/>
              </a:rPr>
              <a:t>SERVICE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74320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Crop Recommendation (RF)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74320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Yield (XGBoost)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274320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Profit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4" y="274320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Water (FAO)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3456" y="274320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Yield Risk (RF)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7008" y="329184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Disease (MobileNetV3+LogReg)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29184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Fertilizer Advisor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68112" y="329184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Market Price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8664" y="329184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29216" y="3291840"/>
            <a:ext cx="2057400" cy="45720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AI Assistant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3840480"/>
            <a:ext cx="3566160" cy="274320"/>
          </a:xfrm>
          <a:prstGeom prst="roundRect">
            <a:avLst>
              <a:gd name="adj" fmla="val 35000"/>
            </a:avLst>
          </a:prstGeom>
          <a:solidFill>
            <a:srgbClr val="295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Weather (mock/live) + IoT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2519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BB6A"/>
                </a:solidFill>
                <a:latin typeface="Calibri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26280"/>
            <a:ext cx="10881360" cy="457200"/>
          </a:xfrm>
          <a:prstGeom prst="roundRect">
            <a:avLst>
              <a:gd name="adj" fmla="val 35000"/>
            </a:avLst>
          </a:prstGeom>
          <a:solidFill>
            <a:srgbClr val="2B4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PostgreSQL / SQLite (SQLAlchemy) ← models/*.joblib + *_metrics.json + sensor_readings + chat_sessions/chat_messages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029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BB6A"/>
                </a:solidFill>
                <a:latin typeface="Calibri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03520"/>
            <a:ext cx="10881360" cy="502920"/>
          </a:xfrm>
          <a:prstGeom prst="roundRect">
            <a:avLst>
              <a:gd name="adj" fmla="val 35000"/>
            </a:avLst>
          </a:prstGeom>
          <a:solidFill>
            <a:srgbClr val="DFA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21B15"/>
                </a:solidFill>
                <a:latin typeface="Calibri"/>
              </a:rPr>
              <a:t>React Dashboard — Recommendations, Yield/Profit/Water, Disease Diagnosis, Fertilizer, Market Prices, Alerts, AI Assistant, Real-Time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943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AFC4B6"/>
                </a:solidFill>
                <a:latin typeface="Calibri"/>
              </a:rPr>
              <a:t>Not shown above: Satellite/NDVI — architecture-ready only, no data provider connected (GET /api/satellite/status always returns "PLANNED").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2A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Calibri"/>
              </a:rPr>
              <a:t>RESULTS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1B15"/>
                </a:solidFill>
                <a:latin typeface="Calibri"/>
              </a:rPr>
              <a:t>Every Module's Real Number, Side by Side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17320"/>
          <a:ext cx="1088136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Real Result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Crops Covered</a:t>
                      </a:r>
                    </a:p>
                  </a:txBody>
                  <a:tcPr marL="109728" marT="54864" marB="54864">
                    <a:solidFill>
                      <a:srgbClr val="2953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Crop Recommendation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99.32% test accuracy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Yield Prediction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XGBoost Regressor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R² = 0.919, MAE = 1.03 t/ha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Profit Prediction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Revenue − Cost formula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Real 2016 mandi revenue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Water Requirement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FAO Blaney-Criddle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Real published formula + tables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Yield Risk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Random Forest classifier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55.3% test accuracy (33.3% baseline)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Disease Detection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MobileNetV3 + Logistic Regression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97.94% test accuracy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4 crops / 13 classes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Fertilizer Advisor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Rule-based reference bands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Same thresholds as soil health score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Market Price Intelligence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Real Agmarknet DB query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263,520 real mandi price records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Notifications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Rule-based aggregation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5 categories, 12h dedup window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AI Agriculture Assistant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Rule-based keyword classifier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Grounded in real per-farm data (not an LLM)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9728" marT="45720" marB="45720">
                    <a:solidFill>
                      <a:srgbClr val="F6F9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Real-Time Agri Intelligence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Weather: mock/live · Satellite: none · IoT: real ingestion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Weather &amp; IoT real; Satellite always "PLANNED"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121B15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9728" marT="45720" marB="45720">
                    <a:solidFill>
                      <a:srgbClr val="ECEDE9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D8D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8A968E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Honest Constraints of the Current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01368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YIELD / PROFIT /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48840"/>
            <a:ext cx="3118104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Regional-historical, not per-farm; profit's cost side is farmer-supplied, not modeled; risk covers only 11 of 22 crops.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801368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WATER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148840"/>
            <a:ext cx="3118104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Uses FAO's own "rough estimate" Blaney-Criddle method (not the more accurate Penman-Monteith); state-capital latitude, not farm GPS.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60020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01368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DISEASE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148840"/>
            <a:ext cx="3118104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Frozen-feature-extractor, not fine-tuned; only 4 crops; PlantVillage's lab-condition images, not India field-condition photos.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2900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630168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FERTILIZER / MARKET / NOTIFICATIONS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977640"/>
            <a:ext cx="3118104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Fertilizer gives no dosage number by design; market prices are a fixed 2016 snapshot, not live; notifications only cover signals already computed elsewhere.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342900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3630168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AI ASSISTANT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3977640"/>
            <a:ext cx="3118104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Rule-based by design, not a general-purpose LLM — recognizes a fixed set of intents and says so when a question doesn't match, rather than guessing.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342900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3630168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REAL-TIME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3977640"/>
            <a:ext cx="3118104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Weather defaults to mock data (a live provider exists but isn't default); Satellite/NDVI has no data provider connected; no physical IoT sensor is connected — the real ingestion pipeline runs on demo data only.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2A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CURRENT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Overall Project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10881360" cy="502920"/>
          </a:xfrm>
          <a:prstGeom prst="roundRect">
            <a:avLst>
              <a:gd name="adj" fmla="val 50000"/>
            </a:avLst>
          </a:prstGeom>
          <a:solidFill>
            <a:srgbClr val="2A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600200"/>
            <a:ext cx="9793224" cy="502920"/>
          </a:xfrm>
          <a:prstGeom prst="roundRect">
            <a:avLst>
              <a:gd name="adj" fmla="val 50000"/>
            </a:avLst>
          </a:prstGeom>
          <a:solidFill>
            <a:srgbClr val="DFA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002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21B15"/>
                </a:solidFill>
                <a:latin typeface="Calibri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3172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FC4B6"/>
                </a:solidFill>
                <a:latin typeface="Calibri"/>
              </a:rPr>
              <a:t>Nine of the ten modules covered in this presentation — plus the full Phase 1 core — are implemented and verified end-to-end (backend test suite: 559/559 passing, plus a live end-to-end HTTP smoke test in this session). Real-Time Agri Intelligence is partially delivered: Weather and IoT ingestion are real; Satellite/NDVI has no data provider connected.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290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630168"/>
            <a:ext cx="49469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STILL NOT IMPLEMENTED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977640"/>
            <a:ext cx="4946904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A real LLM/RAG-backed AI Assistant (today: a real, working rule-based version, by design), a voice interface, multilingual responses, a live Satellite/NDVI data provider, and physical IoT hardware (today: a real ingestion endpoint + demo data, no sensor connected).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4290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3630168"/>
            <a:ext cx="49469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977640"/>
            <a:ext cx="4946904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Optional polish only: switch WEATHER_PROVIDER to open-meteo for a live weather demo. Satellite and physical IoT integration remain intentionally out of scope — they require external paid providers / hardware this project doesn't have access to.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2A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82296" cy="82296"/>
          </a:xfrm>
          <a:prstGeom prst="ellipse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Summary &amp; Path Forward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2E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53819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270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Yield &amp; Profit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4721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Water &amp;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0172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Disease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Fertilizer &amp;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1075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6526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AI Assistant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21977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Real-Time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7428" y="1600200"/>
            <a:ext cx="1022299" cy="685800"/>
          </a:xfrm>
          <a:prstGeom prst="roundRect">
            <a:avLst>
              <a:gd name="adj" fmla="val 35000"/>
            </a:avLst>
          </a:prstGeom>
          <a:solidFill>
            <a:srgbClr val="2E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6060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AFC4B6"/>
                </a:solidFill>
                <a:latin typeface="Calibri"/>
              </a:rPr>
              <a:t>AgriAI 360 has grown from a single explainable recommendation engine into a ten-module farm decision-support platform — nine implemented and verified end-to-end, one (Real-Time Agri Intelligence) partially delivered with Satellite/NDVI honestly left as future scope. Each module is trained, formula-verified, rule-based on real data, or built on real government/scientific data — and each one honest about what it doesn't yet know.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794760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172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995928"/>
            <a:ext cx="10479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66BB6A"/>
                </a:solidFill>
                <a:latin typeface="Calibri"/>
              </a:rPr>
              <a:t>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343400"/>
            <a:ext cx="10479024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FC4B6"/>
                </a:solidFill>
                <a:latin typeface="Calibri"/>
              </a:rPr>
              <a:t>Full reference list: 20 literature-review papers (Phase 1, slides 7-10) + project documentation (docs/dataset.md, docs/ml-methodology.md, docs/architecture.md, docs/future-scope.md) + each module's own train.py / service file + models/*_metrics.json + models/market_price_report.json + this session's code audit (backend test suite: 559/559 passing) and live end-to-end HTTP smoke test.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55080"/>
            <a:ext cx="10881360" cy="0"/>
          </a:xfrm>
          <a:prstGeom prst="line">
            <a:avLst/>
          </a:prstGeom>
          <a:ln w="9525">
            <a:solidFill>
              <a:srgbClr val="2A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AgriAI 360 — Phase 2 Progress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465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FC4B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