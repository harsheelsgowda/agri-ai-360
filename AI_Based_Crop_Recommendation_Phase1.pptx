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777240"/>
            <a:ext cx="3291840" cy="384048"/>
          </a:xfrm>
          <a:prstGeom prst="roundRect">
            <a:avLst>
              <a:gd name="adj" fmla="val 5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3291840" cy="384048"/>
          </a:xfrm>
          <a:prstGeom prst="rect">
            <a:avLst/>
          </a:prstGeom>
          <a:noFill/>
        </p:spPr>
        <p:txBody>
          <a:bodyPr wrap="square" anchor="ctr" lIns="0" rIns="0" tIns="0" bIns="0">
            <a:spAutoFit/>
          </a:bodyPr>
          <a:lstStyle/>
          <a:p>
            <a:pPr algn="ctr">
              <a:lnSpc>
                <a:spcPct val="100000"/>
              </a:lnSpc>
              <a:spcAft>
                <a:spcPts val="0"/>
              </a:spcAft>
            </a:pPr>
            <a:r>
              <a:rPr sz="1250" b="1" i="0">
                <a:solidFill>
                  <a:srgbClr val="66BB6A"/>
                </a:solidFill>
                <a:latin typeface="Segoe UI Semibold"/>
              </a:rPr>
              <a:t>MAJOR PROJECT  |  PHASE 1</a:t>
            </a:r>
          </a:p>
        </p:txBody>
      </p:sp>
      <p:sp>
        <p:nvSpPr>
          <p:cNvPr id="6" name="TextBox 5"/>
          <p:cNvSpPr txBox="1"/>
          <p:nvPr/>
        </p:nvSpPr>
        <p:spPr>
          <a:xfrm>
            <a:off x="822960" y="1874519"/>
            <a:ext cx="10515600" cy="457200"/>
          </a:xfrm>
          <a:prstGeom prst="rect">
            <a:avLst/>
          </a:prstGeom>
          <a:noFill/>
        </p:spPr>
        <p:txBody>
          <a:bodyPr wrap="square" anchor="t" lIns="0" rIns="0" tIns="0" bIns="0">
            <a:spAutoFit/>
          </a:bodyPr>
          <a:lstStyle/>
          <a:p>
            <a:pPr algn="l">
              <a:lnSpc>
                <a:spcPct val="100000"/>
              </a:lnSpc>
              <a:spcAft>
                <a:spcPts val="0"/>
              </a:spcAft>
            </a:pPr>
            <a:r>
              <a:rPr sz="1300" b="1" i="0">
                <a:solidFill>
                  <a:srgbClr val="AFC4B6"/>
                </a:solidFill>
                <a:latin typeface="Segoe UI Semibold"/>
              </a:rPr>
              <a:t>DEPARTMENT OF COMPUTER SCIENCE AND ENGINEERING</a:t>
            </a:r>
          </a:p>
        </p:txBody>
      </p:sp>
      <p:sp>
        <p:nvSpPr>
          <p:cNvPr id="7" name="TextBox 6"/>
          <p:cNvSpPr txBox="1"/>
          <p:nvPr/>
        </p:nvSpPr>
        <p:spPr>
          <a:xfrm>
            <a:off x="822960" y="2331720"/>
            <a:ext cx="10515600" cy="1828800"/>
          </a:xfrm>
          <a:prstGeom prst="rect">
            <a:avLst/>
          </a:prstGeom>
          <a:noFill/>
        </p:spPr>
        <p:txBody>
          <a:bodyPr wrap="square" anchor="t" lIns="0" rIns="0" tIns="0" bIns="0">
            <a:spAutoFit/>
          </a:bodyPr>
          <a:lstStyle/>
          <a:p>
            <a:pPr algn="l">
              <a:lnSpc>
                <a:spcPct val="102000"/>
              </a:lnSpc>
              <a:spcAft>
                <a:spcPts val="0"/>
              </a:spcAft>
            </a:pPr>
            <a:r>
              <a:rPr sz="5400" b="1" i="0">
                <a:solidFill>
                  <a:srgbClr val="FFFFFF"/>
                </a:solidFill>
                <a:latin typeface="Segoe UI Semibold"/>
              </a:rPr>
              <a:t>AI Based Crop</a:t>
            </a:r>
          </a:p>
          <a:p>
            <a:pPr algn="l">
              <a:lnSpc>
                <a:spcPct val="102000"/>
              </a:lnSpc>
              <a:spcAft>
                <a:spcPts val="0"/>
              </a:spcAft>
            </a:pPr>
            <a:r>
              <a:rPr sz="5400" b="1" i="0">
                <a:solidFill>
                  <a:srgbClr val="FFFFFF"/>
                </a:solidFill>
                <a:latin typeface="Segoe UI Semibold"/>
              </a:rPr>
              <a:t>Recommendation</a:t>
            </a:r>
          </a:p>
        </p:txBody>
      </p:sp>
      <p:sp>
        <p:nvSpPr>
          <p:cNvPr id="8" name="TextBox 7"/>
          <p:cNvSpPr txBox="1"/>
          <p:nvPr/>
        </p:nvSpPr>
        <p:spPr>
          <a:xfrm>
            <a:off x="841248" y="3977639"/>
            <a:ext cx="10058400" cy="502920"/>
          </a:xfrm>
          <a:prstGeom prst="rect">
            <a:avLst/>
          </a:prstGeom>
          <a:noFill/>
        </p:spPr>
        <p:txBody>
          <a:bodyPr wrap="square" anchor="t" lIns="0" rIns="0" tIns="0" bIns="0">
            <a:spAutoFit/>
          </a:bodyPr>
          <a:lstStyle/>
          <a:p>
            <a:pPr algn="l">
              <a:lnSpc>
                <a:spcPct val="100000"/>
              </a:lnSpc>
              <a:spcAft>
                <a:spcPts val="0"/>
              </a:spcAft>
            </a:pPr>
            <a:r>
              <a:rPr sz="1700" b="0" i="1">
                <a:solidFill>
                  <a:srgbClr val="9CD89F"/>
                </a:solidFill>
                <a:latin typeface="Segoe UI"/>
              </a:rPr>
              <a:t>An Explainable Machine-Learning System for Data-Driven Crop Selection</a:t>
            </a:r>
          </a:p>
        </p:txBody>
      </p:sp>
      <p:cxnSp>
        <p:nvCxnSpPr>
          <p:cNvPr id="9" name="Connector 8"/>
          <p:cNvCxnSpPr/>
          <p:nvPr/>
        </p:nvCxnSpPr>
        <p:spPr>
          <a:xfrm>
            <a:off x="841248" y="4617720"/>
            <a:ext cx="5559552" cy="0"/>
          </a:xfrm>
          <a:prstGeom prst="line">
            <a:avLst/>
          </a:prstGeom>
          <a:ln w="12700">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41248" y="4800600"/>
            <a:ext cx="51206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66BB6A"/>
                </a:solidFill>
                <a:latin typeface="Segoe UI Semibold"/>
              </a:rPr>
              <a:t>TEAM MEMBERS</a:t>
            </a:r>
          </a:p>
        </p:txBody>
      </p:sp>
      <p:sp>
        <p:nvSpPr>
          <p:cNvPr id="11" name="TextBox 10"/>
          <p:cNvSpPr txBox="1"/>
          <p:nvPr/>
        </p:nvSpPr>
        <p:spPr>
          <a:xfrm>
            <a:off x="841248" y="5074920"/>
            <a:ext cx="5120640" cy="1097280"/>
          </a:xfrm>
          <a:prstGeom prst="rect">
            <a:avLst/>
          </a:prstGeom>
          <a:noFill/>
        </p:spPr>
        <p:txBody>
          <a:bodyPr wrap="square" anchor="t" lIns="0" rIns="0" tIns="0" bIns="0">
            <a:spAutoFit/>
          </a:bodyPr>
          <a:lstStyle/>
          <a:p>
            <a:pPr algn="l">
              <a:lnSpc>
                <a:spcPct val="125000"/>
              </a:lnSpc>
              <a:spcAft>
                <a:spcPts val="0"/>
              </a:spcAft>
            </a:pPr>
            <a:r>
              <a:rPr sz="1300" b="0" i="0">
                <a:solidFill>
                  <a:srgbClr val="FFFFFF"/>
                </a:solidFill>
                <a:latin typeface="Segoe UI"/>
              </a:rPr>
              <a:t>Alden Pais  —  NNM23CS020</a:t>
            </a:r>
          </a:p>
          <a:p>
            <a:pPr algn="l">
              <a:lnSpc>
                <a:spcPct val="125000"/>
              </a:lnSpc>
              <a:spcAft>
                <a:spcPts val="0"/>
              </a:spcAft>
            </a:pPr>
            <a:r>
              <a:rPr sz="1300" b="0" i="0">
                <a:solidFill>
                  <a:srgbClr val="FFFFFF"/>
                </a:solidFill>
                <a:latin typeface="Segoe UI"/>
              </a:rPr>
              <a:t>Disha Shetty  —  NNM23CS067</a:t>
            </a:r>
          </a:p>
          <a:p>
            <a:pPr algn="l">
              <a:lnSpc>
                <a:spcPct val="125000"/>
              </a:lnSpc>
              <a:spcAft>
                <a:spcPts val="0"/>
              </a:spcAft>
            </a:pPr>
            <a:r>
              <a:rPr sz="1300" b="0" i="0">
                <a:solidFill>
                  <a:srgbClr val="FFFFFF"/>
                </a:solidFill>
                <a:latin typeface="Segoe UI"/>
              </a:rPr>
              <a:t>Divya R  —  NNM23CS068</a:t>
            </a:r>
          </a:p>
          <a:p>
            <a:pPr algn="l">
              <a:lnSpc>
                <a:spcPct val="125000"/>
              </a:lnSpc>
              <a:spcAft>
                <a:spcPts val="0"/>
              </a:spcAft>
            </a:pPr>
            <a:r>
              <a:rPr sz="1300" b="0" i="0">
                <a:solidFill>
                  <a:srgbClr val="FFFFFF"/>
                </a:solidFill>
                <a:latin typeface="Segoe UI"/>
              </a:rPr>
              <a:t>Harsheel S Gowda  —  NNM23CS082</a:t>
            </a:r>
          </a:p>
        </p:txBody>
      </p:sp>
      <p:sp>
        <p:nvSpPr>
          <p:cNvPr id="12" name="TextBox 11"/>
          <p:cNvSpPr txBox="1"/>
          <p:nvPr/>
        </p:nvSpPr>
        <p:spPr>
          <a:xfrm>
            <a:off x="6492240" y="4800600"/>
            <a:ext cx="4937760" cy="274320"/>
          </a:xfrm>
          <a:prstGeom prst="rect">
            <a:avLst/>
          </a:prstGeom>
          <a:noFill/>
        </p:spPr>
        <p:txBody>
          <a:bodyPr wrap="square" anchor="t" lIns="0" rIns="0" tIns="0" bIns="0">
            <a:spAutoFit/>
          </a:bodyPr>
          <a:lstStyle/>
          <a:p>
            <a:pPr algn="l">
              <a:lnSpc>
                <a:spcPct val="100000"/>
              </a:lnSpc>
              <a:spcAft>
                <a:spcPts val="0"/>
              </a:spcAft>
            </a:pPr>
            <a:r>
              <a:rPr sz="1100" b="1" i="0">
                <a:solidFill>
                  <a:srgbClr val="66BB6A"/>
                </a:solidFill>
                <a:latin typeface="Segoe UI Semibold"/>
              </a:rPr>
              <a:t>UNDER THE GUIDANCE OF</a:t>
            </a:r>
          </a:p>
        </p:txBody>
      </p:sp>
      <p:sp>
        <p:nvSpPr>
          <p:cNvPr id="13" name="TextBox 12"/>
          <p:cNvSpPr txBox="1"/>
          <p:nvPr/>
        </p:nvSpPr>
        <p:spPr>
          <a:xfrm>
            <a:off x="6492240" y="5074920"/>
            <a:ext cx="4937760" cy="731520"/>
          </a:xfrm>
          <a:prstGeom prst="rect">
            <a:avLst/>
          </a:prstGeom>
          <a:noFill/>
        </p:spPr>
        <p:txBody>
          <a:bodyPr wrap="square" anchor="t" lIns="0" rIns="0" tIns="0" bIns="0">
            <a:spAutoFit/>
          </a:bodyPr>
          <a:lstStyle/>
          <a:p>
            <a:pPr algn="l">
              <a:lnSpc>
                <a:spcPct val="125000"/>
              </a:lnSpc>
              <a:spcAft>
                <a:spcPts val="0"/>
              </a:spcAft>
            </a:pPr>
            <a:r>
              <a:rPr sz="1300" b="0" i="0">
                <a:solidFill>
                  <a:srgbClr val="FFFFFF"/>
                </a:solidFill>
                <a:latin typeface="Segoe UI"/>
              </a:rPr>
              <a:t>Dr. Dhasny Lydia</a:t>
            </a:r>
          </a:p>
          <a:p>
            <a:pPr algn="l">
              <a:lnSpc>
                <a:spcPct val="125000"/>
              </a:lnSpc>
              <a:spcAft>
                <a:spcPts val="0"/>
              </a:spcAft>
            </a:pPr>
            <a:r>
              <a:rPr sz="1300" b="0" i="0">
                <a:solidFill>
                  <a:srgbClr val="FFFFFF"/>
                </a:solidFill>
                <a:latin typeface="Segoe UI"/>
              </a:rPr>
              <a:t>Department of Computer Science and Engineering</a:t>
            </a:r>
          </a:p>
        </p:txBody>
      </p:sp>
      <p:sp>
        <p:nvSpPr>
          <p:cNvPr id="14" name="TextBox 13"/>
          <p:cNvSpPr txBox="1"/>
          <p:nvPr/>
        </p:nvSpPr>
        <p:spPr>
          <a:xfrm>
            <a:off x="841248" y="6263640"/>
            <a:ext cx="5486400" cy="320040"/>
          </a:xfrm>
          <a:prstGeom prst="rect">
            <a:avLst/>
          </a:prstGeom>
          <a:noFill/>
        </p:spPr>
        <p:txBody>
          <a:bodyPr wrap="square" anchor="t" lIns="0" rIns="0" tIns="0" bIns="0">
            <a:spAutoFit/>
          </a:bodyPr>
          <a:lstStyle/>
          <a:p>
            <a:pPr algn="l">
              <a:lnSpc>
                <a:spcPct val="100000"/>
              </a:lnSpc>
              <a:spcAft>
                <a:spcPts val="0"/>
              </a:spcAft>
            </a:pPr>
            <a:r>
              <a:rPr sz="1150" b="0" i="0">
                <a:solidFill>
                  <a:srgbClr val="AFC4B6"/>
                </a:solidFill>
                <a:latin typeface="Segoe UI"/>
              </a:rPr>
              <a:t>NMAM Institute of Technology</a:t>
            </a:r>
          </a:p>
        </p:txBody>
      </p:sp>
      <p:sp>
        <p:nvSpPr>
          <p:cNvPr id="15" name="TextBox 14"/>
          <p:cNvSpPr txBox="1"/>
          <p:nvPr/>
        </p:nvSpPr>
        <p:spPr>
          <a:xfrm>
            <a:off x="8686800" y="6263640"/>
            <a:ext cx="2862072" cy="320040"/>
          </a:xfrm>
          <a:prstGeom prst="rect">
            <a:avLst/>
          </a:prstGeom>
          <a:noFill/>
        </p:spPr>
        <p:txBody>
          <a:bodyPr wrap="square" anchor="t" lIns="0" rIns="0" tIns="0" bIns="0">
            <a:spAutoFit/>
          </a:bodyPr>
          <a:lstStyle/>
          <a:p>
            <a:pPr algn="r">
              <a:lnSpc>
                <a:spcPct val="100000"/>
              </a:lnSpc>
              <a:spcAft>
                <a:spcPts val="0"/>
              </a:spcAft>
            </a:pPr>
            <a:r>
              <a:rPr sz="1150" b="0" i="0">
                <a:solidFill>
                  <a:srgbClr val="AFC4B6"/>
                </a:solidFill>
                <a:latin typeface="Segoe UI"/>
              </a:rPr>
              <a:t>Academic Year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INTRODUCTION</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Why Crop Selection Needs Intelligence</a:t>
            </a:r>
          </a:p>
        </p:txBody>
      </p:sp>
      <p:sp>
        <p:nvSpPr>
          <p:cNvPr id="6" name="TextBox 5"/>
          <p:cNvSpPr txBox="1"/>
          <p:nvPr/>
        </p:nvSpPr>
        <p:spPr>
          <a:xfrm>
            <a:off x="640080" y="1508760"/>
            <a:ext cx="5669280" cy="1463040"/>
          </a:xfrm>
          <a:prstGeom prst="rect">
            <a:avLst/>
          </a:prstGeom>
          <a:noFill/>
        </p:spPr>
        <p:txBody>
          <a:bodyPr wrap="square" anchor="t" lIns="0" rIns="0" tIns="0" bIns="0">
            <a:spAutoFit/>
          </a:bodyPr>
          <a:lstStyle/>
          <a:p>
            <a:pPr algn="l">
              <a:lnSpc>
                <a:spcPct val="130000"/>
              </a:lnSpc>
              <a:spcAft>
                <a:spcPts val="0"/>
              </a:spcAft>
            </a:pPr>
            <a:r>
              <a:rPr sz="1550" b="0" i="0">
                <a:solidFill>
                  <a:srgbClr val="AFC4B6"/>
                </a:solidFill>
                <a:latin typeface="Segoe UI"/>
              </a:rPr>
              <a:t>Agriculture remains the backbone of rural livelihoods, yet the choice of which crop to grow is still largely driven by tradition and instinct rather than the measurable condition of the soil and climate.</a:t>
            </a:r>
          </a:p>
        </p:txBody>
      </p:sp>
      <p:sp>
        <p:nvSpPr>
          <p:cNvPr id="7" name="TextBox 6"/>
          <p:cNvSpPr txBox="1"/>
          <p:nvPr/>
        </p:nvSpPr>
        <p:spPr>
          <a:xfrm>
            <a:off x="640080" y="3063240"/>
            <a:ext cx="5669280" cy="1463040"/>
          </a:xfrm>
          <a:prstGeom prst="rect">
            <a:avLst/>
          </a:prstGeom>
          <a:noFill/>
        </p:spPr>
        <p:txBody>
          <a:bodyPr wrap="square" anchor="t" lIns="0" rIns="0" tIns="0" bIns="0">
            <a:spAutoFit/>
          </a:bodyPr>
          <a:lstStyle/>
          <a:p>
            <a:pPr algn="l">
              <a:lnSpc>
                <a:spcPct val="130000"/>
              </a:lnSpc>
              <a:spcAft>
                <a:spcPts val="0"/>
              </a:spcAft>
            </a:pPr>
            <a:r>
              <a:rPr sz="1550" b="0" i="0">
                <a:solidFill>
                  <a:srgbClr val="AFC4B6"/>
                </a:solidFill>
                <a:latin typeface="Segoe UI"/>
              </a:rPr>
              <a:t>Soil nutrients (N, P, K), pH and weather jointly determine which crop will thrive on a given plot — machine learning can learn this mapping directly from real agronomic data and turn it into an actionable, explainable recommendation.</a:t>
            </a:r>
          </a:p>
        </p:txBody>
      </p:sp>
      <p:sp>
        <p:nvSpPr>
          <p:cNvPr id="8" name="Rounded Rectangle 7"/>
          <p:cNvSpPr/>
          <p:nvPr/>
        </p:nvSpPr>
        <p:spPr>
          <a:xfrm>
            <a:off x="6720840" y="1508760"/>
            <a:ext cx="4846320" cy="1371600"/>
          </a:xfrm>
          <a:prstGeom prst="roundRect">
            <a:avLst>
              <a:gd name="adj" fmla="val 1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0" y="1673352"/>
            <a:ext cx="1463040" cy="1005840"/>
          </a:xfrm>
          <a:prstGeom prst="rect">
            <a:avLst/>
          </a:prstGeom>
          <a:noFill/>
        </p:spPr>
        <p:txBody>
          <a:bodyPr wrap="square" anchor="ctr" lIns="0" rIns="0" tIns="0" bIns="0">
            <a:spAutoFit/>
          </a:bodyPr>
          <a:lstStyle/>
          <a:p>
            <a:pPr algn="l">
              <a:lnSpc>
                <a:spcPct val="100000"/>
              </a:lnSpc>
              <a:spcAft>
                <a:spcPts val="0"/>
              </a:spcAft>
            </a:pPr>
            <a:r>
              <a:rPr sz="3800" b="1" i="0">
                <a:solidFill>
                  <a:srgbClr val="D8A63A"/>
                </a:solidFill>
                <a:latin typeface="Segoe UI Semibold"/>
              </a:rPr>
              <a:t>22</a:t>
            </a:r>
          </a:p>
        </p:txBody>
      </p:sp>
      <p:sp>
        <p:nvSpPr>
          <p:cNvPr id="10" name="TextBox 9"/>
          <p:cNvSpPr txBox="1"/>
          <p:nvPr/>
        </p:nvSpPr>
        <p:spPr>
          <a:xfrm>
            <a:off x="8458200" y="1709928"/>
            <a:ext cx="2926080" cy="960120"/>
          </a:xfrm>
          <a:prstGeom prst="rect">
            <a:avLst/>
          </a:prstGeom>
          <a:noFill/>
        </p:spPr>
        <p:txBody>
          <a:bodyPr wrap="square" anchor="ctr" lIns="0" rIns="0" tIns="0" bIns="0">
            <a:spAutoFit/>
          </a:bodyPr>
          <a:lstStyle/>
          <a:p>
            <a:pPr algn="l">
              <a:lnSpc>
                <a:spcPct val="115000"/>
              </a:lnSpc>
              <a:spcAft>
                <a:spcPts val="0"/>
              </a:spcAft>
            </a:pPr>
            <a:r>
              <a:rPr sz="1400" b="0" i="0">
                <a:solidFill>
                  <a:srgbClr val="FFFFFF"/>
                </a:solidFill>
                <a:latin typeface="Segoe UI"/>
              </a:rPr>
              <a:t>Crop types the model</a:t>
            </a:r>
          </a:p>
          <a:p>
            <a:pPr algn="l">
              <a:lnSpc>
                <a:spcPct val="115000"/>
              </a:lnSpc>
              <a:spcAft>
                <a:spcPts val="0"/>
              </a:spcAft>
            </a:pPr>
            <a:r>
              <a:rPr sz="1400" b="0" i="0">
                <a:solidFill>
                  <a:srgbClr val="FFFFFF"/>
                </a:solidFill>
                <a:latin typeface="Segoe UI"/>
              </a:rPr>
              <a:t>can recommend</a:t>
            </a:r>
          </a:p>
        </p:txBody>
      </p:sp>
      <p:sp>
        <p:nvSpPr>
          <p:cNvPr id="11" name="Rounded Rectangle 10"/>
          <p:cNvSpPr/>
          <p:nvPr/>
        </p:nvSpPr>
        <p:spPr>
          <a:xfrm>
            <a:off x="6720840" y="3108960"/>
            <a:ext cx="4846320" cy="1371600"/>
          </a:xfrm>
          <a:prstGeom prst="roundRect">
            <a:avLst>
              <a:gd name="adj" fmla="val 1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3273552"/>
            <a:ext cx="1463040" cy="1005840"/>
          </a:xfrm>
          <a:prstGeom prst="rect">
            <a:avLst/>
          </a:prstGeom>
          <a:noFill/>
        </p:spPr>
        <p:txBody>
          <a:bodyPr wrap="square" anchor="ctr" lIns="0" rIns="0" tIns="0" bIns="0">
            <a:spAutoFit/>
          </a:bodyPr>
          <a:lstStyle/>
          <a:p>
            <a:pPr algn="l">
              <a:lnSpc>
                <a:spcPct val="100000"/>
              </a:lnSpc>
              <a:spcAft>
                <a:spcPts val="0"/>
              </a:spcAft>
            </a:pPr>
            <a:r>
              <a:rPr sz="3800" b="1" i="0">
                <a:solidFill>
                  <a:srgbClr val="D8A63A"/>
                </a:solidFill>
                <a:latin typeface="Segoe UI Semibold"/>
              </a:rPr>
              <a:t>7</a:t>
            </a:r>
          </a:p>
        </p:txBody>
      </p:sp>
      <p:sp>
        <p:nvSpPr>
          <p:cNvPr id="13" name="TextBox 12"/>
          <p:cNvSpPr txBox="1"/>
          <p:nvPr/>
        </p:nvSpPr>
        <p:spPr>
          <a:xfrm>
            <a:off x="8458200" y="3310128"/>
            <a:ext cx="2926080" cy="960120"/>
          </a:xfrm>
          <a:prstGeom prst="rect">
            <a:avLst/>
          </a:prstGeom>
          <a:noFill/>
        </p:spPr>
        <p:txBody>
          <a:bodyPr wrap="square" anchor="ctr" lIns="0" rIns="0" tIns="0" bIns="0">
            <a:spAutoFit/>
          </a:bodyPr>
          <a:lstStyle/>
          <a:p>
            <a:pPr algn="l">
              <a:lnSpc>
                <a:spcPct val="115000"/>
              </a:lnSpc>
              <a:spcAft>
                <a:spcPts val="0"/>
              </a:spcAft>
            </a:pPr>
            <a:r>
              <a:rPr sz="1400" b="0" i="0">
                <a:solidFill>
                  <a:srgbClr val="FFFFFF"/>
                </a:solidFill>
                <a:latin typeface="Segoe UI"/>
              </a:rPr>
              <a:t>Soil + climate</a:t>
            </a:r>
          </a:p>
          <a:p>
            <a:pPr algn="l">
              <a:lnSpc>
                <a:spcPct val="115000"/>
              </a:lnSpc>
              <a:spcAft>
                <a:spcPts val="0"/>
              </a:spcAft>
            </a:pPr>
            <a:r>
              <a:rPr sz="1400" b="0" i="0">
                <a:solidFill>
                  <a:srgbClr val="FFFFFF"/>
                </a:solidFill>
                <a:latin typeface="Segoe UI"/>
              </a:rPr>
              <a:t>input parameters</a:t>
            </a:r>
          </a:p>
        </p:txBody>
      </p:sp>
      <p:sp>
        <p:nvSpPr>
          <p:cNvPr id="14" name="Rounded Rectangle 13"/>
          <p:cNvSpPr/>
          <p:nvPr/>
        </p:nvSpPr>
        <p:spPr>
          <a:xfrm>
            <a:off x="6720840" y="4709160"/>
            <a:ext cx="4846320" cy="1371600"/>
          </a:xfrm>
          <a:prstGeom prst="roundRect">
            <a:avLst>
              <a:gd name="adj" fmla="val 1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4873752"/>
            <a:ext cx="1463040" cy="1005840"/>
          </a:xfrm>
          <a:prstGeom prst="rect">
            <a:avLst/>
          </a:prstGeom>
          <a:noFill/>
        </p:spPr>
        <p:txBody>
          <a:bodyPr wrap="square" anchor="ctr" lIns="0" rIns="0" tIns="0" bIns="0">
            <a:spAutoFit/>
          </a:bodyPr>
          <a:lstStyle/>
          <a:p>
            <a:pPr algn="l">
              <a:lnSpc>
                <a:spcPct val="100000"/>
              </a:lnSpc>
              <a:spcAft>
                <a:spcPts val="0"/>
              </a:spcAft>
            </a:pPr>
            <a:r>
              <a:rPr sz="3800" b="1" i="0">
                <a:solidFill>
                  <a:srgbClr val="D8A63A"/>
                </a:solidFill>
                <a:latin typeface="Segoe UI Semibold"/>
              </a:rPr>
              <a:t>99.3%</a:t>
            </a:r>
          </a:p>
        </p:txBody>
      </p:sp>
      <p:sp>
        <p:nvSpPr>
          <p:cNvPr id="16" name="TextBox 15"/>
          <p:cNvSpPr txBox="1"/>
          <p:nvPr/>
        </p:nvSpPr>
        <p:spPr>
          <a:xfrm>
            <a:off x="8458200" y="4910328"/>
            <a:ext cx="2926080" cy="960120"/>
          </a:xfrm>
          <a:prstGeom prst="rect">
            <a:avLst/>
          </a:prstGeom>
          <a:noFill/>
        </p:spPr>
        <p:txBody>
          <a:bodyPr wrap="square" anchor="ctr" lIns="0" rIns="0" tIns="0" bIns="0">
            <a:spAutoFit/>
          </a:bodyPr>
          <a:lstStyle/>
          <a:p>
            <a:pPr algn="l">
              <a:lnSpc>
                <a:spcPct val="115000"/>
              </a:lnSpc>
              <a:spcAft>
                <a:spcPts val="0"/>
              </a:spcAft>
            </a:pPr>
            <a:r>
              <a:rPr sz="1400" b="0" i="0">
                <a:solidFill>
                  <a:srgbClr val="FFFFFF"/>
                </a:solidFill>
                <a:latin typeface="Segoe UI"/>
              </a:rPr>
              <a:t>Test accuracy of the</a:t>
            </a:r>
          </a:p>
          <a:p>
            <a:pPr algn="l">
              <a:lnSpc>
                <a:spcPct val="115000"/>
              </a:lnSpc>
              <a:spcAft>
                <a:spcPts val="0"/>
              </a:spcAft>
            </a:pPr>
            <a:r>
              <a:rPr sz="1400" b="0" i="0">
                <a:solidFill>
                  <a:srgbClr val="FFFFFF"/>
                </a:solidFill>
                <a:latin typeface="Segoe UI"/>
              </a:rPr>
              <a:t>trained model</a:t>
            </a:r>
          </a:p>
        </p:txBody>
      </p:sp>
      <p:cxnSp>
        <p:nvCxnSpPr>
          <p:cNvPr id="17" name="Connector 16"/>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19" name="TextBox 18"/>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PROBLEM STATEMENT</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Farmers Lack Data-Driven Crop Guidance</a:t>
            </a:r>
          </a:p>
        </p:txBody>
      </p:sp>
      <p:sp>
        <p:nvSpPr>
          <p:cNvPr id="6" name="Oval 5"/>
          <p:cNvSpPr/>
          <p:nvPr/>
        </p:nvSpPr>
        <p:spPr>
          <a:xfrm>
            <a:off x="640080" y="1554480"/>
            <a:ext cx="384048" cy="384048"/>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N</a:t>
            </a:r>
          </a:p>
        </p:txBody>
      </p:sp>
      <p:sp>
        <p:nvSpPr>
          <p:cNvPr id="7" name="TextBox 6"/>
          <p:cNvSpPr txBox="1"/>
          <p:nvPr/>
        </p:nvSpPr>
        <p:spPr>
          <a:xfrm>
            <a:off x="1188720" y="1572768"/>
            <a:ext cx="5120640" cy="502920"/>
          </a:xfrm>
          <a:prstGeom prst="rect">
            <a:avLst/>
          </a:prstGeom>
          <a:noFill/>
        </p:spPr>
        <p:txBody>
          <a:bodyPr wrap="square" anchor="ctr" lIns="0" rIns="0" tIns="0" bIns="0">
            <a:spAutoFit/>
          </a:bodyPr>
          <a:lstStyle/>
          <a:p>
            <a:pPr algn="l">
              <a:lnSpc>
                <a:spcPct val="110000"/>
              </a:lnSpc>
              <a:spcAft>
                <a:spcPts val="0"/>
              </a:spcAft>
            </a:pPr>
            <a:r>
              <a:rPr sz="1350" b="0" i="0">
                <a:solidFill>
                  <a:srgbClr val="FFFFFF"/>
                </a:solidFill>
                <a:latin typeface="Segoe UI"/>
              </a:rPr>
              <a:t>Limited visibility into soil nutrient levels (N, P, K) and pH</a:t>
            </a:r>
          </a:p>
        </p:txBody>
      </p:sp>
      <p:sp>
        <p:nvSpPr>
          <p:cNvPr id="8" name="Oval 7"/>
          <p:cNvSpPr/>
          <p:nvPr/>
        </p:nvSpPr>
        <p:spPr>
          <a:xfrm>
            <a:off x="640080" y="2121408"/>
            <a:ext cx="384048" cy="384048"/>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9" name="TextBox 8"/>
          <p:cNvSpPr txBox="1"/>
          <p:nvPr/>
        </p:nvSpPr>
        <p:spPr>
          <a:xfrm>
            <a:off x="1188720" y="2139696"/>
            <a:ext cx="5120640" cy="502920"/>
          </a:xfrm>
          <a:prstGeom prst="rect">
            <a:avLst/>
          </a:prstGeom>
          <a:noFill/>
        </p:spPr>
        <p:txBody>
          <a:bodyPr wrap="square" anchor="ctr" lIns="0" rIns="0" tIns="0" bIns="0">
            <a:spAutoFit/>
          </a:bodyPr>
          <a:lstStyle/>
          <a:p>
            <a:pPr algn="l">
              <a:lnSpc>
                <a:spcPct val="110000"/>
              </a:lnSpc>
              <a:spcAft>
                <a:spcPts val="0"/>
              </a:spcAft>
            </a:pPr>
            <a:r>
              <a:rPr sz="1350" b="0" i="0">
                <a:solidFill>
                  <a:srgbClr val="FFFFFF"/>
                </a:solidFill>
                <a:latin typeface="Segoe UI"/>
              </a:rPr>
              <a:t>Crop choice relies on experience and guesswork, not measurement</a:t>
            </a:r>
          </a:p>
        </p:txBody>
      </p:sp>
      <p:sp>
        <p:nvSpPr>
          <p:cNvPr id="10" name="Oval 9"/>
          <p:cNvSpPr/>
          <p:nvPr/>
        </p:nvSpPr>
        <p:spPr>
          <a:xfrm>
            <a:off x="640080" y="2688336"/>
            <a:ext cx="384048" cy="384048"/>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11" name="TextBox 10"/>
          <p:cNvSpPr txBox="1"/>
          <p:nvPr/>
        </p:nvSpPr>
        <p:spPr>
          <a:xfrm>
            <a:off x="1188720" y="2706624"/>
            <a:ext cx="5120640" cy="502920"/>
          </a:xfrm>
          <a:prstGeom prst="rect">
            <a:avLst/>
          </a:prstGeom>
          <a:noFill/>
        </p:spPr>
        <p:txBody>
          <a:bodyPr wrap="square" anchor="ctr" lIns="0" rIns="0" tIns="0" bIns="0">
            <a:spAutoFit/>
          </a:bodyPr>
          <a:lstStyle/>
          <a:p>
            <a:pPr algn="l">
              <a:lnSpc>
                <a:spcPct val="110000"/>
              </a:lnSpc>
              <a:spcAft>
                <a:spcPts val="0"/>
              </a:spcAft>
            </a:pPr>
            <a:r>
              <a:rPr sz="1350" b="0" i="0">
                <a:solidFill>
                  <a:srgbClr val="FFFFFF"/>
                </a:solidFill>
                <a:latin typeface="Segoe UI"/>
              </a:rPr>
              <a:t>Environmental conditions (temperature, humidity, rainfall) keep changing</a:t>
            </a:r>
          </a:p>
        </p:txBody>
      </p:sp>
      <p:sp>
        <p:nvSpPr>
          <p:cNvPr id="12" name="Oval 11"/>
          <p:cNvSpPr/>
          <p:nvPr/>
        </p:nvSpPr>
        <p:spPr>
          <a:xfrm>
            <a:off x="640080" y="3255264"/>
            <a:ext cx="384048" cy="384048"/>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x</a:t>
            </a:r>
          </a:p>
        </p:txBody>
      </p:sp>
      <p:sp>
        <p:nvSpPr>
          <p:cNvPr id="13" name="TextBox 12"/>
          <p:cNvSpPr txBox="1"/>
          <p:nvPr/>
        </p:nvSpPr>
        <p:spPr>
          <a:xfrm>
            <a:off x="1188720" y="3273552"/>
            <a:ext cx="5120640" cy="502920"/>
          </a:xfrm>
          <a:prstGeom prst="rect">
            <a:avLst/>
          </a:prstGeom>
          <a:noFill/>
        </p:spPr>
        <p:txBody>
          <a:bodyPr wrap="square" anchor="ctr" lIns="0" rIns="0" tIns="0" bIns="0">
            <a:spAutoFit/>
          </a:bodyPr>
          <a:lstStyle/>
          <a:p>
            <a:pPr algn="l">
              <a:lnSpc>
                <a:spcPct val="110000"/>
              </a:lnSpc>
              <a:spcAft>
                <a:spcPts val="0"/>
              </a:spcAft>
            </a:pPr>
            <a:r>
              <a:rPr sz="1350" b="0" i="0">
                <a:solidFill>
                  <a:srgbClr val="FFFFFF"/>
                </a:solidFill>
                <a:latin typeface="Segoe UI"/>
              </a:rPr>
              <a:t>Difficulty interpreting multiple agricultural parameters together</a:t>
            </a:r>
          </a:p>
        </p:txBody>
      </p:sp>
      <p:sp>
        <p:nvSpPr>
          <p:cNvPr id="14" name="Oval 13"/>
          <p:cNvSpPr/>
          <p:nvPr/>
        </p:nvSpPr>
        <p:spPr>
          <a:xfrm>
            <a:off x="640080" y="3822192"/>
            <a:ext cx="384048" cy="384048"/>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15" name="TextBox 14"/>
          <p:cNvSpPr txBox="1"/>
          <p:nvPr/>
        </p:nvSpPr>
        <p:spPr>
          <a:xfrm>
            <a:off x="1188720" y="3840480"/>
            <a:ext cx="5120640" cy="502920"/>
          </a:xfrm>
          <a:prstGeom prst="rect">
            <a:avLst/>
          </a:prstGeom>
          <a:noFill/>
        </p:spPr>
        <p:txBody>
          <a:bodyPr wrap="square" anchor="ctr" lIns="0" rIns="0" tIns="0" bIns="0">
            <a:spAutoFit/>
          </a:bodyPr>
          <a:lstStyle/>
          <a:p>
            <a:pPr algn="l">
              <a:lnSpc>
                <a:spcPct val="110000"/>
              </a:lnSpc>
              <a:spcAft>
                <a:spcPts val="0"/>
              </a:spcAft>
            </a:pPr>
            <a:r>
              <a:rPr sz="1350" b="0" i="0">
                <a:solidFill>
                  <a:srgbClr val="FFFFFF"/>
                </a:solidFill>
                <a:latin typeface="Segoe UI"/>
              </a:rPr>
              <a:t>Wrong crop choice risks low productivity and financial loss</a:t>
            </a:r>
          </a:p>
        </p:txBody>
      </p:sp>
      <p:sp>
        <p:nvSpPr>
          <p:cNvPr id="16" name="Rounded Rectangle 15"/>
          <p:cNvSpPr/>
          <p:nvPr/>
        </p:nvSpPr>
        <p:spPr>
          <a:xfrm>
            <a:off x="6949440" y="1600200"/>
            <a:ext cx="4480560" cy="960120"/>
          </a:xfrm>
          <a:prstGeom prst="roundRect">
            <a:avLst>
              <a:gd name="adj" fmla="val 14000"/>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1600200"/>
            <a:ext cx="4480560" cy="960120"/>
          </a:xfrm>
          <a:prstGeom prst="rect">
            <a:avLst/>
          </a:prstGeom>
          <a:noFill/>
        </p:spPr>
        <p:txBody>
          <a:bodyPr wrap="square" anchor="ctr" lIns="0" rIns="0" tIns="0" bIns="0">
            <a:spAutoFit/>
          </a:bodyPr>
          <a:lstStyle/>
          <a:p>
            <a:pPr algn="ctr">
              <a:lnSpc>
                <a:spcPct val="110000"/>
              </a:lnSpc>
              <a:spcAft>
                <a:spcPts val="0"/>
              </a:spcAft>
            </a:pPr>
            <a:r>
              <a:rPr sz="1550" b="1" i="0">
                <a:solidFill>
                  <a:srgbClr val="FFFFFF"/>
                </a:solidFill>
                <a:latin typeface="Segoe UI"/>
              </a:rPr>
              <a:t>PROBLEM</a:t>
            </a:r>
          </a:p>
        </p:txBody>
      </p:sp>
      <p:sp>
        <p:nvSpPr>
          <p:cNvPr id="18" name="Isosceles Triangle 17"/>
          <p:cNvSpPr/>
          <p:nvPr/>
        </p:nvSpPr>
        <p:spPr>
          <a:xfrm rot="10800000">
            <a:off x="9043416" y="2587752"/>
            <a:ext cx="292608" cy="234086"/>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49440" y="3017520"/>
            <a:ext cx="4480560" cy="960120"/>
          </a:xfrm>
          <a:prstGeom prst="roundRect">
            <a:avLst>
              <a:gd name="adj" fmla="val 14000"/>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3017520"/>
            <a:ext cx="4480560" cy="960120"/>
          </a:xfrm>
          <a:prstGeom prst="rect">
            <a:avLst/>
          </a:prstGeom>
          <a:noFill/>
        </p:spPr>
        <p:txBody>
          <a:bodyPr wrap="square" anchor="ctr" lIns="0" rIns="0" tIns="0" bIns="0">
            <a:spAutoFit/>
          </a:bodyPr>
          <a:lstStyle/>
          <a:p>
            <a:pPr algn="ctr">
              <a:lnSpc>
                <a:spcPct val="110000"/>
              </a:lnSpc>
              <a:spcAft>
                <a:spcPts val="0"/>
              </a:spcAft>
            </a:pPr>
            <a:r>
              <a:rPr sz="1550" b="1" i="0">
                <a:solidFill>
                  <a:srgbClr val="FFFFFF"/>
                </a:solidFill>
                <a:latin typeface="Segoe UI"/>
              </a:rPr>
              <a:t>Need for Data-Driven</a:t>
            </a:r>
          </a:p>
          <a:p>
            <a:pPr algn="ctr">
              <a:lnSpc>
                <a:spcPct val="110000"/>
              </a:lnSpc>
              <a:spcAft>
                <a:spcPts val="0"/>
              </a:spcAft>
            </a:pPr>
            <a:r>
              <a:rPr sz="1550" b="1" i="0">
                <a:solidFill>
                  <a:srgbClr val="FFFFFF"/>
                </a:solidFill>
                <a:latin typeface="Segoe UI"/>
              </a:rPr>
              <a:t>Decision Support</a:t>
            </a:r>
          </a:p>
        </p:txBody>
      </p:sp>
      <p:sp>
        <p:nvSpPr>
          <p:cNvPr id="21" name="Isosceles Triangle 20"/>
          <p:cNvSpPr/>
          <p:nvPr/>
        </p:nvSpPr>
        <p:spPr>
          <a:xfrm rot="10800000">
            <a:off x="9043416" y="4005072"/>
            <a:ext cx="292608" cy="234086"/>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49440" y="4434840"/>
            <a:ext cx="4480560" cy="960120"/>
          </a:xfrm>
          <a:prstGeom prst="roundRect">
            <a:avLst>
              <a:gd name="adj" fmla="val 14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0" y="4434840"/>
            <a:ext cx="4480560" cy="960120"/>
          </a:xfrm>
          <a:prstGeom prst="rect">
            <a:avLst/>
          </a:prstGeom>
          <a:noFill/>
        </p:spPr>
        <p:txBody>
          <a:bodyPr wrap="square" anchor="ctr" lIns="0" rIns="0" tIns="0" bIns="0">
            <a:spAutoFit/>
          </a:bodyPr>
          <a:lstStyle/>
          <a:p>
            <a:pPr algn="ctr">
              <a:lnSpc>
                <a:spcPct val="110000"/>
              </a:lnSpc>
              <a:spcAft>
                <a:spcPts val="0"/>
              </a:spcAft>
            </a:pPr>
            <a:r>
              <a:rPr sz="1550" b="1" i="0">
                <a:solidFill>
                  <a:srgbClr val="FFFFFF"/>
                </a:solidFill>
                <a:latin typeface="Segoe UI"/>
              </a:rPr>
              <a:t>AI / ML-Based Crop</a:t>
            </a:r>
          </a:p>
          <a:p>
            <a:pPr algn="ctr">
              <a:lnSpc>
                <a:spcPct val="110000"/>
              </a:lnSpc>
              <a:spcAft>
                <a:spcPts val="0"/>
              </a:spcAft>
            </a:pPr>
            <a:r>
              <a:rPr sz="1550" b="1" i="0">
                <a:solidFill>
                  <a:srgbClr val="FFFFFF"/>
                </a:solidFill>
                <a:latin typeface="Segoe UI"/>
              </a:rPr>
              <a:t>Recommendation</a:t>
            </a:r>
          </a:p>
        </p:txBody>
      </p:sp>
      <p:cxnSp>
        <p:nvCxnSpPr>
          <p:cNvPr id="24" name="Connector 23"/>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26" name="TextBox 25"/>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EXISTING APPROACH &amp; LIMITATIONS</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How Crop Selection Is Done Today</a:t>
            </a:r>
          </a:p>
        </p:txBody>
      </p:sp>
      <p:graphicFrame>
        <p:nvGraphicFramePr>
          <p:cNvPr id="6" name="Table 5"/>
          <p:cNvGraphicFramePr>
            <a:graphicFrameLocks noGrp="1"/>
          </p:cNvGraphicFramePr>
          <p:nvPr/>
        </p:nvGraphicFramePr>
        <p:xfrm>
          <a:off x="640080" y="1554480"/>
          <a:ext cx="10881359" cy="3200400"/>
        </p:xfrm>
        <a:graphic>
          <a:graphicData uri="http://schemas.openxmlformats.org/drawingml/2006/table">
            <a:tbl>
              <a:tblPr firstRow="1" bandRow="1">
                <a:tableStyleId>{5C22544A-7EE6-4342-B048-85BDC9FD1C3A}</a:tableStyleId>
              </a:tblPr>
              <a:tblGrid>
                <a:gridCol w="4946072"/>
                <a:gridCol w="5935287"/>
              </a:tblGrid>
              <a:tr h="640080">
                <a:tc>
                  <a:txBody>
                    <a:bodyPr wrap="square"/>
                    <a:lstStyle/>
                    <a:p>
                      <a:pPr algn="l"/>
                      <a:r>
                        <a:rPr sz="1400" b="1">
                          <a:solidFill>
                            <a:srgbClr val="FFFFFF"/>
                          </a:solidFill>
                          <a:latin typeface="Segoe UI Semibold"/>
                        </a:rPr>
                        <a:t>Approach</a:t>
                      </a:r>
                    </a:p>
                  </a:txBody>
                  <a:tcPr marL="101600" marR="101600" marT="50800" marB="50800" anchor="ctr">
                    <a:solidFill>
                      <a:srgbClr val="2E7D32"/>
                    </a:solidFill>
                  </a:tcPr>
                </a:tc>
                <a:tc>
                  <a:txBody>
                    <a:bodyPr wrap="square"/>
                    <a:lstStyle/>
                    <a:p>
                      <a:pPr algn="ctr"/>
                      <a:r>
                        <a:rPr sz="1400" b="1">
                          <a:solidFill>
                            <a:srgbClr val="FFFFFF"/>
                          </a:solidFill>
                          <a:latin typeface="Segoe UI Semibold"/>
                        </a:rPr>
                        <a:t>Limitation</a:t>
                      </a:r>
                    </a:p>
                  </a:txBody>
                  <a:tcPr marL="101600" marR="101600" marT="50800" marB="50800" anchor="ctr">
                    <a:solidFill>
                      <a:srgbClr val="2E7D32"/>
                    </a:solidFill>
                  </a:tcPr>
                </a:tc>
              </a:tr>
              <a:tr h="640080">
                <a:tc>
                  <a:txBody>
                    <a:bodyPr wrap="square"/>
                    <a:lstStyle/>
                    <a:p>
                      <a:pPr algn="l"/>
                      <a:r>
                        <a:rPr sz="1400">
                          <a:solidFill>
                            <a:srgbClr val="121B15"/>
                          </a:solidFill>
                          <a:latin typeface="Segoe UI"/>
                        </a:rPr>
                        <a:t>Traditional / experience-based selection</a:t>
                      </a:r>
                    </a:p>
                  </a:txBody>
                  <a:tcPr marL="101600" marR="101600" marT="50800" marB="50800" anchor="ctr">
                    <a:solidFill>
                      <a:srgbClr val="FFFFFF"/>
                    </a:solidFill>
                  </a:tcPr>
                </a:tc>
                <a:tc>
                  <a:txBody>
                    <a:bodyPr wrap="square"/>
                    <a:lstStyle/>
                    <a:p>
                      <a:pPr algn="ctr"/>
                      <a:r>
                        <a:rPr sz="1400">
                          <a:solidFill>
                            <a:srgbClr val="121B15"/>
                          </a:solidFill>
                          <a:latin typeface="Segoe UI"/>
                        </a:rPr>
                        <a:t>Not repeatable, ignores measurable soil chemistry</a:t>
                      </a:r>
                    </a:p>
                  </a:txBody>
                  <a:tcPr marL="101600" marR="101600" marT="50800" marB="50800" anchor="ctr">
                    <a:solidFill>
                      <a:srgbClr val="FFFFFF"/>
                    </a:solidFill>
                  </a:tcPr>
                </a:tc>
              </a:tr>
              <a:tr h="640080">
                <a:tc>
                  <a:txBody>
                    <a:bodyPr wrap="square"/>
                    <a:lstStyle/>
                    <a:p>
                      <a:pPr algn="l"/>
                      <a:r>
                        <a:rPr sz="1400">
                          <a:solidFill>
                            <a:srgbClr val="121B15"/>
                          </a:solidFill>
                          <a:latin typeface="Segoe UI"/>
                        </a:rPr>
                        <a:t>Generic agronomy advisories</a:t>
                      </a:r>
                    </a:p>
                  </a:txBody>
                  <a:tcPr marL="101600" marR="101600" marT="50800" marB="50800" anchor="ctr">
                    <a:solidFill>
                      <a:srgbClr val="EEF5EE"/>
                    </a:solidFill>
                  </a:tcPr>
                </a:tc>
                <a:tc>
                  <a:txBody>
                    <a:bodyPr wrap="square"/>
                    <a:lstStyle/>
                    <a:p>
                      <a:pPr algn="ctr"/>
                      <a:r>
                        <a:rPr sz="1400">
                          <a:solidFill>
                            <a:srgbClr val="121B15"/>
                          </a:solidFill>
                          <a:latin typeface="Segoe UI"/>
                        </a:rPr>
                        <a:t>One-size-fits-all; not specific to a farmer's own soil report</a:t>
                      </a:r>
                    </a:p>
                  </a:txBody>
                  <a:tcPr marL="101600" marR="101600" marT="50800" marB="50800" anchor="ctr">
                    <a:solidFill>
                      <a:srgbClr val="EEF5EE"/>
                    </a:solidFill>
                  </a:tcPr>
                </a:tc>
              </a:tr>
              <a:tr h="640080">
                <a:tc>
                  <a:txBody>
                    <a:bodyPr wrap="square"/>
                    <a:lstStyle/>
                    <a:p>
                      <a:pPr algn="l"/>
                      <a:r>
                        <a:rPr sz="1400">
                          <a:solidFill>
                            <a:srgbClr val="121B15"/>
                          </a:solidFill>
                          <a:latin typeface="Segoe UI"/>
                        </a:rPr>
                        <a:t>Rule-based agri advisory tools</a:t>
                      </a:r>
                    </a:p>
                  </a:txBody>
                  <a:tcPr marL="101600" marR="101600" marT="50800" marB="50800" anchor="ctr">
                    <a:solidFill>
                      <a:srgbClr val="FFFFFF"/>
                    </a:solidFill>
                  </a:tcPr>
                </a:tc>
                <a:tc>
                  <a:txBody>
                    <a:bodyPr wrap="square"/>
                    <a:lstStyle/>
                    <a:p>
                      <a:pPr algn="ctr"/>
                      <a:r>
                        <a:rPr sz="1400">
                          <a:solidFill>
                            <a:srgbClr val="121B15"/>
                          </a:solidFill>
                          <a:latin typeface="Segoe UI"/>
                        </a:rPr>
                        <a:t>Hand-coded thresholds; brittle, don't generalize across regions</a:t>
                      </a:r>
                    </a:p>
                  </a:txBody>
                  <a:tcPr marL="101600" marR="101600" marT="50800" marB="50800" anchor="ctr">
                    <a:solidFill>
                      <a:srgbClr val="FFFFFF"/>
                    </a:solidFill>
                  </a:tcPr>
                </a:tc>
              </a:tr>
              <a:tr h="640080">
                <a:tc>
                  <a:txBody>
                    <a:bodyPr wrap="square"/>
                    <a:lstStyle/>
                    <a:p>
                      <a:pPr algn="l"/>
                      <a:r>
                        <a:rPr sz="1400">
                          <a:solidFill>
                            <a:srgbClr val="121B15"/>
                          </a:solidFill>
                          <a:latin typeface="Segoe UI"/>
                        </a:rPr>
                        <a:t>Black-box ML demos (where they exist)</a:t>
                      </a:r>
                    </a:p>
                  </a:txBody>
                  <a:tcPr marL="101600" marR="101600" marT="50800" marB="50800" anchor="ctr">
                    <a:solidFill>
                      <a:srgbClr val="EEF5EE"/>
                    </a:solidFill>
                  </a:tcPr>
                </a:tc>
                <a:tc>
                  <a:txBody>
                    <a:bodyPr wrap="square"/>
                    <a:lstStyle/>
                    <a:p>
                      <a:pPr algn="ctr"/>
                      <a:r>
                        <a:rPr sz="1400">
                          <a:solidFill>
                            <a:srgbClr val="121B15"/>
                          </a:solidFill>
                          <a:latin typeface="Segoe UI"/>
                        </a:rPr>
                        <a:t>Give a prediction with no explanation a farmer can trust</a:t>
                      </a:r>
                    </a:p>
                  </a:txBody>
                  <a:tcPr marL="101600" marR="101600" marT="50800" marB="50800" anchor="ctr">
                    <a:solidFill>
                      <a:srgbClr val="EEF5EE"/>
                    </a:solidFill>
                  </a:tcPr>
                </a:tc>
              </a:tr>
            </a:tbl>
          </a:graphicData>
        </a:graphic>
      </p:graphicFrame>
      <p:sp>
        <p:nvSpPr>
          <p:cNvPr id="7" name="TextBox 6"/>
          <p:cNvSpPr txBox="1"/>
          <p:nvPr/>
        </p:nvSpPr>
        <p:spPr>
          <a:xfrm>
            <a:off x="640080" y="5074920"/>
            <a:ext cx="10881360" cy="1005840"/>
          </a:xfrm>
          <a:prstGeom prst="rect">
            <a:avLst/>
          </a:prstGeom>
          <a:noFill/>
        </p:spPr>
        <p:txBody>
          <a:bodyPr wrap="square" anchor="t" lIns="0" rIns="0" tIns="0" bIns="0">
            <a:spAutoFit/>
          </a:bodyPr>
          <a:lstStyle/>
          <a:p>
            <a:pPr algn="l">
              <a:lnSpc>
                <a:spcPct val="130000"/>
              </a:lnSpc>
              <a:spcAft>
                <a:spcPts val="0"/>
              </a:spcAft>
            </a:pPr>
            <a:r>
              <a:rPr sz="1450" b="0" i="1">
                <a:solidFill>
                  <a:srgbClr val="5B6B60"/>
                </a:solidFill>
                <a:latin typeface="Segoe UI"/>
              </a:rPr>
              <a:t>This motivates a system that learns directly from real soil-and-climate data, produces a ranked recommendation with a probability score, and explains why — the direction this project takes.</a:t>
            </a:r>
          </a:p>
        </p:txBody>
      </p:sp>
      <p:cxnSp>
        <p:nvCxnSpPr>
          <p:cNvPr id="8" name="Connector 7"/>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10" name="TextBox 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OBJECTIVES</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What This Project Sets Out to Do</a:t>
            </a:r>
          </a:p>
        </p:txBody>
      </p:sp>
      <p:sp>
        <p:nvSpPr>
          <p:cNvPr id="6" name="Rounded Rectangle 5"/>
          <p:cNvSpPr/>
          <p:nvPr/>
        </p:nvSpPr>
        <p:spPr>
          <a:xfrm>
            <a:off x="640080" y="1508760"/>
            <a:ext cx="5486400" cy="14173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73352"/>
            <a:ext cx="822960" cy="548640"/>
          </a:xfrm>
          <a:prstGeom prst="rect">
            <a:avLst/>
          </a:prstGeom>
          <a:noFill/>
        </p:spPr>
        <p:txBody>
          <a:bodyPr wrap="square" anchor="t" lIns="0" rIns="0" tIns="0" bIns="0">
            <a:spAutoFit/>
          </a:bodyPr>
          <a:lstStyle/>
          <a:p>
            <a:pPr algn="l">
              <a:lnSpc>
                <a:spcPct val="100000"/>
              </a:lnSpc>
              <a:spcAft>
                <a:spcPts val="0"/>
              </a:spcAft>
            </a:pPr>
            <a:r>
              <a:rPr sz="2400" b="1" i="0">
                <a:solidFill>
                  <a:srgbClr val="D8A63A"/>
                </a:solidFill>
                <a:latin typeface="Segoe UI Semibold"/>
              </a:rPr>
              <a:t>01</a:t>
            </a:r>
          </a:p>
        </p:txBody>
      </p:sp>
      <p:sp>
        <p:nvSpPr>
          <p:cNvPr id="8" name="TextBox 7"/>
          <p:cNvSpPr txBox="1"/>
          <p:nvPr/>
        </p:nvSpPr>
        <p:spPr>
          <a:xfrm>
            <a:off x="1600200" y="1655064"/>
            <a:ext cx="43434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FFFFFF"/>
                </a:solidFill>
                <a:latin typeface="Segoe UI"/>
              </a:rPr>
              <a:t>Build an ML-based crop recommendation system</a:t>
            </a:r>
          </a:p>
        </p:txBody>
      </p:sp>
      <p:sp>
        <p:nvSpPr>
          <p:cNvPr id="9" name="TextBox 8"/>
          <p:cNvSpPr txBox="1"/>
          <p:nvPr/>
        </p:nvSpPr>
        <p:spPr>
          <a:xfrm>
            <a:off x="1600200" y="2039112"/>
            <a:ext cx="4389120" cy="822960"/>
          </a:xfrm>
          <a:prstGeom prst="rect">
            <a:avLst/>
          </a:prstGeom>
          <a:noFill/>
        </p:spPr>
        <p:txBody>
          <a:bodyPr wrap="square" anchor="t" lIns="0" rIns="0" tIns="0" bIns="0">
            <a:spAutoFit/>
          </a:bodyPr>
          <a:lstStyle/>
          <a:p>
            <a:pPr algn="l">
              <a:lnSpc>
                <a:spcPct val="115000"/>
              </a:lnSpc>
              <a:spcAft>
                <a:spcPts val="0"/>
              </a:spcAft>
            </a:pPr>
            <a:r>
              <a:rPr sz="1100" b="0" i="0">
                <a:solidFill>
                  <a:srgbClr val="AFC4B6"/>
                </a:solidFill>
                <a:latin typeface="Segoe UI"/>
              </a:rPr>
              <a:t>Predict the most suitable crop from soil and environmental parameters (N, P, K, temperature, humidity, pH, rainfall).</a:t>
            </a:r>
          </a:p>
        </p:txBody>
      </p:sp>
      <p:sp>
        <p:nvSpPr>
          <p:cNvPr id="10" name="Rounded Rectangle 9"/>
          <p:cNvSpPr/>
          <p:nvPr/>
        </p:nvSpPr>
        <p:spPr>
          <a:xfrm>
            <a:off x="6263640" y="1508760"/>
            <a:ext cx="5486400" cy="14173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73352"/>
            <a:ext cx="822960" cy="548640"/>
          </a:xfrm>
          <a:prstGeom prst="rect">
            <a:avLst/>
          </a:prstGeom>
          <a:noFill/>
        </p:spPr>
        <p:txBody>
          <a:bodyPr wrap="square" anchor="t" lIns="0" rIns="0" tIns="0" bIns="0">
            <a:spAutoFit/>
          </a:bodyPr>
          <a:lstStyle/>
          <a:p>
            <a:pPr algn="l">
              <a:lnSpc>
                <a:spcPct val="100000"/>
              </a:lnSpc>
              <a:spcAft>
                <a:spcPts val="0"/>
              </a:spcAft>
            </a:pPr>
            <a:r>
              <a:rPr sz="2400" b="1" i="0">
                <a:solidFill>
                  <a:srgbClr val="D8A63A"/>
                </a:solidFill>
                <a:latin typeface="Segoe UI Semibold"/>
              </a:rPr>
              <a:t>02</a:t>
            </a:r>
          </a:p>
        </p:txBody>
      </p:sp>
      <p:sp>
        <p:nvSpPr>
          <p:cNvPr id="12" name="TextBox 11"/>
          <p:cNvSpPr txBox="1"/>
          <p:nvPr/>
        </p:nvSpPr>
        <p:spPr>
          <a:xfrm>
            <a:off x="7223760" y="1655064"/>
            <a:ext cx="43434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FFFFFF"/>
                </a:solidFill>
                <a:latin typeface="Segoe UI"/>
              </a:rPr>
              <a:t>Train and rigorously compare ML models</a:t>
            </a:r>
          </a:p>
        </p:txBody>
      </p:sp>
      <p:sp>
        <p:nvSpPr>
          <p:cNvPr id="13" name="TextBox 12"/>
          <p:cNvSpPr txBox="1"/>
          <p:nvPr/>
        </p:nvSpPr>
        <p:spPr>
          <a:xfrm>
            <a:off x="7223760" y="2039112"/>
            <a:ext cx="4389120" cy="822960"/>
          </a:xfrm>
          <a:prstGeom prst="rect">
            <a:avLst/>
          </a:prstGeom>
          <a:noFill/>
        </p:spPr>
        <p:txBody>
          <a:bodyPr wrap="square" anchor="t" lIns="0" rIns="0" tIns="0" bIns="0">
            <a:spAutoFit/>
          </a:bodyPr>
          <a:lstStyle/>
          <a:p>
            <a:pPr algn="l">
              <a:lnSpc>
                <a:spcPct val="115000"/>
              </a:lnSpc>
              <a:spcAft>
                <a:spcPts val="0"/>
              </a:spcAft>
            </a:pPr>
            <a:r>
              <a:rPr sz="1100" b="0" i="0">
                <a:solidFill>
                  <a:srgbClr val="AFC4B6"/>
                </a:solidFill>
                <a:latin typeface="Segoe UI"/>
              </a:rPr>
              <a:t>Evaluate Random Forest, Gradient Boosting, XGBoost and SVM with real accuracy, precision, recall and F1 — never a fabricated number.</a:t>
            </a:r>
          </a:p>
        </p:txBody>
      </p:sp>
      <p:sp>
        <p:nvSpPr>
          <p:cNvPr id="14" name="Rounded Rectangle 13"/>
          <p:cNvSpPr/>
          <p:nvPr/>
        </p:nvSpPr>
        <p:spPr>
          <a:xfrm>
            <a:off x="640080" y="3081528"/>
            <a:ext cx="5486400" cy="14173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46120"/>
            <a:ext cx="822960" cy="548640"/>
          </a:xfrm>
          <a:prstGeom prst="rect">
            <a:avLst/>
          </a:prstGeom>
          <a:noFill/>
        </p:spPr>
        <p:txBody>
          <a:bodyPr wrap="square" anchor="t" lIns="0" rIns="0" tIns="0" bIns="0">
            <a:spAutoFit/>
          </a:bodyPr>
          <a:lstStyle/>
          <a:p>
            <a:pPr algn="l">
              <a:lnSpc>
                <a:spcPct val="100000"/>
              </a:lnSpc>
              <a:spcAft>
                <a:spcPts val="0"/>
              </a:spcAft>
            </a:pPr>
            <a:r>
              <a:rPr sz="2400" b="1" i="0">
                <a:solidFill>
                  <a:srgbClr val="D8A63A"/>
                </a:solidFill>
                <a:latin typeface="Segoe UI Semibold"/>
              </a:rPr>
              <a:t>03</a:t>
            </a:r>
          </a:p>
        </p:txBody>
      </p:sp>
      <p:sp>
        <p:nvSpPr>
          <p:cNvPr id="16" name="TextBox 15"/>
          <p:cNvSpPr txBox="1"/>
          <p:nvPr/>
        </p:nvSpPr>
        <p:spPr>
          <a:xfrm>
            <a:off x="1600200" y="3227832"/>
            <a:ext cx="43434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FFFFFF"/>
                </a:solidFill>
                <a:latin typeface="Segoe UI"/>
              </a:rPr>
              <a:t>Make recommendations explainable</a:t>
            </a:r>
          </a:p>
        </p:txBody>
      </p:sp>
      <p:sp>
        <p:nvSpPr>
          <p:cNvPr id="17" name="TextBox 16"/>
          <p:cNvSpPr txBox="1"/>
          <p:nvPr/>
        </p:nvSpPr>
        <p:spPr>
          <a:xfrm>
            <a:off x="1600200" y="3611880"/>
            <a:ext cx="4389120" cy="822960"/>
          </a:xfrm>
          <a:prstGeom prst="rect">
            <a:avLst/>
          </a:prstGeom>
          <a:noFill/>
        </p:spPr>
        <p:txBody>
          <a:bodyPr wrap="square" anchor="t" lIns="0" rIns="0" tIns="0" bIns="0">
            <a:spAutoFit/>
          </a:bodyPr>
          <a:lstStyle/>
          <a:p>
            <a:pPr algn="l">
              <a:lnSpc>
                <a:spcPct val="115000"/>
              </a:lnSpc>
              <a:spcAft>
                <a:spcPts val="0"/>
              </a:spcAft>
            </a:pPr>
            <a:r>
              <a:rPr sz="1100" b="0" i="0">
                <a:solidFill>
                  <a:srgbClr val="AFC4B6"/>
                </a:solidFill>
                <a:latin typeface="Segoe UI"/>
              </a:rPr>
              <a:t>Use SHAP feature-contribution analysis so a farmer sees not just the crop, but why it was recommended.</a:t>
            </a:r>
          </a:p>
        </p:txBody>
      </p:sp>
      <p:sp>
        <p:nvSpPr>
          <p:cNvPr id="18" name="Rounded Rectangle 17"/>
          <p:cNvSpPr/>
          <p:nvPr/>
        </p:nvSpPr>
        <p:spPr>
          <a:xfrm>
            <a:off x="6263640" y="3081528"/>
            <a:ext cx="5486400" cy="14173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246120"/>
            <a:ext cx="822960" cy="548640"/>
          </a:xfrm>
          <a:prstGeom prst="rect">
            <a:avLst/>
          </a:prstGeom>
          <a:noFill/>
        </p:spPr>
        <p:txBody>
          <a:bodyPr wrap="square" anchor="t" lIns="0" rIns="0" tIns="0" bIns="0">
            <a:spAutoFit/>
          </a:bodyPr>
          <a:lstStyle/>
          <a:p>
            <a:pPr algn="l">
              <a:lnSpc>
                <a:spcPct val="100000"/>
              </a:lnSpc>
              <a:spcAft>
                <a:spcPts val="0"/>
              </a:spcAft>
            </a:pPr>
            <a:r>
              <a:rPr sz="2400" b="1" i="0">
                <a:solidFill>
                  <a:srgbClr val="D8A63A"/>
                </a:solidFill>
                <a:latin typeface="Segoe UI Semibold"/>
              </a:rPr>
              <a:t>04</a:t>
            </a:r>
          </a:p>
        </p:txBody>
      </p:sp>
      <p:sp>
        <p:nvSpPr>
          <p:cNvPr id="20" name="TextBox 19"/>
          <p:cNvSpPr txBox="1"/>
          <p:nvPr/>
        </p:nvSpPr>
        <p:spPr>
          <a:xfrm>
            <a:off x="7223760" y="3227832"/>
            <a:ext cx="43434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FFFFFF"/>
                </a:solidFill>
                <a:latin typeface="Segoe UI"/>
              </a:rPr>
              <a:t>Provide data-driven decision support</a:t>
            </a:r>
          </a:p>
        </p:txBody>
      </p:sp>
      <p:sp>
        <p:nvSpPr>
          <p:cNvPr id="21" name="TextBox 20"/>
          <p:cNvSpPr txBox="1"/>
          <p:nvPr/>
        </p:nvSpPr>
        <p:spPr>
          <a:xfrm>
            <a:off x="7223760" y="3611880"/>
            <a:ext cx="4389120" cy="822960"/>
          </a:xfrm>
          <a:prstGeom prst="rect">
            <a:avLst/>
          </a:prstGeom>
          <a:noFill/>
        </p:spPr>
        <p:txBody>
          <a:bodyPr wrap="square" anchor="t" lIns="0" rIns="0" tIns="0" bIns="0">
            <a:spAutoFit/>
          </a:bodyPr>
          <a:lstStyle/>
          <a:p>
            <a:pPr algn="l">
              <a:lnSpc>
                <a:spcPct val="115000"/>
              </a:lnSpc>
              <a:spcAft>
                <a:spcPts val="0"/>
              </a:spcAft>
            </a:pPr>
            <a:r>
              <a:rPr sz="1100" b="0" i="0">
                <a:solidFill>
                  <a:srgbClr val="AFC4B6"/>
                </a:solidFill>
                <a:latin typeface="Segoe UI"/>
              </a:rPr>
              <a:t>Replace guesswork with a quantitative, reproducible recommendation pipeline.</a:t>
            </a:r>
          </a:p>
        </p:txBody>
      </p:sp>
      <p:sp>
        <p:nvSpPr>
          <p:cNvPr id="22" name="Rounded Rectangle 21"/>
          <p:cNvSpPr/>
          <p:nvPr/>
        </p:nvSpPr>
        <p:spPr>
          <a:xfrm>
            <a:off x="640080" y="4654296"/>
            <a:ext cx="5486400" cy="14173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818888"/>
            <a:ext cx="822960" cy="548640"/>
          </a:xfrm>
          <a:prstGeom prst="rect">
            <a:avLst/>
          </a:prstGeom>
          <a:noFill/>
        </p:spPr>
        <p:txBody>
          <a:bodyPr wrap="square" anchor="t" lIns="0" rIns="0" tIns="0" bIns="0">
            <a:spAutoFit/>
          </a:bodyPr>
          <a:lstStyle/>
          <a:p>
            <a:pPr algn="l">
              <a:lnSpc>
                <a:spcPct val="100000"/>
              </a:lnSpc>
              <a:spcAft>
                <a:spcPts val="0"/>
              </a:spcAft>
            </a:pPr>
            <a:r>
              <a:rPr sz="2400" b="1" i="0">
                <a:solidFill>
                  <a:srgbClr val="D8A63A"/>
                </a:solidFill>
                <a:latin typeface="Segoe UI Semibold"/>
              </a:rPr>
              <a:t>05</a:t>
            </a:r>
          </a:p>
        </p:txBody>
      </p:sp>
      <p:sp>
        <p:nvSpPr>
          <p:cNvPr id="24" name="TextBox 23"/>
          <p:cNvSpPr txBox="1"/>
          <p:nvPr/>
        </p:nvSpPr>
        <p:spPr>
          <a:xfrm>
            <a:off x="1600200" y="4800600"/>
            <a:ext cx="43434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FFFFFF"/>
                </a:solidFill>
                <a:latin typeface="Segoe UI"/>
              </a:rPr>
              <a:t>Deliver a simple, farmer-oriented interface</a:t>
            </a:r>
          </a:p>
        </p:txBody>
      </p:sp>
      <p:sp>
        <p:nvSpPr>
          <p:cNvPr id="25" name="TextBox 24"/>
          <p:cNvSpPr txBox="1"/>
          <p:nvPr/>
        </p:nvSpPr>
        <p:spPr>
          <a:xfrm>
            <a:off x="1600200" y="5184648"/>
            <a:ext cx="4389120" cy="822960"/>
          </a:xfrm>
          <a:prstGeom prst="rect">
            <a:avLst/>
          </a:prstGeom>
          <a:noFill/>
        </p:spPr>
        <p:txBody>
          <a:bodyPr wrap="square" anchor="t" lIns="0" rIns="0" tIns="0" bIns="0">
            <a:spAutoFit/>
          </a:bodyPr>
          <a:lstStyle/>
          <a:p>
            <a:pPr algn="l">
              <a:lnSpc>
                <a:spcPct val="115000"/>
              </a:lnSpc>
              <a:spcAft>
                <a:spcPts val="0"/>
              </a:spcAft>
            </a:pPr>
            <a:r>
              <a:rPr sz="1100" b="0" i="0">
                <a:solidFill>
                  <a:srgbClr val="AFC4B6"/>
                </a:solidFill>
                <a:latin typeface="Segoe UI"/>
              </a:rPr>
              <a:t>Soil input form to ranked crop recommendation, in a few clicks.</a:t>
            </a:r>
          </a:p>
        </p:txBody>
      </p:sp>
      <p:sp>
        <p:nvSpPr>
          <p:cNvPr id="26" name="Rounded Rectangle 25"/>
          <p:cNvSpPr/>
          <p:nvPr/>
        </p:nvSpPr>
        <p:spPr>
          <a:xfrm>
            <a:off x="6263640" y="4654296"/>
            <a:ext cx="5486400" cy="14173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818888"/>
            <a:ext cx="822960" cy="548640"/>
          </a:xfrm>
          <a:prstGeom prst="rect">
            <a:avLst/>
          </a:prstGeom>
          <a:noFill/>
        </p:spPr>
        <p:txBody>
          <a:bodyPr wrap="square" anchor="t" lIns="0" rIns="0" tIns="0" bIns="0">
            <a:spAutoFit/>
          </a:bodyPr>
          <a:lstStyle/>
          <a:p>
            <a:pPr algn="l">
              <a:lnSpc>
                <a:spcPct val="100000"/>
              </a:lnSpc>
              <a:spcAft>
                <a:spcPts val="0"/>
              </a:spcAft>
            </a:pPr>
            <a:r>
              <a:rPr sz="2400" b="1" i="0">
                <a:solidFill>
                  <a:srgbClr val="D8A63A"/>
                </a:solidFill>
                <a:latin typeface="Segoe UI Semibold"/>
              </a:rPr>
              <a:t>06</a:t>
            </a:r>
          </a:p>
        </p:txBody>
      </p:sp>
      <p:sp>
        <p:nvSpPr>
          <p:cNvPr id="28" name="TextBox 27"/>
          <p:cNvSpPr txBox="1"/>
          <p:nvPr/>
        </p:nvSpPr>
        <p:spPr>
          <a:xfrm>
            <a:off x="7223760" y="4800600"/>
            <a:ext cx="43434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FFFFFF"/>
                </a:solidFill>
                <a:latin typeface="Segoe UI"/>
              </a:rPr>
              <a:t>Design for extensibility</a:t>
            </a:r>
          </a:p>
        </p:txBody>
      </p:sp>
      <p:sp>
        <p:nvSpPr>
          <p:cNvPr id="29" name="TextBox 28"/>
          <p:cNvSpPr txBox="1"/>
          <p:nvPr/>
        </p:nvSpPr>
        <p:spPr>
          <a:xfrm>
            <a:off x="7223760" y="5184648"/>
            <a:ext cx="4389120" cy="822960"/>
          </a:xfrm>
          <a:prstGeom prst="rect">
            <a:avLst/>
          </a:prstGeom>
          <a:noFill/>
        </p:spPr>
        <p:txBody>
          <a:bodyPr wrap="square" anchor="t" lIns="0" rIns="0" tIns="0" bIns="0">
            <a:spAutoFit/>
          </a:bodyPr>
          <a:lstStyle/>
          <a:p>
            <a:pPr algn="l">
              <a:lnSpc>
                <a:spcPct val="115000"/>
              </a:lnSpc>
              <a:spcAft>
                <a:spcPts val="0"/>
              </a:spcAft>
            </a:pPr>
            <a:r>
              <a:rPr sz="1100" b="0" i="0">
                <a:solidFill>
                  <a:srgbClr val="AFC4B6"/>
                </a:solidFill>
                <a:latin typeface="Segoe UI"/>
              </a:rPr>
              <a:t>Architect the system so future modules can be added without rewriting the core (see Future Scope).</a:t>
            </a:r>
          </a:p>
        </p:txBody>
      </p:sp>
      <p:cxnSp>
        <p:nvCxnSpPr>
          <p:cNvPr id="30" name="Connector 29"/>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32" name="TextBox 31"/>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LITERATURE REVIEW</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20 Peer-Reviewed References Across 4 Themes</a:t>
            </a:r>
          </a:p>
        </p:txBody>
      </p:sp>
      <p:sp>
        <p:nvSpPr>
          <p:cNvPr id="6" name="TextBox 5"/>
          <p:cNvSpPr txBox="1"/>
          <p:nvPr/>
        </p:nvSpPr>
        <p:spPr>
          <a:xfrm>
            <a:off x="640080" y="1417320"/>
            <a:ext cx="10789920" cy="457200"/>
          </a:xfrm>
          <a:prstGeom prst="rect">
            <a:avLst/>
          </a:prstGeom>
          <a:noFill/>
        </p:spPr>
        <p:txBody>
          <a:bodyPr wrap="square" anchor="t" lIns="0" rIns="0" tIns="0" bIns="0">
            <a:spAutoFit/>
          </a:bodyPr>
          <a:lstStyle/>
          <a:p>
            <a:pPr algn="l">
              <a:lnSpc>
                <a:spcPct val="100000"/>
              </a:lnSpc>
              <a:spcAft>
                <a:spcPts val="0"/>
              </a:spcAft>
            </a:pPr>
            <a:r>
              <a:rPr sz="1350" b="0" i="1">
                <a:solidFill>
                  <a:srgbClr val="AFC4B6"/>
                </a:solidFill>
                <a:latin typeface="Segoe UI"/>
              </a:rPr>
              <a:t>Minimum 5 verified papers per team member — organized by theme rather than presented as a flat list.</a:t>
            </a:r>
          </a:p>
        </p:txBody>
      </p:sp>
      <p:sp>
        <p:nvSpPr>
          <p:cNvPr id="7" name="Rounded Rectangle 6"/>
          <p:cNvSpPr/>
          <p:nvPr/>
        </p:nvSpPr>
        <p:spPr>
          <a:xfrm>
            <a:off x="640080" y="2057400"/>
            <a:ext cx="5440680" cy="169164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57400"/>
            <a:ext cx="109728" cy="16916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2258568"/>
            <a:ext cx="1371600" cy="365760"/>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FFFFFF"/>
                </a:solidFill>
                <a:latin typeface="Segoe UI Semibold"/>
              </a:rPr>
              <a:t>Ref. 1-5</a:t>
            </a:r>
          </a:p>
        </p:txBody>
      </p:sp>
      <p:sp>
        <p:nvSpPr>
          <p:cNvPr id="10" name="TextBox 9"/>
          <p:cNvSpPr txBox="1"/>
          <p:nvPr/>
        </p:nvSpPr>
        <p:spPr>
          <a:xfrm>
            <a:off x="2468880" y="2258568"/>
            <a:ext cx="3383280" cy="365760"/>
          </a:xfrm>
          <a:prstGeom prst="rect">
            <a:avLst/>
          </a:prstGeom>
          <a:noFill/>
        </p:spPr>
        <p:txBody>
          <a:bodyPr wrap="square" anchor="t" lIns="0" rIns="0" tIns="0" bIns="0">
            <a:spAutoFit/>
          </a:bodyPr>
          <a:lstStyle/>
          <a:p>
            <a:pPr algn="r">
              <a:lnSpc>
                <a:spcPct val="100000"/>
              </a:lnSpc>
              <a:spcAft>
                <a:spcPts val="0"/>
              </a:spcAft>
            </a:pPr>
            <a:r>
              <a:rPr sz="1250" b="1" i="0">
                <a:solidFill>
                  <a:srgbClr val="AFC4B6"/>
                </a:solidFill>
                <a:latin typeface="Segoe UI"/>
              </a:rPr>
              <a:t>Member 1</a:t>
            </a:r>
          </a:p>
        </p:txBody>
      </p:sp>
      <p:sp>
        <p:nvSpPr>
          <p:cNvPr id="11" name="TextBox 10"/>
          <p:cNvSpPr txBox="1"/>
          <p:nvPr/>
        </p:nvSpPr>
        <p:spPr>
          <a:xfrm>
            <a:off x="960120" y="2770632"/>
            <a:ext cx="4937760" cy="868680"/>
          </a:xfrm>
          <a:prstGeom prst="rect">
            <a:avLst/>
          </a:prstGeom>
          <a:noFill/>
        </p:spPr>
        <p:txBody>
          <a:bodyPr wrap="square" anchor="t" lIns="0" rIns="0" tIns="0" bIns="0">
            <a:spAutoFit/>
          </a:bodyPr>
          <a:lstStyle/>
          <a:p>
            <a:pPr algn="l">
              <a:lnSpc>
                <a:spcPct val="110000"/>
              </a:lnSpc>
              <a:spcAft>
                <a:spcPts val="0"/>
              </a:spcAft>
            </a:pPr>
            <a:r>
              <a:rPr sz="1700" b="1" i="0">
                <a:solidFill>
                  <a:srgbClr val="FFFFFF"/>
                </a:solidFill>
                <a:latin typeface="Segoe UI Semibold"/>
              </a:rPr>
              <a:t>Crop Recommendation using Machine Learning</a:t>
            </a:r>
          </a:p>
        </p:txBody>
      </p:sp>
      <p:sp>
        <p:nvSpPr>
          <p:cNvPr id="12" name="Rounded Rectangle 11"/>
          <p:cNvSpPr/>
          <p:nvPr/>
        </p:nvSpPr>
        <p:spPr>
          <a:xfrm>
            <a:off x="6263640" y="2057400"/>
            <a:ext cx="5440680" cy="169164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2057400"/>
            <a:ext cx="109728" cy="1691640"/>
          </a:xfrm>
          <a:prstGeom prst="rect">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83680" y="2258568"/>
            <a:ext cx="1371600" cy="365760"/>
          </a:xfrm>
          <a:prstGeom prst="roundRect">
            <a:avLst>
              <a:gd name="adj" fmla="val 50000"/>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FFFFFF"/>
                </a:solidFill>
                <a:latin typeface="Segoe UI Semibold"/>
              </a:rPr>
              <a:t>Ref. 6-10</a:t>
            </a:r>
          </a:p>
        </p:txBody>
      </p:sp>
      <p:sp>
        <p:nvSpPr>
          <p:cNvPr id="15" name="TextBox 14"/>
          <p:cNvSpPr txBox="1"/>
          <p:nvPr/>
        </p:nvSpPr>
        <p:spPr>
          <a:xfrm>
            <a:off x="8092440" y="2258568"/>
            <a:ext cx="3383280" cy="365760"/>
          </a:xfrm>
          <a:prstGeom prst="rect">
            <a:avLst/>
          </a:prstGeom>
          <a:noFill/>
        </p:spPr>
        <p:txBody>
          <a:bodyPr wrap="square" anchor="t" lIns="0" rIns="0" tIns="0" bIns="0">
            <a:spAutoFit/>
          </a:bodyPr>
          <a:lstStyle/>
          <a:p>
            <a:pPr algn="r">
              <a:lnSpc>
                <a:spcPct val="100000"/>
              </a:lnSpc>
              <a:spcAft>
                <a:spcPts val="0"/>
              </a:spcAft>
            </a:pPr>
            <a:r>
              <a:rPr sz="1250" b="1" i="0">
                <a:solidFill>
                  <a:srgbClr val="AFC4B6"/>
                </a:solidFill>
                <a:latin typeface="Segoe UI"/>
              </a:rPr>
              <a:t>Member 2</a:t>
            </a:r>
          </a:p>
        </p:txBody>
      </p:sp>
      <p:sp>
        <p:nvSpPr>
          <p:cNvPr id="16" name="TextBox 15"/>
          <p:cNvSpPr txBox="1"/>
          <p:nvPr/>
        </p:nvSpPr>
        <p:spPr>
          <a:xfrm>
            <a:off x="6583680" y="2770632"/>
            <a:ext cx="4937760" cy="868680"/>
          </a:xfrm>
          <a:prstGeom prst="rect">
            <a:avLst/>
          </a:prstGeom>
          <a:noFill/>
        </p:spPr>
        <p:txBody>
          <a:bodyPr wrap="square" anchor="t" lIns="0" rIns="0" tIns="0" bIns="0">
            <a:spAutoFit/>
          </a:bodyPr>
          <a:lstStyle/>
          <a:p>
            <a:pPr algn="l">
              <a:lnSpc>
                <a:spcPct val="110000"/>
              </a:lnSpc>
              <a:spcAft>
                <a:spcPts val="0"/>
              </a:spcAft>
            </a:pPr>
            <a:r>
              <a:rPr sz="1700" b="1" i="0">
                <a:solidFill>
                  <a:srgbClr val="FFFFFF"/>
                </a:solidFill>
                <a:latin typeface="Segoe UI Semibold"/>
              </a:rPr>
              <a:t>Foundational ML Algorithms Used in This Project</a:t>
            </a:r>
          </a:p>
        </p:txBody>
      </p:sp>
      <p:sp>
        <p:nvSpPr>
          <p:cNvPr id="17" name="Rounded Rectangle 16"/>
          <p:cNvSpPr/>
          <p:nvPr/>
        </p:nvSpPr>
        <p:spPr>
          <a:xfrm>
            <a:off x="640080" y="3977640"/>
            <a:ext cx="5440680" cy="169164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977640"/>
            <a:ext cx="109728" cy="1691640"/>
          </a:xfrm>
          <a:prstGeom prst="rect">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 y="4178808"/>
            <a:ext cx="1371600" cy="365760"/>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FFFFFF"/>
                </a:solidFill>
                <a:latin typeface="Segoe UI Semibold"/>
              </a:rPr>
              <a:t>Ref. 11-15</a:t>
            </a:r>
          </a:p>
        </p:txBody>
      </p:sp>
      <p:sp>
        <p:nvSpPr>
          <p:cNvPr id="20" name="TextBox 19"/>
          <p:cNvSpPr txBox="1"/>
          <p:nvPr/>
        </p:nvSpPr>
        <p:spPr>
          <a:xfrm>
            <a:off x="2468880" y="4178808"/>
            <a:ext cx="3383280" cy="365760"/>
          </a:xfrm>
          <a:prstGeom prst="rect">
            <a:avLst/>
          </a:prstGeom>
          <a:noFill/>
        </p:spPr>
        <p:txBody>
          <a:bodyPr wrap="square" anchor="t" lIns="0" rIns="0" tIns="0" bIns="0">
            <a:spAutoFit/>
          </a:bodyPr>
          <a:lstStyle/>
          <a:p>
            <a:pPr algn="r">
              <a:lnSpc>
                <a:spcPct val="100000"/>
              </a:lnSpc>
              <a:spcAft>
                <a:spcPts val="0"/>
              </a:spcAft>
            </a:pPr>
            <a:r>
              <a:rPr sz="1250" b="1" i="0">
                <a:solidFill>
                  <a:srgbClr val="AFC4B6"/>
                </a:solidFill>
                <a:latin typeface="Segoe UI"/>
              </a:rPr>
              <a:t>Member 3</a:t>
            </a:r>
          </a:p>
        </p:txBody>
      </p:sp>
      <p:sp>
        <p:nvSpPr>
          <p:cNvPr id="21" name="TextBox 20"/>
          <p:cNvSpPr txBox="1"/>
          <p:nvPr/>
        </p:nvSpPr>
        <p:spPr>
          <a:xfrm>
            <a:off x="960120" y="4690872"/>
            <a:ext cx="4937760" cy="868680"/>
          </a:xfrm>
          <a:prstGeom prst="rect">
            <a:avLst/>
          </a:prstGeom>
          <a:noFill/>
        </p:spPr>
        <p:txBody>
          <a:bodyPr wrap="square" anchor="t" lIns="0" rIns="0" tIns="0" bIns="0">
            <a:spAutoFit/>
          </a:bodyPr>
          <a:lstStyle/>
          <a:p>
            <a:pPr algn="l">
              <a:lnSpc>
                <a:spcPct val="110000"/>
              </a:lnSpc>
              <a:spcAft>
                <a:spcPts val="0"/>
              </a:spcAft>
            </a:pPr>
            <a:r>
              <a:rPr sz="1700" b="1" i="0">
                <a:solidFill>
                  <a:srgbClr val="FFFFFF"/>
                </a:solidFill>
                <a:latin typeface="Segoe UI Semibold"/>
              </a:rPr>
              <a:t>AI / Smart Agriculture Approaches</a:t>
            </a:r>
          </a:p>
        </p:txBody>
      </p:sp>
      <p:sp>
        <p:nvSpPr>
          <p:cNvPr id="22" name="Rounded Rectangle 21"/>
          <p:cNvSpPr/>
          <p:nvPr/>
        </p:nvSpPr>
        <p:spPr>
          <a:xfrm>
            <a:off x="6263640" y="3977640"/>
            <a:ext cx="5440680" cy="169164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977640"/>
            <a:ext cx="109728" cy="1691640"/>
          </a:xfrm>
          <a:prstGeom prst="rect">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0" y="4178808"/>
            <a:ext cx="1371600" cy="365760"/>
          </a:xfrm>
          <a:prstGeom prst="roundRect">
            <a:avLst>
              <a:gd name="adj" fmla="val 50000"/>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FFFFFF"/>
                </a:solidFill>
                <a:latin typeface="Segoe UI Semibold"/>
              </a:rPr>
              <a:t>Ref. 16-20</a:t>
            </a:r>
          </a:p>
        </p:txBody>
      </p:sp>
      <p:sp>
        <p:nvSpPr>
          <p:cNvPr id="25" name="TextBox 24"/>
          <p:cNvSpPr txBox="1"/>
          <p:nvPr/>
        </p:nvSpPr>
        <p:spPr>
          <a:xfrm>
            <a:off x="8092440" y="4178808"/>
            <a:ext cx="3383280" cy="365760"/>
          </a:xfrm>
          <a:prstGeom prst="rect">
            <a:avLst/>
          </a:prstGeom>
          <a:noFill/>
        </p:spPr>
        <p:txBody>
          <a:bodyPr wrap="square" anchor="t" lIns="0" rIns="0" tIns="0" bIns="0">
            <a:spAutoFit/>
          </a:bodyPr>
          <a:lstStyle/>
          <a:p>
            <a:pPr algn="r">
              <a:lnSpc>
                <a:spcPct val="100000"/>
              </a:lnSpc>
              <a:spcAft>
                <a:spcPts val="0"/>
              </a:spcAft>
            </a:pPr>
            <a:r>
              <a:rPr sz="1250" b="1" i="0">
                <a:solidFill>
                  <a:srgbClr val="AFC4B6"/>
                </a:solidFill>
                <a:latin typeface="Segoe UI"/>
              </a:rPr>
              <a:t>Member 4</a:t>
            </a:r>
          </a:p>
        </p:txBody>
      </p:sp>
      <p:sp>
        <p:nvSpPr>
          <p:cNvPr id="26" name="TextBox 25"/>
          <p:cNvSpPr txBox="1"/>
          <p:nvPr/>
        </p:nvSpPr>
        <p:spPr>
          <a:xfrm>
            <a:off x="6583680" y="4690872"/>
            <a:ext cx="4937760" cy="868680"/>
          </a:xfrm>
          <a:prstGeom prst="rect">
            <a:avLst/>
          </a:prstGeom>
          <a:noFill/>
        </p:spPr>
        <p:txBody>
          <a:bodyPr wrap="square" anchor="t" lIns="0" rIns="0" tIns="0" bIns="0">
            <a:spAutoFit/>
          </a:bodyPr>
          <a:lstStyle/>
          <a:p>
            <a:pPr algn="l">
              <a:lnSpc>
                <a:spcPct val="110000"/>
              </a:lnSpc>
              <a:spcAft>
                <a:spcPts val="0"/>
              </a:spcAft>
            </a:pPr>
            <a:r>
              <a:rPr sz="1700" b="1" i="0">
                <a:solidFill>
                  <a:srgbClr val="FFFFFF"/>
                </a:solidFill>
                <a:latin typeface="Segoe UI Semibold"/>
              </a:rPr>
              <a:t>Explainable AI &amp; Recent Intelligent Agriculture Systems</a:t>
            </a:r>
          </a:p>
        </p:txBody>
      </p:sp>
      <p:cxnSp>
        <p:nvCxnSpPr>
          <p:cNvPr id="27" name="Connector 26"/>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29" name="TextBox 28"/>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Semibold"/>
              </a:rPr>
              <a:t>LITERATURE REVIEW  |  MEMBER 1</a:t>
            </a:r>
          </a:p>
        </p:txBody>
      </p:sp>
      <p:sp>
        <p:nvSpPr>
          <p:cNvPr id="5" name="TextBox 4"/>
          <p:cNvSpPr txBox="1"/>
          <p:nvPr/>
        </p:nvSpPr>
        <p:spPr>
          <a:xfrm>
            <a:off x="640080" y="749808"/>
            <a:ext cx="8138160" cy="731520"/>
          </a:xfrm>
          <a:prstGeom prst="rect">
            <a:avLst/>
          </a:prstGeom>
          <a:noFill/>
        </p:spPr>
        <p:txBody>
          <a:bodyPr wrap="square" anchor="t" lIns="0" rIns="0" tIns="0" bIns="0">
            <a:spAutoFit/>
          </a:bodyPr>
          <a:lstStyle/>
          <a:p>
            <a:pPr algn="l">
              <a:lnSpc>
                <a:spcPct val="100000"/>
              </a:lnSpc>
              <a:spcAft>
                <a:spcPts val="0"/>
              </a:spcAft>
            </a:pPr>
            <a:r>
              <a:rPr sz="2400" b="1" i="0">
                <a:solidFill>
                  <a:srgbClr val="121B15"/>
                </a:solidFill>
                <a:latin typeface="Segoe UI Semibold"/>
              </a:rPr>
              <a:t>Crop Recommendation using Machine Learning</a:t>
            </a:r>
          </a:p>
        </p:txBody>
      </p:sp>
      <p:sp>
        <p:nvSpPr>
          <p:cNvPr id="6" name="Rounded Rectangle 5"/>
          <p:cNvSpPr/>
          <p:nvPr/>
        </p:nvSpPr>
        <p:spPr>
          <a:xfrm>
            <a:off x="9829800" y="822960"/>
            <a:ext cx="1280160" cy="365760"/>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121B15"/>
                </a:solidFill>
                <a:latin typeface="Segoe UI Semibold"/>
              </a:rPr>
              <a:t>Ref. 1-5</a:t>
            </a:r>
          </a:p>
        </p:txBody>
      </p:sp>
      <p:graphicFrame>
        <p:nvGraphicFramePr>
          <p:cNvPr id="7" name="Table 6"/>
          <p:cNvGraphicFramePr>
            <a:graphicFrameLocks noGrp="1"/>
          </p:cNvGraphicFramePr>
          <p:nvPr/>
        </p:nvGraphicFramePr>
        <p:xfrm>
          <a:off x="502920" y="1572768"/>
          <a:ext cx="11201399" cy="4498848"/>
        </p:xfrm>
        <a:graphic>
          <a:graphicData uri="http://schemas.openxmlformats.org/drawingml/2006/table">
            <a:tbl>
              <a:tblPr firstRow="1" bandRow="1">
                <a:tableStyleId>{5C22544A-7EE6-4342-B048-85BDC9FD1C3A}</a:tableStyleId>
              </a:tblPr>
              <a:tblGrid>
                <a:gridCol w="448056"/>
                <a:gridCol w="3853281"/>
                <a:gridCol w="2329891"/>
                <a:gridCol w="2240280"/>
                <a:gridCol w="2329891"/>
              </a:tblGrid>
              <a:tr h="749808">
                <a:tc>
                  <a:txBody>
                    <a:bodyPr wrap="square"/>
                    <a:lstStyle/>
                    <a:p>
                      <a:pPr algn="l"/>
                      <a:r>
                        <a:rPr sz="1150" b="1">
                          <a:solidFill>
                            <a:srgbClr val="FFFFFF"/>
                          </a:solidFill>
                          <a:latin typeface="Segoe UI Semibold"/>
                        </a:rPr>
                        <a: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Authors, Year &amp; Title</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Method</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Key Result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Gap</a:t>
                      </a:r>
                    </a:p>
                  </a:txBody>
                  <a:tcPr marL="101600" marR="101600" marT="50800" marB="50800" anchor="ctr">
                    <a:solidFill>
                      <a:srgbClr val="2E7D32"/>
                    </a:solidFill>
                  </a:tcPr>
                </a:tc>
              </a:tr>
              <a:tr h="749808">
                <a:tc>
                  <a:txBody>
                    <a:bodyPr wrap="square"/>
                    <a:lstStyle/>
                    <a:p>
                      <a:pPr algn="l"/>
                      <a:r>
                        <a:rPr sz="1050">
                          <a:solidFill>
                            <a:srgbClr val="121B15"/>
                          </a:solidFill>
                          <a:latin typeface="Segoe UI"/>
                        </a:rPr>
                        <a:t>1</a:t>
                      </a:r>
                    </a:p>
                  </a:txBody>
                  <a:tcPr marL="101600" marR="101600" marT="50800" marB="50800" anchor="ctr">
                    <a:solidFill>
                      <a:srgbClr val="FFFFFF"/>
                    </a:solidFill>
                  </a:tcPr>
                </a:tc>
                <a:tc>
                  <a:txBody>
                    <a:bodyPr wrap="square"/>
                    <a:lstStyle/>
                    <a:p>
                      <a:pPr algn="ctr"/>
                      <a:r>
                        <a:rPr sz="1050">
                          <a:solidFill>
                            <a:srgbClr val="121B15"/>
                          </a:solidFill>
                          <a:latin typeface="Segoe UI"/>
                        </a:rPr>
                        <a:t>Pudumalar et al. (2017)
Crop Recommendation System for Precision Agriculture
IEEE ICoAC 2016 (publ. 2017)</a:t>
                      </a:r>
                    </a:p>
                  </a:txBody>
                  <a:tcPr marL="101600" marR="101600" marT="50800" marB="50800" anchor="ctr">
                    <a:solidFill>
                      <a:srgbClr val="FFFFFF"/>
                    </a:solidFill>
                  </a:tcPr>
                </a:tc>
                <a:tc>
                  <a:txBody>
                    <a:bodyPr wrap="square"/>
                    <a:lstStyle/>
                    <a:p>
                      <a:pPr algn="ctr"/>
                      <a:r>
                        <a:rPr sz="1050">
                          <a:solidFill>
                            <a:srgbClr val="121B15"/>
                          </a:solidFill>
                          <a:latin typeface="Segoe UI"/>
                        </a:rPr>
                        <a:t>Ensemble voting (Random Tree, CHAID, KNN, NB)</a:t>
                      </a:r>
                    </a:p>
                  </a:txBody>
                  <a:tcPr marL="101600" marR="101600" marT="50800" marB="50800" anchor="ctr">
                    <a:solidFill>
                      <a:srgbClr val="FFFFFF"/>
                    </a:solidFill>
                  </a:tcPr>
                </a:tc>
                <a:tc>
                  <a:txBody>
                    <a:bodyPr wrap="square"/>
                    <a:lstStyle/>
                    <a:p>
                      <a:pPr algn="ctr"/>
                      <a:r>
                        <a:rPr sz="1050">
                          <a:solidFill>
                            <a:srgbClr val="121B15"/>
                          </a:solidFill>
                          <a:latin typeface="Segoe UI"/>
                        </a:rPr>
                        <a:t>Beats single classifiers</a:t>
                      </a:r>
                    </a:p>
                  </a:txBody>
                  <a:tcPr marL="101600" marR="101600" marT="50800" marB="50800" anchor="ctr">
                    <a:solidFill>
                      <a:srgbClr val="FFFFFF"/>
                    </a:solidFill>
                  </a:tcPr>
                </a:tc>
                <a:tc>
                  <a:txBody>
                    <a:bodyPr wrap="square"/>
                    <a:lstStyle/>
                    <a:p>
                      <a:pPr algn="ctr"/>
                      <a:r>
                        <a:rPr sz="1050">
                          <a:solidFill>
                            <a:srgbClr val="121B15"/>
                          </a:solidFill>
                          <a:latin typeface="Segoe UI"/>
                        </a:rPr>
                        <a:t>Region-specific, no explainability</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2</a:t>
                      </a:r>
                    </a:p>
                  </a:txBody>
                  <a:tcPr marL="101600" marR="101600" marT="50800" marB="50800" anchor="ctr">
                    <a:solidFill>
                      <a:srgbClr val="EEF5EE"/>
                    </a:solidFill>
                  </a:tcPr>
                </a:tc>
                <a:tc>
                  <a:txBody>
                    <a:bodyPr wrap="square"/>
                    <a:lstStyle/>
                    <a:p>
                      <a:pPr algn="ctr"/>
                      <a:r>
                        <a:rPr sz="1050">
                          <a:solidFill>
                            <a:srgbClr val="121B15"/>
                          </a:solidFill>
                          <a:latin typeface="Segoe UI"/>
                        </a:rPr>
                        <a:t>Doshi et al. (2018)
AgroConsultant: Intelligent Crop Recommendation System
IEEE ICCUBEA 2018</a:t>
                      </a:r>
                    </a:p>
                  </a:txBody>
                  <a:tcPr marL="101600" marR="101600" marT="50800" marB="50800" anchor="ctr">
                    <a:solidFill>
                      <a:srgbClr val="EEF5EE"/>
                    </a:solidFill>
                  </a:tcPr>
                </a:tc>
                <a:tc>
                  <a:txBody>
                    <a:bodyPr wrap="square"/>
                    <a:lstStyle/>
                    <a:p>
                      <a:pPr algn="ctr"/>
                      <a:r>
                        <a:rPr sz="1050">
                          <a:solidFill>
                            <a:srgbClr val="121B15"/>
                          </a:solidFill>
                          <a:latin typeface="Segoe UI"/>
                        </a:rPr>
                        <a:t>RF, ANN, NB, SVM compared</a:t>
                      </a:r>
                    </a:p>
                  </a:txBody>
                  <a:tcPr marL="101600" marR="101600" marT="50800" marB="50800" anchor="ctr">
                    <a:solidFill>
                      <a:srgbClr val="EEF5EE"/>
                    </a:solidFill>
                  </a:tcPr>
                </a:tc>
                <a:tc>
                  <a:txBody>
                    <a:bodyPr wrap="square"/>
                    <a:lstStyle/>
                    <a:p>
                      <a:pPr algn="ctr"/>
                      <a:r>
                        <a:rPr sz="1050">
                          <a:solidFill>
                            <a:srgbClr val="121B15"/>
                          </a:solidFill>
                          <a:latin typeface="Segoe UI"/>
                        </a:rPr>
                        <a:t>RF/ensemble most accurate</a:t>
                      </a:r>
                    </a:p>
                  </a:txBody>
                  <a:tcPr marL="101600" marR="101600" marT="50800" marB="50800" anchor="ctr">
                    <a:solidFill>
                      <a:srgbClr val="EEF5EE"/>
                    </a:solidFill>
                  </a:tcPr>
                </a:tc>
                <a:tc>
                  <a:txBody>
                    <a:bodyPr wrap="square"/>
                    <a:lstStyle/>
                    <a:p>
                      <a:pPr algn="ctr"/>
                      <a:r>
                        <a:rPr sz="1050">
                          <a:solidFill>
                            <a:srgbClr val="121B15"/>
                          </a:solidFill>
                          <a:latin typeface="Segoe UI"/>
                        </a:rPr>
                        <a:t>Limited to Maharashtra data</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3</a:t>
                      </a:r>
                    </a:p>
                  </a:txBody>
                  <a:tcPr marL="101600" marR="101600" marT="50800" marB="50800" anchor="ctr">
                    <a:solidFill>
                      <a:srgbClr val="FFFFFF"/>
                    </a:solidFill>
                  </a:tcPr>
                </a:tc>
                <a:tc>
                  <a:txBody>
                    <a:bodyPr wrap="square"/>
                    <a:lstStyle/>
                    <a:p>
                      <a:pPr algn="ctr"/>
                      <a:r>
                        <a:rPr sz="1050">
                          <a:solidFill>
                            <a:srgbClr val="121B15"/>
                          </a:solidFill>
                          <a:latin typeface="Segoe UI"/>
                        </a:rPr>
                        <a:t>Rajak et al. (2017)
Crop Recommendation System to Maximize Crop Yield
IRJET, Vol. 4</a:t>
                      </a:r>
                    </a:p>
                  </a:txBody>
                  <a:tcPr marL="101600" marR="101600" marT="50800" marB="50800" anchor="ctr">
                    <a:solidFill>
                      <a:srgbClr val="FFFFFF"/>
                    </a:solidFill>
                  </a:tcPr>
                </a:tc>
                <a:tc>
                  <a:txBody>
                    <a:bodyPr wrap="square"/>
                    <a:lstStyle/>
                    <a:p>
                      <a:pPr algn="ctr"/>
                      <a:r>
                        <a:rPr sz="1050">
                          <a:solidFill>
                            <a:srgbClr val="121B15"/>
                          </a:solidFill>
                          <a:latin typeface="Segoe UI"/>
                        </a:rPr>
                        <a:t>SVM, ANN, RF, Naive Bayes (comparative)</a:t>
                      </a:r>
                    </a:p>
                  </a:txBody>
                  <a:tcPr marL="101600" marR="101600" marT="50800" marB="50800" anchor="ctr">
                    <a:solidFill>
                      <a:srgbClr val="FFFFFF"/>
                    </a:solidFill>
                  </a:tcPr>
                </a:tc>
                <a:tc>
                  <a:txBody>
                    <a:bodyPr wrap="square"/>
                    <a:lstStyle/>
                    <a:p>
                      <a:pPr algn="ctr"/>
                      <a:r>
                        <a:rPr sz="1050">
                          <a:solidFill>
                            <a:srgbClr val="121B15"/>
                          </a:solidFill>
                          <a:latin typeface="Segoe UI"/>
                        </a:rPr>
                        <a:t>Multi-classifier crop recommendation</a:t>
                      </a:r>
                    </a:p>
                  </a:txBody>
                  <a:tcPr marL="101600" marR="101600" marT="50800" marB="50800" anchor="ctr">
                    <a:solidFill>
                      <a:srgbClr val="FFFFFF"/>
                    </a:solidFill>
                  </a:tcPr>
                </a:tc>
                <a:tc>
                  <a:txBody>
                    <a:bodyPr wrap="square"/>
                    <a:lstStyle/>
                    <a:p>
                      <a:pPr algn="ctr"/>
                      <a:r>
                        <a:rPr sz="1050">
                          <a:solidFill>
                            <a:srgbClr val="121B15"/>
                          </a:solidFill>
                          <a:latin typeface="Segoe UI"/>
                        </a:rPr>
                        <a:t>No feature explainability</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4</a:t>
                      </a:r>
                    </a:p>
                  </a:txBody>
                  <a:tcPr marL="101600" marR="101600" marT="50800" marB="50800" anchor="ctr">
                    <a:solidFill>
                      <a:srgbClr val="EEF5EE"/>
                    </a:solidFill>
                  </a:tcPr>
                </a:tc>
                <a:tc>
                  <a:txBody>
                    <a:bodyPr wrap="square"/>
                    <a:lstStyle/>
                    <a:p>
                      <a:pPr algn="ctr"/>
                      <a:r>
                        <a:rPr sz="1050">
                          <a:solidFill>
                            <a:srgbClr val="121B15"/>
                          </a:solidFill>
                          <a:latin typeface="Segoe UI"/>
                        </a:rPr>
                        <a:t>Kulkarni et al. (2018)
Improving Crop Productivity via Ensembling Technique
IEEE CSITSS 2018</a:t>
                      </a:r>
                    </a:p>
                  </a:txBody>
                  <a:tcPr marL="101600" marR="101600" marT="50800" marB="50800" anchor="ctr">
                    <a:solidFill>
                      <a:srgbClr val="EEF5EE"/>
                    </a:solidFill>
                  </a:tcPr>
                </a:tc>
                <a:tc>
                  <a:txBody>
                    <a:bodyPr wrap="square"/>
                    <a:lstStyle/>
                    <a:p>
                      <a:pPr algn="ctr"/>
                      <a:r>
                        <a:rPr sz="1050">
                          <a:solidFill>
                            <a:srgbClr val="121B15"/>
                          </a:solidFill>
                          <a:latin typeface="Segoe UI"/>
                        </a:rPr>
                        <a:t>Ensemble: RF, Naive Bayes, Linear SVM</a:t>
                      </a:r>
                    </a:p>
                  </a:txBody>
                  <a:tcPr marL="101600" marR="101600" marT="50800" marB="50800" anchor="ctr">
                    <a:solidFill>
                      <a:srgbClr val="EEF5EE"/>
                    </a:solidFill>
                  </a:tcPr>
                </a:tc>
                <a:tc>
                  <a:txBody>
                    <a:bodyPr wrap="square"/>
                    <a:lstStyle/>
                    <a:p>
                      <a:pPr algn="ctr"/>
                      <a:r>
                        <a:rPr sz="1050">
                          <a:solidFill>
                            <a:srgbClr val="121B15"/>
                          </a:solidFill>
                          <a:latin typeface="Segoe UI"/>
                        </a:rPr>
                        <a:t>99.9% acc. on Kharif/Rabi crop data</a:t>
                      </a:r>
                    </a:p>
                  </a:txBody>
                  <a:tcPr marL="101600" marR="101600" marT="50800" marB="50800" anchor="ctr">
                    <a:solidFill>
                      <a:srgbClr val="EEF5EE"/>
                    </a:solidFill>
                  </a:tcPr>
                </a:tc>
                <a:tc>
                  <a:txBody>
                    <a:bodyPr wrap="square"/>
                    <a:lstStyle/>
                    <a:p>
                      <a:pPr algn="ctr"/>
                      <a:r>
                        <a:rPr sz="1050">
                          <a:solidFill>
                            <a:srgbClr val="121B15"/>
                          </a:solidFill>
                          <a:latin typeface="Segoe UI"/>
                        </a:rPr>
                        <a:t>Scale/generalizability untested</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5</a:t>
                      </a:r>
                    </a:p>
                  </a:txBody>
                  <a:tcPr marL="101600" marR="101600" marT="50800" marB="50800" anchor="ctr">
                    <a:solidFill>
                      <a:srgbClr val="FFFFFF"/>
                    </a:solidFill>
                  </a:tcPr>
                </a:tc>
                <a:tc>
                  <a:txBody>
                    <a:bodyPr wrap="square"/>
                    <a:lstStyle/>
                    <a:p>
                      <a:pPr algn="ctr"/>
                      <a:r>
                        <a:rPr sz="1050">
                          <a:solidFill>
                            <a:srgbClr val="121B15"/>
                          </a:solidFill>
                          <a:latin typeface="Segoe UI"/>
                        </a:rPr>
                        <a:t>Bondre &amp; Mahagaonkar (2019)
Crop Yield &amp; Fertilizer Recommendation using ML
IJEAST, Vol. 4</a:t>
                      </a:r>
                    </a:p>
                  </a:txBody>
                  <a:tcPr marL="101600" marR="101600" marT="50800" marB="50800" anchor="ctr">
                    <a:solidFill>
                      <a:srgbClr val="FFFFFF"/>
                    </a:solidFill>
                  </a:tcPr>
                </a:tc>
                <a:tc>
                  <a:txBody>
                    <a:bodyPr wrap="square"/>
                    <a:lstStyle/>
                    <a:p>
                      <a:pPr algn="ctr"/>
                      <a:r>
                        <a:rPr sz="1050">
                          <a:solidFill>
                            <a:srgbClr val="121B15"/>
                          </a:solidFill>
                          <a:latin typeface="Segoe UI"/>
                        </a:rPr>
                        <a:t>Random Forest &amp; SVM regression</a:t>
                      </a:r>
                    </a:p>
                  </a:txBody>
                  <a:tcPr marL="101600" marR="101600" marT="50800" marB="50800" anchor="ctr">
                    <a:solidFill>
                      <a:srgbClr val="FFFFFF"/>
                    </a:solidFill>
                  </a:tcPr>
                </a:tc>
                <a:tc>
                  <a:txBody>
                    <a:bodyPr wrap="square"/>
                    <a:lstStyle/>
                    <a:p>
                      <a:pPr algn="ctr"/>
                      <a:r>
                        <a:rPr sz="1050">
                          <a:solidFill>
                            <a:srgbClr val="121B15"/>
                          </a:solidFill>
                          <a:latin typeface="Segoe UI"/>
                        </a:rPr>
                        <a:t>RF outperformed SVM</a:t>
                      </a:r>
                    </a:p>
                  </a:txBody>
                  <a:tcPr marL="101600" marR="101600" marT="50800" marB="50800" anchor="ctr">
                    <a:solidFill>
                      <a:srgbClr val="FFFFFF"/>
                    </a:solidFill>
                  </a:tcPr>
                </a:tc>
                <a:tc>
                  <a:txBody>
                    <a:bodyPr wrap="square"/>
                    <a:lstStyle/>
                    <a:p>
                      <a:pPr algn="ctr"/>
                      <a:r>
                        <a:rPr sz="1050">
                          <a:solidFill>
                            <a:srgbClr val="121B15"/>
                          </a:solidFill>
                          <a:latin typeface="Segoe UI"/>
                        </a:rPr>
                        <a:t>Fertilizer logic is rule-based</a:t>
                      </a:r>
                    </a:p>
                  </a:txBody>
                  <a:tcPr marL="101600" marR="101600" marT="50800" marB="50800" anchor="ctr">
                    <a:solidFill>
                      <a:srgbClr val="FFFFFF"/>
                    </a:solidFill>
                  </a:tcPr>
                </a:tc>
              </a:tr>
            </a:tbl>
          </a:graphicData>
        </a:graphic>
      </p:graphicFrame>
      <p:cxnSp>
        <p:nvCxnSpPr>
          <p:cNvPr id="8" name="Connector 7"/>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10" name="TextBox 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Semibold"/>
              </a:rPr>
              <a:t>LITERATURE REVIEW  |  MEMBER 2</a:t>
            </a:r>
          </a:p>
        </p:txBody>
      </p:sp>
      <p:sp>
        <p:nvSpPr>
          <p:cNvPr id="5" name="TextBox 4"/>
          <p:cNvSpPr txBox="1"/>
          <p:nvPr/>
        </p:nvSpPr>
        <p:spPr>
          <a:xfrm>
            <a:off x="640080" y="749808"/>
            <a:ext cx="8138160" cy="731520"/>
          </a:xfrm>
          <a:prstGeom prst="rect">
            <a:avLst/>
          </a:prstGeom>
          <a:noFill/>
        </p:spPr>
        <p:txBody>
          <a:bodyPr wrap="square" anchor="t" lIns="0" rIns="0" tIns="0" bIns="0">
            <a:spAutoFit/>
          </a:bodyPr>
          <a:lstStyle/>
          <a:p>
            <a:pPr algn="l">
              <a:lnSpc>
                <a:spcPct val="100000"/>
              </a:lnSpc>
              <a:spcAft>
                <a:spcPts val="0"/>
              </a:spcAft>
            </a:pPr>
            <a:r>
              <a:rPr sz="2400" b="1" i="0">
                <a:solidFill>
                  <a:srgbClr val="121B15"/>
                </a:solidFill>
                <a:latin typeface="Segoe UI Semibold"/>
              </a:rPr>
              <a:t>Foundational ML Algorithms Used in This Project</a:t>
            </a:r>
          </a:p>
        </p:txBody>
      </p:sp>
      <p:sp>
        <p:nvSpPr>
          <p:cNvPr id="6" name="Rounded Rectangle 5"/>
          <p:cNvSpPr/>
          <p:nvPr/>
        </p:nvSpPr>
        <p:spPr>
          <a:xfrm>
            <a:off x="9829800" y="822960"/>
            <a:ext cx="1280160" cy="365760"/>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121B15"/>
                </a:solidFill>
                <a:latin typeface="Segoe UI Semibold"/>
              </a:rPr>
              <a:t>Ref. 6-10</a:t>
            </a:r>
          </a:p>
        </p:txBody>
      </p:sp>
      <p:graphicFrame>
        <p:nvGraphicFramePr>
          <p:cNvPr id="7" name="Table 6"/>
          <p:cNvGraphicFramePr>
            <a:graphicFrameLocks noGrp="1"/>
          </p:cNvGraphicFramePr>
          <p:nvPr/>
        </p:nvGraphicFramePr>
        <p:xfrm>
          <a:off x="502920" y="1572768"/>
          <a:ext cx="11201399" cy="4498848"/>
        </p:xfrm>
        <a:graphic>
          <a:graphicData uri="http://schemas.openxmlformats.org/drawingml/2006/table">
            <a:tbl>
              <a:tblPr firstRow="1" bandRow="1">
                <a:tableStyleId>{5C22544A-7EE6-4342-B048-85BDC9FD1C3A}</a:tableStyleId>
              </a:tblPr>
              <a:tblGrid>
                <a:gridCol w="448056"/>
                <a:gridCol w="3853281"/>
                <a:gridCol w="2329891"/>
                <a:gridCol w="2240280"/>
                <a:gridCol w="2329891"/>
              </a:tblGrid>
              <a:tr h="749808">
                <a:tc>
                  <a:txBody>
                    <a:bodyPr wrap="square"/>
                    <a:lstStyle/>
                    <a:p>
                      <a:pPr algn="l"/>
                      <a:r>
                        <a:rPr sz="1150" b="1">
                          <a:solidFill>
                            <a:srgbClr val="FFFFFF"/>
                          </a:solidFill>
                          <a:latin typeface="Segoe UI Semibold"/>
                        </a:rPr>
                        <a: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Authors, Year &amp; Title</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Method</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Key Result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Gap</a:t>
                      </a:r>
                    </a:p>
                  </a:txBody>
                  <a:tcPr marL="101600" marR="101600" marT="50800" marB="50800" anchor="ctr">
                    <a:solidFill>
                      <a:srgbClr val="2E7D32"/>
                    </a:solidFill>
                  </a:tcPr>
                </a:tc>
              </a:tr>
              <a:tr h="749808">
                <a:tc>
                  <a:txBody>
                    <a:bodyPr wrap="square"/>
                    <a:lstStyle/>
                    <a:p>
                      <a:pPr algn="l"/>
                      <a:r>
                        <a:rPr sz="1050">
                          <a:solidFill>
                            <a:srgbClr val="121B15"/>
                          </a:solidFill>
                          <a:latin typeface="Segoe UI"/>
                        </a:rPr>
                        <a:t>6</a:t>
                      </a:r>
                    </a:p>
                  </a:txBody>
                  <a:tcPr marL="101600" marR="101600" marT="50800" marB="50800" anchor="ctr">
                    <a:solidFill>
                      <a:srgbClr val="FFFFFF"/>
                    </a:solidFill>
                  </a:tcPr>
                </a:tc>
                <a:tc>
                  <a:txBody>
                    <a:bodyPr wrap="square"/>
                    <a:lstStyle/>
                    <a:p>
                      <a:pPr algn="ctr"/>
                      <a:r>
                        <a:rPr sz="1050">
                          <a:solidFill>
                            <a:srgbClr val="121B15"/>
                          </a:solidFill>
                          <a:latin typeface="Segoe UI"/>
                        </a:rPr>
                        <a:t>Breiman L. (2001)
Random Forests
Machine Learning, 45(1), 5-32</a:t>
                      </a:r>
                    </a:p>
                  </a:txBody>
                  <a:tcPr marL="101600" marR="101600" marT="50800" marB="50800" anchor="ctr">
                    <a:solidFill>
                      <a:srgbClr val="FFFFFF"/>
                    </a:solidFill>
                  </a:tcPr>
                </a:tc>
                <a:tc>
                  <a:txBody>
                    <a:bodyPr wrap="square"/>
                    <a:lstStyle/>
                    <a:p>
                      <a:pPr algn="ctr"/>
                      <a:r>
                        <a:rPr sz="1050">
                          <a:solidFill>
                            <a:srgbClr val="121B15"/>
                          </a:solidFill>
                          <a:latin typeface="Segoe UI"/>
                        </a:rPr>
                        <a:t>Bagged decision-tree ensemble</a:t>
                      </a:r>
                    </a:p>
                  </a:txBody>
                  <a:tcPr marL="101600" marR="101600" marT="50800" marB="50800" anchor="ctr">
                    <a:solidFill>
                      <a:srgbClr val="FFFFFF"/>
                    </a:solidFill>
                  </a:tcPr>
                </a:tc>
                <a:tc>
                  <a:txBody>
                    <a:bodyPr wrap="square"/>
                    <a:lstStyle/>
                    <a:p>
                      <a:pPr algn="ctr"/>
                      <a:r>
                        <a:rPr sz="1050">
                          <a:solidFill>
                            <a:srgbClr val="121B15"/>
                          </a:solidFill>
                          <a:latin typeface="Segoe UI"/>
                        </a:rPr>
                        <a:t>Lower variance, less overfitting</a:t>
                      </a:r>
                    </a:p>
                  </a:txBody>
                  <a:tcPr marL="101600" marR="101600" marT="50800" marB="50800" anchor="ctr">
                    <a:solidFill>
                      <a:srgbClr val="FFFFFF"/>
                    </a:solidFill>
                  </a:tcPr>
                </a:tc>
                <a:tc>
                  <a:txBody>
                    <a:bodyPr wrap="square"/>
                    <a:lstStyle/>
                    <a:p>
                      <a:pPr algn="ctr"/>
                      <a:r>
                        <a:rPr sz="1050">
                          <a:solidFill>
                            <a:srgbClr val="121B15"/>
                          </a:solidFill>
                          <a:latin typeface="Segoe UI"/>
                        </a:rPr>
                        <a:t>Basis of this project's active model</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7</a:t>
                      </a:r>
                    </a:p>
                  </a:txBody>
                  <a:tcPr marL="101600" marR="101600" marT="50800" marB="50800" anchor="ctr">
                    <a:solidFill>
                      <a:srgbClr val="EEF5EE"/>
                    </a:solidFill>
                  </a:tcPr>
                </a:tc>
                <a:tc>
                  <a:txBody>
                    <a:bodyPr wrap="square"/>
                    <a:lstStyle/>
                    <a:p>
                      <a:pPr algn="ctr"/>
                      <a:r>
                        <a:rPr sz="1050">
                          <a:solidFill>
                            <a:srgbClr val="121B15"/>
                          </a:solidFill>
                          <a:latin typeface="Segoe UI"/>
                        </a:rPr>
                        <a:t>Friedman J.H. (2001)
Greedy Function Approximation: A Gradient Boosting Machine
Annals of Statistics, 29(5)</a:t>
                      </a:r>
                    </a:p>
                  </a:txBody>
                  <a:tcPr marL="101600" marR="101600" marT="50800" marB="50800" anchor="ctr">
                    <a:solidFill>
                      <a:srgbClr val="EEF5EE"/>
                    </a:solidFill>
                  </a:tcPr>
                </a:tc>
                <a:tc>
                  <a:txBody>
                    <a:bodyPr wrap="square"/>
                    <a:lstStyle/>
                    <a:p>
                      <a:pPr algn="ctr"/>
                      <a:r>
                        <a:rPr sz="1050">
                          <a:solidFill>
                            <a:srgbClr val="121B15"/>
                          </a:solidFill>
                          <a:latin typeface="Segoe UI"/>
                        </a:rPr>
                        <a:t>Stage-wise additive boosting</a:t>
                      </a:r>
                    </a:p>
                  </a:txBody>
                  <a:tcPr marL="101600" marR="101600" marT="50800" marB="50800" anchor="ctr">
                    <a:solidFill>
                      <a:srgbClr val="EEF5EE"/>
                    </a:solidFill>
                  </a:tcPr>
                </a:tc>
                <a:tc>
                  <a:txBody>
                    <a:bodyPr wrap="square"/>
                    <a:lstStyle/>
                    <a:p>
                      <a:pPr algn="ctr"/>
                      <a:r>
                        <a:rPr sz="1050">
                          <a:solidFill>
                            <a:srgbClr val="121B15"/>
                          </a:solidFill>
                          <a:latin typeface="Segoe UI"/>
                        </a:rPr>
                        <a:t>Defined the boosting framework used</a:t>
                      </a:r>
                    </a:p>
                  </a:txBody>
                  <a:tcPr marL="101600" marR="101600" marT="50800" marB="50800" anchor="ctr">
                    <a:solidFill>
                      <a:srgbClr val="EEF5EE"/>
                    </a:solidFill>
                  </a:tcPr>
                </a:tc>
                <a:tc>
                  <a:txBody>
                    <a:bodyPr wrap="square"/>
                    <a:lstStyle/>
                    <a:p>
                      <a:pPr algn="ctr"/>
                      <a:r>
                        <a:rPr sz="1050">
                          <a:solidFill>
                            <a:srgbClr val="121B15"/>
                          </a:solidFill>
                          <a:latin typeface="Segoe UI"/>
                        </a:rPr>
                        <a:t>Sensitive to hyperparameters</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8</a:t>
                      </a:r>
                    </a:p>
                  </a:txBody>
                  <a:tcPr marL="101600" marR="101600" marT="50800" marB="50800" anchor="ctr">
                    <a:solidFill>
                      <a:srgbClr val="FFFFFF"/>
                    </a:solidFill>
                  </a:tcPr>
                </a:tc>
                <a:tc>
                  <a:txBody>
                    <a:bodyPr wrap="square"/>
                    <a:lstStyle/>
                    <a:p>
                      <a:pPr algn="ctr"/>
                      <a:r>
                        <a:rPr sz="1050">
                          <a:solidFill>
                            <a:srgbClr val="121B15"/>
                          </a:solidFill>
                          <a:latin typeface="Segoe UI"/>
                        </a:rPr>
                        <a:t>Chen T., Guestrin C. (2016)
XGBoost: A Scalable Tree Boosting System
ACM SIGKDD (KDD) 2016</a:t>
                      </a:r>
                    </a:p>
                  </a:txBody>
                  <a:tcPr marL="101600" marR="101600" marT="50800" marB="50800" anchor="ctr">
                    <a:solidFill>
                      <a:srgbClr val="FFFFFF"/>
                    </a:solidFill>
                  </a:tcPr>
                </a:tc>
                <a:tc>
                  <a:txBody>
                    <a:bodyPr wrap="square"/>
                    <a:lstStyle/>
                    <a:p>
                      <a:pPr algn="ctr"/>
                      <a:r>
                        <a:rPr sz="1050">
                          <a:solidFill>
                            <a:srgbClr val="121B15"/>
                          </a:solidFill>
                          <a:latin typeface="Segoe UI"/>
                        </a:rPr>
                        <a:t>Regularized gradient boosting</a:t>
                      </a:r>
                    </a:p>
                  </a:txBody>
                  <a:tcPr marL="101600" marR="101600" marT="50800" marB="50800" anchor="ctr">
                    <a:solidFill>
                      <a:srgbClr val="FFFFFF"/>
                    </a:solidFill>
                  </a:tcPr>
                </a:tc>
                <a:tc>
                  <a:txBody>
                    <a:bodyPr wrap="square"/>
                    <a:lstStyle/>
                    <a:p>
                      <a:pPr algn="ctr"/>
                      <a:r>
                        <a:rPr sz="1050">
                          <a:solidFill>
                            <a:srgbClr val="121B15"/>
                          </a:solidFill>
                          <a:latin typeface="Segoe UI"/>
                        </a:rPr>
                        <a:t>High accuracy/speed on tabular data</a:t>
                      </a:r>
                    </a:p>
                  </a:txBody>
                  <a:tcPr marL="101600" marR="101600" marT="50800" marB="50800" anchor="ctr">
                    <a:solidFill>
                      <a:srgbClr val="FFFFFF"/>
                    </a:solidFill>
                  </a:tcPr>
                </a:tc>
                <a:tc>
                  <a:txBody>
                    <a:bodyPr wrap="square"/>
                    <a:lstStyle/>
                    <a:p>
                      <a:pPr algn="ctr"/>
                      <a:r>
                        <a:rPr sz="1050">
                          <a:solidFill>
                            <a:srgbClr val="121B15"/>
                          </a:solidFill>
                          <a:latin typeface="Segoe UI"/>
                        </a:rPr>
                        <a:t>Needs careful tuning</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9</a:t>
                      </a:r>
                    </a:p>
                  </a:txBody>
                  <a:tcPr marL="101600" marR="101600" marT="50800" marB="50800" anchor="ctr">
                    <a:solidFill>
                      <a:srgbClr val="EEF5EE"/>
                    </a:solidFill>
                  </a:tcPr>
                </a:tc>
                <a:tc>
                  <a:txBody>
                    <a:bodyPr wrap="square"/>
                    <a:lstStyle/>
                    <a:p>
                      <a:pPr algn="ctr"/>
                      <a:r>
                        <a:rPr sz="1050">
                          <a:solidFill>
                            <a:srgbClr val="121B15"/>
                          </a:solidFill>
                          <a:latin typeface="Segoe UI"/>
                        </a:rPr>
                        <a:t>Cortes C., Vapnik V. (1995)
Support-Vector Networks
Machine Learning, 20(3), 273-297</a:t>
                      </a:r>
                    </a:p>
                  </a:txBody>
                  <a:tcPr marL="101600" marR="101600" marT="50800" marB="50800" anchor="ctr">
                    <a:solidFill>
                      <a:srgbClr val="EEF5EE"/>
                    </a:solidFill>
                  </a:tcPr>
                </a:tc>
                <a:tc>
                  <a:txBody>
                    <a:bodyPr wrap="square"/>
                    <a:lstStyle/>
                    <a:p>
                      <a:pPr algn="ctr"/>
                      <a:r>
                        <a:rPr sz="1050">
                          <a:solidFill>
                            <a:srgbClr val="121B15"/>
                          </a:solidFill>
                          <a:latin typeface="Segoe UI"/>
                        </a:rPr>
                        <a:t>Max-margin kernel classification</a:t>
                      </a:r>
                    </a:p>
                  </a:txBody>
                  <a:tcPr marL="101600" marR="101600" marT="50800" marB="50800" anchor="ctr">
                    <a:solidFill>
                      <a:srgbClr val="EEF5EE"/>
                    </a:solidFill>
                  </a:tcPr>
                </a:tc>
                <a:tc>
                  <a:txBody>
                    <a:bodyPr wrap="square"/>
                    <a:lstStyle/>
                    <a:p>
                      <a:pPr algn="ctr"/>
                      <a:r>
                        <a:rPr sz="1050">
                          <a:solidFill>
                            <a:srgbClr val="121B15"/>
                          </a:solidFill>
                          <a:latin typeface="Segoe UI"/>
                        </a:rPr>
                        <a:t>Strong margin-based theory</a:t>
                      </a:r>
                    </a:p>
                  </a:txBody>
                  <a:tcPr marL="101600" marR="101600" marT="50800" marB="50800" anchor="ctr">
                    <a:solidFill>
                      <a:srgbClr val="EEF5EE"/>
                    </a:solidFill>
                  </a:tcPr>
                </a:tc>
                <a:tc>
                  <a:txBody>
                    <a:bodyPr wrap="square"/>
                    <a:lstStyle/>
                    <a:p>
                      <a:pPr algn="ctr"/>
                      <a:r>
                        <a:rPr sz="1050">
                          <a:solidFill>
                            <a:srgbClr val="121B15"/>
                          </a:solidFill>
                          <a:latin typeface="Segoe UI"/>
                        </a:rPr>
                        <a:t>Needs feature scaling, scales poorly</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10</a:t>
                      </a:r>
                    </a:p>
                  </a:txBody>
                  <a:tcPr marL="101600" marR="101600" marT="50800" marB="50800" anchor="ctr">
                    <a:solidFill>
                      <a:srgbClr val="FFFFFF"/>
                    </a:solidFill>
                  </a:tcPr>
                </a:tc>
                <a:tc>
                  <a:txBody>
                    <a:bodyPr wrap="square"/>
                    <a:lstStyle/>
                    <a:p>
                      <a:pPr algn="ctr"/>
                      <a:r>
                        <a:rPr sz="1050">
                          <a:solidFill>
                            <a:srgbClr val="121B15"/>
                          </a:solidFill>
                          <a:latin typeface="Segoe UI"/>
                        </a:rPr>
                        <a:t>Kumar et al. (2015)
Crop Selection Method to Maximize Crop Yield Rate
IEEE ICSTM 2015</a:t>
                      </a:r>
                    </a:p>
                  </a:txBody>
                  <a:tcPr marL="101600" marR="101600" marT="50800" marB="50800" anchor="ctr">
                    <a:solidFill>
                      <a:srgbClr val="FFFFFF"/>
                    </a:solidFill>
                  </a:tcPr>
                </a:tc>
                <a:tc>
                  <a:txBody>
                    <a:bodyPr wrap="square"/>
                    <a:lstStyle/>
                    <a:p>
                      <a:pPr algn="ctr"/>
                      <a:r>
                        <a:rPr sz="1050">
                          <a:solidFill>
                            <a:srgbClr val="121B15"/>
                          </a:solidFill>
                          <a:latin typeface="Segoe UI"/>
                        </a:rPr>
                        <a:t>Crop Selection Method (CSM)</a:t>
                      </a:r>
                    </a:p>
                  </a:txBody>
                  <a:tcPr marL="101600" marR="101600" marT="50800" marB="50800" anchor="ctr">
                    <a:solidFill>
                      <a:srgbClr val="FFFFFF"/>
                    </a:solidFill>
                  </a:tcPr>
                </a:tc>
                <a:tc>
                  <a:txBody>
                    <a:bodyPr wrap="square"/>
                    <a:lstStyle/>
                    <a:p>
                      <a:pPr algn="ctr"/>
                      <a:r>
                        <a:rPr sz="1050">
                          <a:solidFill>
                            <a:srgbClr val="121B15"/>
                          </a:solidFill>
                          <a:latin typeface="Segoe UI"/>
                        </a:rPr>
                        <a:t>Better seasonal crop selection</a:t>
                      </a:r>
                    </a:p>
                  </a:txBody>
                  <a:tcPr marL="101600" marR="101600" marT="50800" marB="50800" anchor="ctr">
                    <a:solidFill>
                      <a:srgbClr val="FFFFFF"/>
                    </a:solidFill>
                  </a:tcPr>
                </a:tc>
                <a:tc>
                  <a:txBody>
                    <a:bodyPr wrap="square"/>
                    <a:lstStyle/>
                    <a:p>
                      <a:pPr algn="ctr"/>
                      <a:r>
                        <a:rPr sz="1050">
                          <a:solidFill>
                            <a:srgbClr val="121B15"/>
                          </a:solidFill>
                          <a:latin typeface="Segoe UI"/>
                        </a:rPr>
                        <a:t>No soil nutrient (N,P,K) features</a:t>
                      </a:r>
                    </a:p>
                  </a:txBody>
                  <a:tcPr marL="101600" marR="101600" marT="50800" marB="50800" anchor="ctr">
                    <a:solidFill>
                      <a:srgbClr val="FFFFFF"/>
                    </a:solidFill>
                  </a:tcPr>
                </a:tc>
              </a:tr>
            </a:tbl>
          </a:graphicData>
        </a:graphic>
      </p:graphicFrame>
      <p:cxnSp>
        <p:nvCxnSpPr>
          <p:cNvPr id="8" name="Connector 7"/>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10" name="TextBox 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Semibold"/>
              </a:rPr>
              <a:t>LITERATURE REVIEW  |  MEMBER 3</a:t>
            </a:r>
          </a:p>
        </p:txBody>
      </p:sp>
      <p:sp>
        <p:nvSpPr>
          <p:cNvPr id="5" name="TextBox 4"/>
          <p:cNvSpPr txBox="1"/>
          <p:nvPr/>
        </p:nvSpPr>
        <p:spPr>
          <a:xfrm>
            <a:off x="640080" y="749808"/>
            <a:ext cx="8138160" cy="731520"/>
          </a:xfrm>
          <a:prstGeom prst="rect">
            <a:avLst/>
          </a:prstGeom>
          <a:noFill/>
        </p:spPr>
        <p:txBody>
          <a:bodyPr wrap="square" anchor="t" lIns="0" rIns="0" tIns="0" bIns="0">
            <a:spAutoFit/>
          </a:bodyPr>
          <a:lstStyle/>
          <a:p>
            <a:pPr algn="l">
              <a:lnSpc>
                <a:spcPct val="100000"/>
              </a:lnSpc>
              <a:spcAft>
                <a:spcPts val="0"/>
              </a:spcAft>
            </a:pPr>
            <a:r>
              <a:rPr sz="2400" b="1" i="0">
                <a:solidFill>
                  <a:srgbClr val="121B15"/>
                </a:solidFill>
                <a:latin typeface="Segoe UI Semibold"/>
              </a:rPr>
              <a:t>AI / Smart Agriculture Approaches</a:t>
            </a:r>
          </a:p>
        </p:txBody>
      </p:sp>
      <p:sp>
        <p:nvSpPr>
          <p:cNvPr id="6" name="Rounded Rectangle 5"/>
          <p:cNvSpPr/>
          <p:nvPr/>
        </p:nvSpPr>
        <p:spPr>
          <a:xfrm>
            <a:off x="9829800" y="822960"/>
            <a:ext cx="1280160" cy="365760"/>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121B15"/>
                </a:solidFill>
                <a:latin typeface="Segoe UI Semibold"/>
              </a:rPr>
              <a:t>Ref. 11-15</a:t>
            </a:r>
          </a:p>
        </p:txBody>
      </p:sp>
      <p:graphicFrame>
        <p:nvGraphicFramePr>
          <p:cNvPr id="7" name="Table 6"/>
          <p:cNvGraphicFramePr>
            <a:graphicFrameLocks noGrp="1"/>
          </p:cNvGraphicFramePr>
          <p:nvPr/>
        </p:nvGraphicFramePr>
        <p:xfrm>
          <a:off x="502920" y="1572768"/>
          <a:ext cx="11201399" cy="4498848"/>
        </p:xfrm>
        <a:graphic>
          <a:graphicData uri="http://schemas.openxmlformats.org/drawingml/2006/table">
            <a:tbl>
              <a:tblPr firstRow="1" bandRow="1">
                <a:tableStyleId>{5C22544A-7EE6-4342-B048-85BDC9FD1C3A}</a:tableStyleId>
              </a:tblPr>
              <a:tblGrid>
                <a:gridCol w="448056"/>
                <a:gridCol w="3853281"/>
                <a:gridCol w="2329891"/>
                <a:gridCol w="2240280"/>
                <a:gridCol w="2329891"/>
              </a:tblGrid>
              <a:tr h="749808">
                <a:tc>
                  <a:txBody>
                    <a:bodyPr wrap="square"/>
                    <a:lstStyle/>
                    <a:p>
                      <a:pPr algn="l"/>
                      <a:r>
                        <a:rPr sz="1150" b="1">
                          <a:solidFill>
                            <a:srgbClr val="FFFFFF"/>
                          </a:solidFill>
                          <a:latin typeface="Segoe UI Semibold"/>
                        </a:rPr>
                        <a: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Authors, Year &amp; Title</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Method</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Key Result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Gap</a:t>
                      </a:r>
                    </a:p>
                  </a:txBody>
                  <a:tcPr marL="101600" marR="101600" marT="50800" marB="50800" anchor="ctr">
                    <a:solidFill>
                      <a:srgbClr val="2E7D32"/>
                    </a:solidFill>
                  </a:tcPr>
                </a:tc>
              </a:tr>
              <a:tr h="749808">
                <a:tc>
                  <a:txBody>
                    <a:bodyPr wrap="square"/>
                    <a:lstStyle/>
                    <a:p>
                      <a:pPr algn="l"/>
                      <a:r>
                        <a:rPr sz="1050">
                          <a:solidFill>
                            <a:srgbClr val="121B15"/>
                          </a:solidFill>
                          <a:latin typeface="Segoe UI"/>
                        </a:rPr>
                        <a:t>11</a:t>
                      </a:r>
                    </a:p>
                  </a:txBody>
                  <a:tcPr marL="101600" marR="101600" marT="50800" marB="50800" anchor="ctr">
                    <a:solidFill>
                      <a:srgbClr val="FFFFFF"/>
                    </a:solidFill>
                  </a:tcPr>
                </a:tc>
                <a:tc>
                  <a:txBody>
                    <a:bodyPr wrap="square"/>
                    <a:lstStyle/>
                    <a:p>
                      <a:pPr algn="ctr"/>
                      <a:r>
                        <a:rPr sz="1050">
                          <a:solidFill>
                            <a:srgbClr val="121B15"/>
                          </a:solidFill>
                          <a:latin typeface="Segoe UI"/>
                        </a:rPr>
                        <a:t>Liakos et al. (2018)
Machine Learning in Agriculture: A Review
Sensors (MDPI), 18(8):2674</a:t>
                      </a:r>
                    </a:p>
                  </a:txBody>
                  <a:tcPr marL="101600" marR="101600" marT="50800" marB="50800" anchor="ctr">
                    <a:solidFill>
                      <a:srgbClr val="FFFFFF"/>
                    </a:solidFill>
                  </a:tcPr>
                </a:tc>
                <a:tc>
                  <a:txBody>
                    <a:bodyPr wrap="square"/>
                    <a:lstStyle/>
                    <a:p>
                      <a:pPr algn="ctr"/>
                      <a:r>
                        <a:rPr sz="1050">
                          <a:solidFill>
                            <a:srgbClr val="121B15"/>
                          </a:solidFill>
                          <a:latin typeface="Segoe UI"/>
                        </a:rPr>
                        <a:t>Systematic ML-in-agriculture review</a:t>
                      </a:r>
                    </a:p>
                  </a:txBody>
                  <a:tcPr marL="101600" marR="101600" marT="50800" marB="50800" anchor="ctr">
                    <a:solidFill>
                      <a:srgbClr val="FFFFFF"/>
                    </a:solidFill>
                  </a:tcPr>
                </a:tc>
                <a:tc>
                  <a:txBody>
                    <a:bodyPr wrap="square"/>
                    <a:lstStyle/>
                    <a:p>
                      <a:pPr algn="ctr"/>
                      <a:r>
                        <a:rPr sz="1050">
                          <a:solidFill>
                            <a:srgbClr val="121B15"/>
                          </a:solidFill>
                          <a:latin typeface="Segoe UI"/>
                        </a:rPr>
                        <a:t>ML beats traditional statistics</a:t>
                      </a:r>
                    </a:p>
                  </a:txBody>
                  <a:tcPr marL="101600" marR="101600" marT="50800" marB="50800" anchor="ctr">
                    <a:solidFill>
                      <a:srgbClr val="FFFFFF"/>
                    </a:solidFill>
                  </a:tcPr>
                </a:tc>
                <a:tc>
                  <a:txBody>
                    <a:bodyPr wrap="square"/>
                    <a:lstStyle/>
                    <a:p>
                      <a:pPr algn="ctr"/>
                      <a:r>
                        <a:rPr sz="1050">
                          <a:solidFill>
                            <a:srgbClr val="121B15"/>
                          </a:solidFill>
                          <a:latin typeface="Segoe UI"/>
                        </a:rPr>
                        <a:t>Explainability, usability gaps noted</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12</a:t>
                      </a:r>
                    </a:p>
                  </a:txBody>
                  <a:tcPr marL="101600" marR="101600" marT="50800" marB="50800" anchor="ctr">
                    <a:solidFill>
                      <a:srgbClr val="EEF5EE"/>
                    </a:solidFill>
                  </a:tcPr>
                </a:tc>
                <a:tc>
                  <a:txBody>
                    <a:bodyPr wrap="square"/>
                    <a:lstStyle/>
                    <a:p>
                      <a:pPr algn="ctr"/>
                      <a:r>
                        <a:rPr sz="1050">
                          <a:solidFill>
                            <a:srgbClr val="121B15"/>
                          </a:solidFill>
                          <a:latin typeface="Segoe UI"/>
                        </a:rPr>
                        <a:t>Kamilaris A., Prenafeta-Boldu F.X. (2018)
Deep Learning in Agriculture: A Survey
Computers &amp; Electronics in Agri., 147</a:t>
                      </a:r>
                    </a:p>
                  </a:txBody>
                  <a:tcPr marL="101600" marR="101600" marT="50800" marB="50800" anchor="ctr">
                    <a:solidFill>
                      <a:srgbClr val="EEF5EE"/>
                    </a:solidFill>
                  </a:tcPr>
                </a:tc>
                <a:tc>
                  <a:txBody>
                    <a:bodyPr wrap="square"/>
                    <a:lstStyle/>
                    <a:p>
                      <a:pPr algn="ctr"/>
                      <a:r>
                        <a:rPr sz="1050">
                          <a:solidFill>
                            <a:srgbClr val="121B15"/>
                          </a:solidFill>
                          <a:latin typeface="Segoe UI"/>
                        </a:rPr>
                        <a:t>Survey of deep-learning applications</a:t>
                      </a:r>
                    </a:p>
                  </a:txBody>
                  <a:tcPr marL="101600" marR="101600" marT="50800" marB="50800" anchor="ctr">
                    <a:solidFill>
                      <a:srgbClr val="EEF5EE"/>
                    </a:solidFill>
                  </a:tcPr>
                </a:tc>
                <a:tc>
                  <a:txBody>
                    <a:bodyPr wrap="square"/>
                    <a:lstStyle/>
                    <a:p>
                      <a:pPr algn="ctr"/>
                      <a:r>
                        <a:rPr sz="1050">
                          <a:solidFill>
                            <a:srgbClr val="121B15"/>
                          </a:solidFill>
                          <a:latin typeface="Segoe UI"/>
                        </a:rPr>
                        <a:t>Improves accuracy, needs big data</a:t>
                      </a:r>
                    </a:p>
                  </a:txBody>
                  <a:tcPr marL="101600" marR="101600" marT="50800" marB="50800" anchor="ctr">
                    <a:solidFill>
                      <a:srgbClr val="EEF5EE"/>
                    </a:solidFill>
                  </a:tcPr>
                </a:tc>
                <a:tc>
                  <a:txBody>
                    <a:bodyPr wrap="square"/>
                    <a:lstStyle/>
                    <a:p>
                      <a:pPr algn="ctr"/>
                      <a:r>
                        <a:rPr sz="1050">
                          <a:solidFill>
                            <a:srgbClr val="121B15"/>
                          </a:solidFill>
                          <a:latin typeface="Segoe UI"/>
                        </a:rPr>
                        <a:t>Data scarcity, low interpretability</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13</a:t>
                      </a:r>
                    </a:p>
                  </a:txBody>
                  <a:tcPr marL="101600" marR="101600" marT="50800" marB="50800" anchor="ctr">
                    <a:solidFill>
                      <a:srgbClr val="FFFFFF"/>
                    </a:solidFill>
                  </a:tcPr>
                </a:tc>
                <a:tc>
                  <a:txBody>
                    <a:bodyPr wrap="square"/>
                    <a:lstStyle/>
                    <a:p>
                      <a:pPr algn="ctr"/>
                      <a:r>
                        <a:rPr sz="1050">
                          <a:solidFill>
                            <a:srgbClr val="121B15"/>
                          </a:solidFill>
                          <a:latin typeface="Segoe UI"/>
                        </a:rPr>
                        <a:t>Suresh et al. (2021)
Efficient Crop Yield Recommendation for Digital Farming
Int'l J. of Modern Agriculture, 10(1)</a:t>
                      </a:r>
                    </a:p>
                  </a:txBody>
                  <a:tcPr marL="101600" marR="101600" marT="50800" marB="50800" anchor="ctr">
                    <a:solidFill>
                      <a:srgbClr val="FFFFFF"/>
                    </a:solidFill>
                  </a:tcPr>
                </a:tc>
                <a:tc>
                  <a:txBody>
                    <a:bodyPr wrap="square"/>
                    <a:lstStyle/>
                    <a:p>
                      <a:pPr algn="ctr"/>
                      <a:r>
                        <a:rPr sz="1050">
                          <a:solidFill>
                            <a:srgbClr val="121B15"/>
                          </a:solidFill>
                          <a:latin typeface="Segoe UI"/>
                        </a:rPr>
                        <a:t>SVM-based crop recommendation</a:t>
                      </a:r>
                    </a:p>
                  </a:txBody>
                  <a:tcPr marL="101600" marR="101600" marT="50800" marB="50800" anchor="ctr">
                    <a:solidFill>
                      <a:srgbClr val="FFFFFF"/>
                    </a:solidFill>
                  </a:tcPr>
                </a:tc>
                <a:tc>
                  <a:txBody>
                    <a:bodyPr wrap="square"/>
                    <a:lstStyle/>
                    <a:p>
                      <a:pPr algn="ctr"/>
                      <a:r>
                        <a:rPr sz="1050">
                          <a:solidFill>
                            <a:srgbClr val="121B15"/>
                          </a:solidFill>
                          <a:latin typeface="Segoe UI"/>
                        </a:rPr>
                        <a:t>Higher precision on soil+yield data</a:t>
                      </a:r>
                    </a:p>
                  </a:txBody>
                  <a:tcPr marL="101600" marR="101600" marT="50800" marB="50800" anchor="ctr">
                    <a:solidFill>
                      <a:srgbClr val="FFFFFF"/>
                    </a:solidFill>
                  </a:tcPr>
                </a:tc>
                <a:tc>
                  <a:txBody>
                    <a:bodyPr wrap="square"/>
                    <a:lstStyle/>
                    <a:p>
                      <a:pPr algn="ctr"/>
                      <a:r>
                        <a:rPr sz="1050">
                          <a:solidFill>
                            <a:srgbClr val="121B15"/>
                          </a:solidFill>
                          <a:latin typeface="Segoe UI"/>
                        </a:rPr>
                        <a:t>Single-region dataset only</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14</a:t>
                      </a:r>
                    </a:p>
                  </a:txBody>
                  <a:tcPr marL="101600" marR="101600" marT="50800" marB="50800" anchor="ctr">
                    <a:solidFill>
                      <a:srgbClr val="EEF5EE"/>
                    </a:solidFill>
                  </a:tcPr>
                </a:tc>
                <a:tc>
                  <a:txBody>
                    <a:bodyPr wrap="square"/>
                    <a:lstStyle/>
                    <a:p>
                      <a:pPr algn="ctr"/>
                      <a:r>
                        <a:rPr sz="1050">
                          <a:solidFill>
                            <a:srgbClr val="121B15"/>
                          </a:solidFill>
                          <a:latin typeface="Segoe UI"/>
                        </a:rPr>
                        <a:t>Reddy D.J., Kumar M.R. (2021)
Crop Yield Prediction Using Machine Learning Algorithm
IEEE ICICCS 2021</a:t>
                      </a:r>
                    </a:p>
                  </a:txBody>
                  <a:tcPr marL="101600" marR="101600" marT="50800" marB="50800" anchor="ctr">
                    <a:solidFill>
                      <a:srgbClr val="EEF5EE"/>
                    </a:solidFill>
                  </a:tcPr>
                </a:tc>
                <a:tc>
                  <a:txBody>
                    <a:bodyPr wrap="square"/>
                    <a:lstStyle/>
                    <a:p>
                      <a:pPr algn="ctr"/>
                      <a:r>
                        <a:rPr sz="1050">
                          <a:solidFill>
                            <a:srgbClr val="121B15"/>
                          </a:solidFill>
                          <a:latin typeface="Segoe UI"/>
                        </a:rPr>
                        <a:t>RF vs. SVM vs. ANN comparison</a:t>
                      </a:r>
                    </a:p>
                  </a:txBody>
                  <a:tcPr marL="101600" marR="101600" marT="50800" marB="50800" anchor="ctr">
                    <a:solidFill>
                      <a:srgbClr val="EEF5EE"/>
                    </a:solidFill>
                  </a:tcPr>
                </a:tc>
                <a:tc>
                  <a:txBody>
                    <a:bodyPr wrap="square"/>
                    <a:lstStyle/>
                    <a:p>
                      <a:pPr algn="ctr"/>
                      <a:r>
                        <a:rPr sz="1050">
                          <a:solidFill>
                            <a:srgbClr val="121B15"/>
                          </a:solidFill>
                          <a:latin typeface="Segoe UI"/>
                        </a:rPr>
                        <a:t>RF gave best yield accuracy</a:t>
                      </a:r>
                    </a:p>
                  </a:txBody>
                  <a:tcPr marL="101600" marR="101600" marT="50800" marB="50800" anchor="ctr">
                    <a:solidFill>
                      <a:srgbClr val="EEF5EE"/>
                    </a:solidFill>
                  </a:tcPr>
                </a:tc>
                <a:tc>
                  <a:txBody>
                    <a:bodyPr wrap="square"/>
                    <a:lstStyle/>
                    <a:p>
                      <a:pPr algn="ctr"/>
                      <a:r>
                        <a:rPr sz="1050">
                          <a:solidFill>
                            <a:srgbClr val="121B15"/>
                          </a:solidFill>
                          <a:latin typeface="Segoe UI"/>
                        </a:rPr>
                        <a:t>No explainability layer</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15</a:t>
                      </a:r>
                    </a:p>
                  </a:txBody>
                  <a:tcPr marL="101600" marR="101600" marT="50800" marB="50800" anchor="ctr">
                    <a:solidFill>
                      <a:srgbClr val="FFFFFF"/>
                    </a:solidFill>
                  </a:tcPr>
                </a:tc>
                <a:tc>
                  <a:txBody>
                    <a:bodyPr wrap="square"/>
                    <a:lstStyle/>
                    <a:p>
                      <a:pPr algn="ctr"/>
                      <a:r>
                        <a:rPr sz="1050">
                          <a:solidFill>
                            <a:srgbClr val="121B15"/>
                          </a:solidFill>
                          <a:latin typeface="Segoe UI"/>
                        </a:rPr>
                        <a:t>Sharma A., Jain A., Gupta P., Chowdary V. (2021)
ML Applications for Precision Agriculture: A Review
IEEE Access, Vol. 9, 4843-4873</a:t>
                      </a:r>
                    </a:p>
                  </a:txBody>
                  <a:tcPr marL="101600" marR="101600" marT="50800" marB="50800" anchor="ctr">
                    <a:solidFill>
                      <a:srgbClr val="FFFFFF"/>
                    </a:solidFill>
                  </a:tcPr>
                </a:tc>
                <a:tc>
                  <a:txBody>
                    <a:bodyPr wrap="square"/>
                    <a:lstStyle/>
                    <a:p>
                      <a:pPr algn="ctr"/>
                      <a:r>
                        <a:rPr sz="1050">
                          <a:solidFill>
                            <a:srgbClr val="121B15"/>
                          </a:solidFill>
                          <a:latin typeface="Segoe UI"/>
                        </a:rPr>
                        <a:t>Comprehensive ML-in-agri review</a:t>
                      </a:r>
                    </a:p>
                  </a:txBody>
                  <a:tcPr marL="101600" marR="101600" marT="50800" marB="50800" anchor="ctr">
                    <a:solidFill>
                      <a:srgbClr val="FFFFFF"/>
                    </a:solidFill>
                  </a:tcPr>
                </a:tc>
                <a:tc>
                  <a:txBody>
                    <a:bodyPr wrap="square"/>
                    <a:lstStyle/>
                    <a:p>
                      <a:pPr algn="ctr"/>
                      <a:r>
                        <a:rPr sz="1050">
                          <a:solidFill>
                            <a:srgbClr val="121B15"/>
                          </a:solidFill>
                          <a:latin typeface="Segoe UI"/>
                        </a:rPr>
                        <a:t>Maps ML methods to farm tasks</a:t>
                      </a:r>
                    </a:p>
                  </a:txBody>
                  <a:tcPr marL="101600" marR="101600" marT="50800" marB="50800" anchor="ctr">
                    <a:solidFill>
                      <a:srgbClr val="FFFFFF"/>
                    </a:solidFill>
                  </a:tcPr>
                </a:tc>
                <a:tc>
                  <a:txBody>
                    <a:bodyPr wrap="square"/>
                    <a:lstStyle/>
                    <a:p>
                      <a:pPr algn="ctr"/>
                      <a:r>
                        <a:rPr sz="1050">
                          <a:solidFill>
                            <a:srgbClr val="121B15"/>
                          </a:solidFill>
                          <a:latin typeface="Segoe UI"/>
                        </a:rPr>
                        <a:t>Few real-world deployments studied</a:t>
                      </a:r>
                    </a:p>
                  </a:txBody>
                  <a:tcPr marL="101600" marR="101600" marT="50800" marB="50800" anchor="ctr">
                    <a:solidFill>
                      <a:srgbClr val="FFFFFF"/>
                    </a:solidFill>
                  </a:tcPr>
                </a:tc>
              </a:tr>
            </a:tbl>
          </a:graphicData>
        </a:graphic>
      </p:graphicFrame>
      <p:cxnSp>
        <p:nvCxnSpPr>
          <p:cNvPr id="8" name="Connector 7"/>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10" name="TextBox 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Semibold"/>
              </a:rPr>
              <a:t>LITERATURE REVIEW  |  MEMBER 4</a:t>
            </a:r>
          </a:p>
        </p:txBody>
      </p:sp>
      <p:sp>
        <p:nvSpPr>
          <p:cNvPr id="5" name="TextBox 4"/>
          <p:cNvSpPr txBox="1"/>
          <p:nvPr/>
        </p:nvSpPr>
        <p:spPr>
          <a:xfrm>
            <a:off x="640080" y="749808"/>
            <a:ext cx="8138160" cy="731520"/>
          </a:xfrm>
          <a:prstGeom prst="rect">
            <a:avLst/>
          </a:prstGeom>
          <a:noFill/>
        </p:spPr>
        <p:txBody>
          <a:bodyPr wrap="square" anchor="t" lIns="0" rIns="0" tIns="0" bIns="0">
            <a:spAutoFit/>
          </a:bodyPr>
          <a:lstStyle/>
          <a:p>
            <a:pPr algn="l">
              <a:lnSpc>
                <a:spcPct val="100000"/>
              </a:lnSpc>
              <a:spcAft>
                <a:spcPts val="0"/>
              </a:spcAft>
            </a:pPr>
            <a:r>
              <a:rPr sz="2400" b="1" i="0">
                <a:solidFill>
                  <a:srgbClr val="121B15"/>
                </a:solidFill>
                <a:latin typeface="Segoe UI Semibold"/>
              </a:rPr>
              <a:t>Explainable AI &amp; Recent Intelligent Agriculture Systems</a:t>
            </a:r>
          </a:p>
        </p:txBody>
      </p:sp>
      <p:sp>
        <p:nvSpPr>
          <p:cNvPr id="6" name="Rounded Rectangle 5"/>
          <p:cNvSpPr/>
          <p:nvPr/>
        </p:nvSpPr>
        <p:spPr>
          <a:xfrm>
            <a:off x="9829800" y="822960"/>
            <a:ext cx="1280160" cy="365760"/>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50" b="1">
                <a:solidFill>
                  <a:srgbClr val="121B15"/>
                </a:solidFill>
                <a:latin typeface="Segoe UI Semibold"/>
              </a:rPr>
              <a:t>Ref. 16-20</a:t>
            </a:r>
          </a:p>
        </p:txBody>
      </p:sp>
      <p:graphicFrame>
        <p:nvGraphicFramePr>
          <p:cNvPr id="7" name="Table 6"/>
          <p:cNvGraphicFramePr>
            <a:graphicFrameLocks noGrp="1"/>
          </p:cNvGraphicFramePr>
          <p:nvPr/>
        </p:nvGraphicFramePr>
        <p:xfrm>
          <a:off x="502920" y="1572768"/>
          <a:ext cx="11201399" cy="4498848"/>
        </p:xfrm>
        <a:graphic>
          <a:graphicData uri="http://schemas.openxmlformats.org/drawingml/2006/table">
            <a:tbl>
              <a:tblPr firstRow="1" bandRow="1">
                <a:tableStyleId>{5C22544A-7EE6-4342-B048-85BDC9FD1C3A}</a:tableStyleId>
              </a:tblPr>
              <a:tblGrid>
                <a:gridCol w="448056"/>
                <a:gridCol w="3853281"/>
                <a:gridCol w="2329891"/>
                <a:gridCol w="2240280"/>
                <a:gridCol w="2329891"/>
              </a:tblGrid>
              <a:tr h="749808">
                <a:tc>
                  <a:txBody>
                    <a:bodyPr wrap="square"/>
                    <a:lstStyle/>
                    <a:p>
                      <a:pPr algn="l"/>
                      <a:r>
                        <a:rPr sz="1150" b="1">
                          <a:solidFill>
                            <a:srgbClr val="FFFFFF"/>
                          </a:solidFill>
                          <a:latin typeface="Segoe UI Semibold"/>
                        </a:rPr>
                        <a: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Authors, Year &amp; Title</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Method</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Key Result</a:t>
                      </a:r>
                    </a:p>
                  </a:txBody>
                  <a:tcPr marL="101600" marR="101600" marT="50800" marB="50800" anchor="ctr">
                    <a:solidFill>
                      <a:srgbClr val="2E7D32"/>
                    </a:solidFill>
                  </a:tcPr>
                </a:tc>
                <a:tc>
                  <a:txBody>
                    <a:bodyPr wrap="square"/>
                    <a:lstStyle/>
                    <a:p>
                      <a:pPr algn="ctr"/>
                      <a:r>
                        <a:rPr sz="1150" b="1">
                          <a:solidFill>
                            <a:srgbClr val="FFFFFF"/>
                          </a:solidFill>
                          <a:latin typeface="Segoe UI Semibold"/>
                        </a:rPr>
                        <a:t>Gap</a:t>
                      </a:r>
                    </a:p>
                  </a:txBody>
                  <a:tcPr marL="101600" marR="101600" marT="50800" marB="50800" anchor="ctr">
                    <a:solidFill>
                      <a:srgbClr val="2E7D32"/>
                    </a:solidFill>
                  </a:tcPr>
                </a:tc>
              </a:tr>
              <a:tr h="749808">
                <a:tc>
                  <a:txBody>
                    <a:bodyPr wrap="square"/>
                    <a:lstStyle/>
                    <a:p>
                      <a:pPr algn="l"/>
                      <a:r>
                        <a:rPr sz="1050">
                          <a:solidFill>
                            <a:srgbClr val="121B15"/>
                          </a:solidFill>
                          <a:latin typeface="Segoe UI"/>
                        </a:rPr>
                        <a:t>16</a:t>
                      </a:r>
                    </a:p>
                  </a:txBody>
                  <a:tcPr marL="101600" marR="101600" marT="50800" marB="50800" anchor="ctr">
                    <a:solidFill>
                      <a:srgbClr val="FFFFFF"/>
                    </a:solidFill>
                  </a:tcPr>
                </a:tc>
                <a:tc>
                  <a:txBody>
                    <a:bodyPr wrap="square"/>
                    <a:lstStyle/>
                    <a:p>
                      <a:pPr algn="ctr"/>
                      <a:r>
                        <a:rPr sz="1050">
                          <a:solidFill>
                            <a:srgbClr val="121B15"/>
                          </a:solidFill>
                          <a:latin typeface="Segoe UI"/>
                        </a:rPr>
                        <a:t>Ribeiro M.T., Singh S., Guestrin C. (2016)
"Why Should I Trust You?" Explaining Predictions of Any Classifier
ACM SIGKDD (KDD) 2016</a:t>
                      </a:r>
                    </a:p>
                  </a:txBody>
                  <a:tcPr marL="101600" marR="101600" marT="50800" marB="50800" anchor="ctr">
                    <a:solidFill>
                      <a:srgbClr val="FFFFFF"/>
                    </a:solidFill>
                  </a:tcPr>
                </a:tc>
                <a:tc>
                  <a:txBody>
                    <a:bodyPr wrap="square"/>
                    <a:lstStyle/>
                    <a:p>
                      <a:pPr algn="ctr"/>
                      <a:r>
                        <a:rPr sz="1050">
                          <a:solidFill>
                            <a:srgbClr val="121B15"/>
                          </a:solidFill>
                          <a:latin typeface="Segoe UI"/>
                        </a:rPr>
                        <a:t>LIME: local surrogate explanations</a:t>
                      </a:r>
                    </a:p>
                  </a:txBody>
                  <a:tcPr marL="101600" marR="101600" marT="50800" marB="50800" anchor="ctr">
                    <a:solidFill>
                      <a:srgbClr val="FFFFFF"/>
                    </a:solidFill>
                  </a:tcPr>
                </a:tc>
                <a:tc>
                  <a:txBody>
                    <a:bodyPr wrap="square"/>
                    <a:lstStyle/>
                    <a:p>
                      <a:pPr algn="ctr"/>
                      <a:r>
                        <a:rPr sz="1050">
                          <a:solidFill>
                            <a:srgbClr val="121B15"/>
                          </a:solidFill>
                          <a:latin typeface="Segoe UI"/>
                        </a:rPr>
                        <a:t>Model-agnostic, increases trust</a:t>
                      </a:r>
                    </a:p>
                  </a:txBody>
                  <a:tcPr marL="101600" marR="101600" marT="50800" marB="50800" anchor="ctr">
                    <a:solidFill>
                      <a:srgbClr val="FFFFFF"/>
                    </a:solidFill>
                  </a:tcPr>
                </a:tc>
                <a:tc>
                  <a:txBody>
                    <a:bodyPr wrap="square"/>
                    <a:lstStyle/>
                    <a:p>
                      <a:pPr algn="ctr"/>
                      <a:r>
                        <a:rPr sz="1050">
                          <a:solidFill>
                            <a:srgbClr val="121B15"/>
                          </a:solidFill>
                          <a:latin typeface="Segoe UI"/>
                        </a:rPr>
                        <a:t>Local approximation, not global</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17</a:t>
                      </a:r>
                    </a:p>
                  </a:txBody>
                  <a:tcPr marL="101600" marR="101600" marT="50800" marB="50800" anchor="ctr">
                    <a:solidFill>
                      <a:srgbClr val="EEF5EE"/>
                    </a:solidFill>
                  </a:tcPr>
                </a:tc>
                <a:tc>
                  <a:txBody>
                    <a:bodyPr wrap="square"/>
                    <a:lstStyle/>
                    <a:p>
                      <a:pPr algn="ctr"/>
                      <a:r>
                        <a:rPr sz="1050">
                          <a:solidFill>
                            <a:srgbClr val="121B15"/>
                          </a:solidFill>
                          <a:latin typeface="Segoe UI"/>
                        </a:rPr>
                        <a:t>Lundberg S.M., Lee S.-I. (2017)
A Unified Approach to Interpreting Model Predictions
NeurIPS 2017, Vol. 30</a:t>
                      </a:r>
                    </a:p>
                  </a:txBody>
                  <a:tcPr marL="101600" marR="101600" marT="50800" marB="50800" anchor="ctr">
                    <a:solidFill>
                      <a:srgbClr val="EEF5EE"/>
                    </a:solidFill>
                  </a:tcPr>
                </a:tc>
                <a:tc>
                  <a:txBody>
                    <a:bodyPr wrap="square"/>
                    <a:lstStyle/>
                    <a:p>
                      <a:pPr algn="ctr"/>
                      <a:r>
                        <a:rPr sz="1050">
                          <a:solidFill>
                            <a:srgbClr val="121B15"/>
                          </a:solidFill>
                          <a:latin typeface="Segoe UI"/>
                        </a:rPr>
                        <a:t>SHAP: Shapley-value attribution</a:t>
                      </a:r>
                    </a:p>
                  </a:txBody>
                  <a:tcPr marL="101600" marR="101600" marT="50800" marB="50800" anchor="ctr">
                    <a:solidFill>
                      <a:srgbClr val="EEF5EE"/>
                    </a:solidFill>
                  </a:tcPr>
                </a:tc>
                <a:tc>
                  <a:txBody>
                    <a:bodyPr wrap="square"/>
                    <a:lstStyle/>
                    <a:p>
                      <a:pPr algn="ctr"/>
                      <a:r>
                        <a:rPr sz="1050">
                          <a:solidFill>
                            <a:srgbClr val="121B15"/>
                          </a:solidFill>
                          <a:latin typeface="Segoe UI"/>
                        </a:rPr>
                        <a:t>Unifies prior explainability methods</a:t>
                      </a:r>
                    </a:p>
                  </a:txBody>
                  <a:tcPr marL="101600" marR="101600" marT="50800" marB="50800" anchor="ctr">
                    <a:solidFill>
                      <a:srgbClr val="EEF5EE"/>
                    </a:solidFill>
                  </a:tcPr>
                </a:tc>
                <a:tc>
                  <a:txBody>
                    <a:bodyPr wrap="square"/>
                    <a:lstStyle/>
                    <a:p>
                      <a:pPr algn="ctr"/>
                      <a:r>
                        <a:rPr sz="1050">
                          <a:solidFill>
                            <a:srgbClr val="121B15"/>
                          </a:solidFill>
                          <a:latin typeface="Segoe UI"/>
                        </a:rPr>
                        <a:t>Used directly in this project (SHAP)</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18</a:t>
                      </a:r>
                    </a:p>
                  </a:txBody>
                  <a:tcPr marL="101600" marR="101600" marT="50800" marB="50800" anchor="ctr">
                    <a:solidFill>
                      <a:srgbClr val="FFFFFF"/>
                    </a:solidFill>
                  </a:tcPr>
                </a:tc>
                <a:tc>
                  <a:txBody>
                    <a:bodyPr wrap="square"/>
                    <a:lstStyle/>
                    <a:p>
                      <a:pPr algn="ctr"/>
                      <a:r>
                        <a:rPr sz="1050">
                          <a:solidFill>
                            <a:srgbClr val="121B15"/>
                          </a:solidFill>
                          <a:latin typeface="Segoe UI"/>
                        </a:rPr>
                        <a:t>Jeong J.H. et al. (2016)
Random Forests for Global &amp; Regional Crop Yield Predictions
PLOS ONE, 11(6):e0156571</a:t>
                      </a:r>
                    </a:p>
                  </a:txBody>
                  <a:tcPr marL="101600" marR="101600" marT="50800" marB="50800" anchor="ctr">
                    <a:solidFill>
                      <a:srgbClr val="FFFFFF"/>
                    </a:solidFill>
                  </a:tcPr>
                </a:tc>
                <a:tc>
                  <a:txBody>
                    <a:bodyPr wrap="square"/>
                    <a:lstStyle/>
                    <a:p>
                      <a:pPr algn="ctr"/>
                      <a:r>
                        <a:rPr sz="1050">
                          <a:solidFill>
                            <a:srgbClr val="121B15"/>
                          </a:solidFill>
                          <a:latin typeface="Segoe UI"/>
                        </a:rPr>
                        <a:t>Random Forest yield regression</a:t>
                      </a:r>
                    </a:p>
                  </a:txBody>
                  <a:tcPr marL="101600" marR="101600" marT="50800" marB="50800" anchor="ctr">
                    <a:solidFill>
                      <a:srgbClr val="FFFFFF"/>
                    </a:solidFill>
                  </a:tcPr>
                </a:tc>
                <a:tc>
                  <a:txBody>
                    <a:bodyPr wrap="square"/>
                    <a:lstStyle/>
                    <a:p>
                      <a:pPr algn="ctr"/>
                      <a:r>
                        <a:rPr sz="1050">
                          <a:solidFill>
                            <a:srgbClr val="121B15"/>
                          </a:solidFill>
                          <a:latin typeface="Segoe UI"/>
                        </a:rPr>
                        <a:t>Beats traditional regression</a:t>
                      </a:r>
                    </a:p>
                  </a:txBody>
                  <a:tcPr marL="101600" marR="101600" marT="50800" marB="50800" anchor="ctr">
                    <a:solidFill>
                      <a:srgbClr val="FFFFFF"/>
                    </a:solidFill>
                  </a:tcPr>
                </a:tc>
                <a:tc>
                  <a:txBody>
                    <a:bodyPr wrap="square"/>
                    <a:lstStyle/>
                    <a:p>
                      <a:pPr algn="ctr"/>
                      <a:r>
                        <a:rPr sz="1050">
                          <a:solidFill>
                            <a:srgbClr val="121B15"/>
                          </a:solidFill>
                          <a:latin typeface="Segoe UI"/>
                        </a:rPr>
                        <a:t>Limited regional transferability</a:t>
                      </a:r>
                    </a:p>
                  </a:txBody>
                  <a:tcPr marL="101600" marR="101600" marT="50800" marB="50800" anchor="ctr">
                    <a:solidFill>
                      <a:srgbClr val="FFFFFF"/>
                    </a:solidFill>
                  </a:tcPr>
                </a:tc>
              </a:tr>
              <a:tr h="749808">
                <a:tc>
                  <a:txBody>
                    <a:bodyPr wrap="square"/>
                    <a:lstStyle/>
                    <a:p>
                      <a:pPr algn="l"/>
                      <a:r>
                        <a:rPr sz="1050">
                          <a:solidFill>
                            <a:srgbClr val="121B15"/>
                          </a:solidFill>
                          <a:latin typeface="Segoe UI"/>
                        </a:rPr>
                        <a:t>19</a:t>
                      </a:r>
                    </a:p>
                  </a:txBody>
                  <a:tcPr marL="101600" marR="101600" marT="50800" marB="50800" anchor="ctr">
                    <a:solidFill>
                      <a:srgbClr val="EEF5EE"/>
                    </a:solidFill>
                  </a:tcPr>
                </a:tc>
                <a:tc>
                  <a:txBody>
                    <a:bodyPr wrap="square"/>
                    <a:lstStyle/>
                    <a:p>
                      <a:pPr algn="ctr"/>
                      <a:r>
                        <a:rPr sz="1050">
                          <a:solidFill>
                            <a:srgbClr val="121B15"/>
                          </a:solidFill>
                          <a:latin typeface="Segoe UI"/>
                        </a:rPr>
                        <a:t>Patel K., Patel H.B. (2020)
A State-of-the-Art Survey on Recommendation System and Prospective Extensions
Computers and Electronics in Agriculture, Vol. 178</a:t>
                      </a:r>
                    </a:p>
                  </a:txBody>
                  <a:tcPr marL="101600" marR="101600" marT="50800" marB="50800" anchor="ctr">
                    <a:solidFill>
                      <a:srgbClr val="EEF5EE"/>
                    </a:solidFill>
                  </a:tcPr>
                </a:tc>
                <a:tc>
                  <a:txBody>
                    <a:bodyPr wrap="square"/>
                    <a:lstStyle/>
                    <a:p>
                      <a:pPr algn="ctr"/>
                      <a:r>
                        <a:rPr sz="1050">
                          <a:solidFill>
                            <a:srgbClr val="121B15"/>
                          </a:solidFill>
                          <a:latin typeface="Segoe UI"/>
                        </a:rPr>
                        <a:t>Survey of recommendation systems (incl. agriculture)</a:t>
                      </a:r>
                    </a:p>
                  </a:txBody>
                  <a:tcPr marL="101600" marR="101600" marT="50800" marB="50800" anchor="ctr">
                    <a:solidFill>
                      <a:srgbClr val="EEF5EE"/>
                    </a:solidFill>
                  </a:tcPr>
                </a:tc>
                <a:tc>
                  <a:txBody>
                    <a:bodyPr wrap="square"/>
                    <a:lstStyle/>
                    <a:p>
                      <a:pPr algn="ctr"/>
                      <a:r>
                        <a:rPr sz="1050">
                          <a:solidFill>
                            <a:srgbClr val="121B15"/>
                          </a:solidFill>
                          <a:latin typeface="Segoe UI"/>
                        </a:rPr>
                        <a:t>Maps techniques to farm use-cases</a:t>
                      </a:r>
                    </a:p>
                  </a:txBody>
                  <a:tcPr marL="101600" marR="101600" marT="50800" marB="50800" anchor="ctr">
                    <a:solidFill>
                      <a:srgbClr val="EEF5EE"/>
                    </a:solidFill>
                  </a:tcPr>
                </a:tc>
                <a:tc>
                  <a:txBody>
                    <a:bodyPr wrap="square"/>
                    <a:lstStyle/>
                    <a:p>
                      <a:pPr algn="ctr"/>
                      <a:r>
                        <a:rPr sz="1050">
                          <a:solidFill>
                            <a:srgbClr val="121B15"/>
                          </a:solidFill>
                          <a:latin typeface="Segoe UI"/>
                        </a:rPr>
                        <a:t>Calls for explainable, personalized RS</a:t>
                      </a:r>
                    </a:p>
                  </a:txBody>
                  <a:tcPr marL="101600" marR="101600" marT="50800" marB="50800" anchor="ctr">
                    <a:solidFill>
                      <a:srgbClr val="EEF5EE"/>
                    </a:solidFill>
                  </a:tcPr>
                </a:tc>
              </a:tr>
              <a:tr h="749808">
                <a:tc>
                  <a:txBody>
                    <a:bodyPr wrap="square"/>
                    <a:lstStyle/>
                    <a:p>
                      <a:pPr algn="l"/>
                      <a:r>
                        <a:rPr sz="1050">
                          <a:solidFill>
                            <a:srgbClr val="121B15"/>
                          </a:solidFill>
                          <a:latin typeface="Segoe UI"/>
                        </a:rPr>
                        <a:t>20</a:t>
                      </a:r>
                    </a:p>
                  </a:txBody>
                  <a:tcPr marL="101600" marR="101600" marT="50800" marB="50800" anchor="ctr">
                    <a:solidFill>
                      <a:srgbClr val="FFFFFF"/>
                    </a:solidFill>
                  </a:tcPr>
                </a:tc>
                <a:tc>
                  <a:txBody>
                    <a:bodyPr wrap="square"/>
                    <a:lstStyle/>
                    <a:p>
                      <a:pPr algn="ctr"/>
                      <a:r>
                        <a:rPr sz="1050">
                          <a:solidFill>
                            <a:srgbClr val="121B15"/>
                          </a:solidFill>
                          <a:latin typeface="Segoe UI"/>
                        </a:rPr>
                        <a:t>Priya P., Muthaiah U., Balamurugan M. (2018)
Predicting Yield of the Crop Using Machine Learning
IJESRT, Vol. 7(1)</a:t>
                      </a:r>
                    </a:p>
                  </a:txBody>
                  <a:tcPr marL="101600" marR="101600" marT="50800" marB="50800" anchor="ctr">
                    <a:solidFill>
                      <a:srgbClr val="FFFFFF"/>
                    </a:solidFill>
                  </a:tcPr>
                </a:tc>
                <a:tc>
                  <a:txBody>
                    <a:bodyPr wrap="square"/>
                    <a:lstStyle/>
                    <a:p>
                      <a:pPr algn="ctr"/>
                      <a:r>
                        <a:rPr sz="1050">
                          <a:solidFill>
                            <a:srgbClr val="121B15"/>
                          </a:solidFill>
                          <a:latin typeface="Segoe UI"/>
                        </a:rPr>
                        <a:t>Random Forest regression</a:t>
                      </a:r>
                    </a:p>
                  </a:txBody>
                  <a:tcPr marL="101600" marR="101600" marT="50800" marB="50800" anchor="ctr">
                    <a:solidFill>
                      <a:srgbClr val="FFFFFF"/>
                    </a:solidFill>
                  </a:tcPr>
                </a:tc>
                <a:tc>
                  <a:txBody>
                    <a:bodyPr wrap="square"/>
                    <a:lstStyle/>
                    <a:p>
                      <a:pPr algn="ctr"/>
                      <a:r>
                        <a:rPr sz="1050">
                          <a:solidFill>
                            <a:srgbClr val="121B15"/>
                          </a:solidFill>
                          <a:latin typeface="Segoe UI"/>
                        </a:rPr>
                        <a:t>Beats linear regression baseline</a:t>
                      </a:r>
                    </a:p>
                  </a:txBody>
                  <a:tcPr marL="101600" marR="101600" marT="50800" marB="50800" anchor="ctr">
                    <a:solidFill>
                      <a:srgbClr val="FFFFFF"/>
                    </a:solidFill>
                  </a:tcPr>
                </a:tc>
                <a:tc>
                  <a:txBody>
                    <a:bodyPr wrap="square"/>
                    <a:lstStyle/>
                    <a:p>
                      <a:pPr algn="ctr"/>
                      <a:r>
                        <a:rPr sz="1050">
                          <a:solidFill>
                            <a:srgbClr val="121B15"/>
                          </a:solidFill>
                          <a:latin typeface="Segoe UI"/>
                        </a:rPr>
                        <a:t>No interactive farmer-facing system</a:t>
                      </a:r>
                    </a:p>
                  </a:txBody>
                  <a:tcPr marL="101600" marR="101600" marT="50800" marB="50800" anchor="ctr">
                    <a:solidFill>
                      <a:srgbClr val="FFFFFF"/>
                    </a:solidFill>
                  </a:tcPr>
                </a:tc>
              </a:tr>
            </a:tbl>
          </a:graphicData>
        </a:graphic>
      </p:graphicFrame>
      <p:cxnSp>
        <p:nvCxnSpPr>
          <p:cNvPr id="8" name="Connector 7"/>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10" name="TextBox 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RESEARCH GAP</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What the Literature Consistently Misses</a:t>
            </a:r>
          </a:p>
        </p:txBody>
      </p:sp>
      <p:sp>
        <p:nvSpPr>
          <p:cNvPr id="6" name="Rounded Rectangle 5"/>
          <p:cNvSpPr/>
          <p:nvPr/>
        </p:nvSpPr>
        <p:spPr>
          <a:xfrm>
            <a:off x="2148840" y="1463040"/>
            <a:ext cx="7863840" cy="566928"/>
          </a:xfrm>
          <a:prstGeom prst="roundRect">
            <a:avLst>
              <a:gd name="adj" fmla="val 5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48840" y="1463040"/>
            <a:ext cx="7863840" cy="566928"/>
          </a:xfrm>
          <a:prstGeom prst="rect">
            <a:avLst/>
          </a:prstGeom>
          <a:noFill/>
        </p:spPr>
        <p:txBody>
          <a:bodyPr wrap="square" anchor="ctr" lIns="0" rIns="0" tIns="0" bIns="0">
            <a:spAutoFit/>
          </a:bodyPr>
          <a:lstStyle/>
          <a:p>
            <a:pPr algn="ctr">
              <a:lnSpc>
                <a:spcPct val="100000"/>
              </a:lnSpc>
              <a:spcAft>
                <a:spcPts val="0"/>
              </a:spcAft>
            </a:pPr>
            <a:r>
              <a:rPr sz="1450" b="1" i="0">
                <a:solidFill>
                  <a:srgbClr val="FFFFFF"/>
                </a:solidFill>
                <a:latin typeface="Segoe UI"/>
              </a:rPr>
              <a:t>Existing Systems</a:t>
            </a:r>
          </a:p>
        </p:txBody>
      </p:sp>
      <p:sp>
        <p:nvSpPr>
          <p:cNvPr id="8" name="Isosceles Triangle 7"/>
          <p:cNvSpPr/>
          <p:nvPr/>
        </p:nvSpPr>
        <p:spPr>
          <a:xfrm rot="10800000">
            <a:off x="5971032" y="2066544"/>
            <a:ext cx="219456" cy="17556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48840" y="2240280"/>
            <a:ext cx="7863840" cy="566928"/>
          </a:xfrm>
          <a:prstGeom prst="roundRect">
            <a:avLst>
              <a:gd name="adj" fmla="val 18000"/>
            </a:avLst>
          </a:prstGeom>
          <a:solidFill>
            <a:srgbClr val="352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2240280"/>
            <a:ext cx="7863840" cy="566928"/>
          </a:xfrm>
          <a:prstGeom prst="rect">
            <a:avLst/>
          </a:prstGeom>
          <a:noFill/>
        </p:spPr>
        <p:txBody>
          <a:bodyPr wrap="square" anchor="ctr" lIns="0" rIns="0" tIns="0" bIns="0">
            <a:spAutoFit/>
          </a:bodyPr>
          <a:lstStyle/>
          <a:p>
            <a:pPr algn="ctr">
              <a:lnSpc>
                <a:spcPct val="100000"/>
              </a:lnSpc>
              <a:spcAft>
                <a:spcPts val="0"/>
              </a:spcAft>
            </a:pPr>
            <a:r>
              <a:rPr sz="1450" b="1" i="0">
                <a:solidFill>
                  <a:srgbClr val="D8A63A"/>
                </a:solidFill>
                <a:latin typeface="Segoe UI"/>
              </a:rPr>
              <a:t>Accurate, but limited explainability</a:t>
            </a:r>
          </a:p>
        </p:txBody>
      </p:sp>
      <p:sp>
        <p:nvSpPr>
          <p:cNvPr id="11" name="Isosceles Triangle 10"/>
          <p:cNvSpPr/>
          <p:nvPr/>
        </p:nvSpPr>
        <p:spPr>
          <a:xfrm rot="10800000">
            <a:off x="5971032" y="2843784"/>
            <a:ext cx="219456" cy="17556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48840" y="3017520"/>
            <a:ext cx="7863840" cy="566928"/>
          </a:xfrm>
          <a:prstGeom prst="roundRect">
            <a:avLst>
              <a:gd name="adj" fmla="val 18000"/>
            </a:avLst>
          </a:prstGeom>
          <a:solidFill>
            <a:srgbClr val="352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8840" y="3017520"/>
            <a:ext cx="7863840" cy="566928"/>
          </a:xfrm>
          <a:prstGeom prst="rect">
            <a:avLst/>
          </a:prstGeom>
          <a:noFill/>
        </p:spPr>
        <p:txBody>
          <a:bodyPr wrap="square" anchor="ctr" lIns="0" rIns="0" tIns="0" bIns="0">
            <a:spAutoFit/>
          </a:bodyPr>
          <a:lstStyle/>
          <a:p>
            <a:pPr algn="ctr">
              <a:lnSpc>
                <a:spcPct val="100000"/>
              </a:lnSpc>
              <a:spcAft>
                <a:spcPts val="0"/>
              </a:spcAft>
            </a:pPr>
            <a:r>
              <a:rPr sz="1450" b="1" i="0">
                <a:solidFill>
                  <a:srgbClr val="D8A63A"/>
                </a:solidFill>
                <a:latin typeface="Segoe UI"/>
              </a:rPr>
              <a:t>Trained on static, benchmark-style datasets</a:t>
            </a:r>
          </a:p>
        </p:txBody>
      </p:sp>
      <p:sp>
        <p:nvSpPr>
          <p:cNvPr id="14" name="Isosceles Triangle 13"/>
          <p:cNvSpPr/>
          <p:nvPr/>
        </p:nvSpPr>
        <p:spPr>
          <a:xfrm rot="10800000">
            <a:off x="5971032" y="3621024"/>
            <a:ext cx="219456" cy="17556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148840" y="3794760"/>
            <a:ext cx="7863840" cy="566928"/>
          </a:xfrm>
          <a:prstGeom prst="roundRect">
            <a:avLst>
              <a:gd name="adj" fmla="val 18000"/>
            </a:avLst>
          </a:prstGeom>
          <a:solidFill>
            <a:srgbClr val="352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48840" y="3794760"/>
            <a:ext cx="7863840" cy="566928"/>
          </a:xfrm>
          <a:prstGeom prst="rect">
            <a:avLst/>
          </a:prstGeom>
          <a:noFill/>
        </p:spPr>
        <p:txBody>
          <a:bodyPr wrap="square" anchor="ctr" lIns="0" rIns="0" tIns="0" bIns="0">
            <a:spAutoFit/>
          </a:bodyPr>
          <a:lstStyle/>
          <a:p>
            <a:pPr algn="ctr">
              <a:lnSpc>
                <a:spcPct val="100000"/>
              </a:lnSpc>
              <a:spcAft>
                <a:spcPts val="0"/>
              </a:spcAft>
            </a:pPr>
            <a:r>
              <a:rPr sz="1450" b="1" i="0">
                <a:solidFill>
                  <a:srgbClr val="D8A63A"/>
                </a:solidFill>
                <a:latin typeface="Segoe UI"/>
              </a:rPr>
              <a:t>Limited farmer usability / interpretation</a:t>
            </a:r>
          </a:p>
        </p:txBody>
      </p:sp>
      <p:sp>
        <p:nvSpPr>
          <p:cNvPr id="17" name="Isosceles Triangle 16"/>
          <p:cNvSpPr/>
          <p:nvPr/>
        </p:nvSpPr>
        <p:spPr>
          <a:xfrm rot="10800000">
            <a:off x="5971032" y="4398264"/>
            <a:ext cx="219456" cy="17556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148840" y="4572000"/>
            <a:ext cx="7863840" cy="566928"/>
          </a:xfrm>
          <a:prstGeom prst="roundRect">
            <a:avLst>
              <a:gd name="adj" fmla="val 18000"/>
            </a:avLst>
          </a:prstGeom>
          <a:solidFill>
            <a:srgbClr val="352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48840" y="4572000"/>
            <a:ext cx="7863840" cy="566928"/>
          </a:xfrm>
          <a:prstGeom prst="rect">
            <a:avLst/>
          </a:prstGeom>
          <a:noFill/>
        </p:spPr>
        <p:txBody>
          <a:bodyPr wrap="square" anchor="ctr" lIns="0" rIns="0" tIns="0" bIns="0">
            <a:spAutoFit/>
          </a:bodyPr>
          <a:lstStyle/>
          <a:p>
            <a:pPr algn="ctr">
              <a:lnSpc>
                <a:spcPct val="100000"/>
              </a:lnSpc>
              <a:spcAft>
                <a:spcPts val="0"/>
              </a:spcAft>
            </a:pPr>
            <a:r>
              <a:rPr sz="1450" b="1" i="0">
                <a:solidFill>
                  <a:srgbClr val="D8A63A"/>
                </a:solidFill>
                <a:latin typeface="Segoe UI"/>
              </a:rPr>
              <a:t>Limited real-world decision support</a:t>
            </a:r>
          </a:p>
        </p:txBody>
      </p:sp>
      <p:sp>
        <p:nvSpPr>
          <p:cNvPr id="20" name="Isosceles Triangle 19"/>
          <p:cNvSpPr/>
          <p:nvPr/>
        </p:nvSpPr>
        <p:spPr>
          <a:xfrm rot="10800000">
            <a:off x="5971032" y="5175504"/>
            <a:ext cx="219456" cy="17556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148840" y="5349240"/>
            <a:ext cx="7863840" cy="56692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48840" y="5349240"/>
            <a:ext cx="7863840" cy="566928"/>
          </a:xfrm>
          <a:prstGeom prst="rect">
            <a:avLst/>
          </a:prstGeom>
          <a:noFill/>
        </p:spPr>
        <p:txBody>
          <a:bodyPr wrap="square" anchor="ctr" lIns="0" rIns="0" tIns="0" bIns="0">
            <a:spAutoFit/>
          </a:bodyPr>
          <a:lstStyle/>
          <a:p>
            <a:pPr algn="ctr">
              <a:lnSpc>
                <a:spcPct val="100000"/>
              </a:lnSpc>
              <a:spcAft>
                <a:spcPts val="0"/>
              </a:spcAft>
            </a:pPr>
            <a:r>
              <a:rPr sz="1450" b="1" i="0">
                <a:solidFill>
                  <a:srgbClr val="FFFFFF"/>
                </a:solidFill>
                <a:latin typeface="Segoe UI"/>
              </a:rPr>
              <a:t>Our Proposed Direction: Explainable, Verified ML Pipeline</a:t>
            </a:r>
          </a:p>
        </p:txBody>
      </p:sp>
      <p:cxnSp>
        <p:nvCxnSpPr>
          <p:cNvPr id="23" name="Connector 22"/>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25" name="TextBox 24"/>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PROPOSED SYSTEM</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Data-Driven Crop Recommendation Workflow</a:t>
            </a:r>
          </a:p>
        </p:txBody>
      </p:sp>
      <p:sp>
        <p:nvSpPr>
          <p:cNvPr id="6" name="Rounded Rectangle 5"/>
          <p:cNvSpPr/>
          <p:nvPr/>
        </p:nvSpPr>
        <p:spPr>
          <a:xfrm>
            <a:off x="3977639" y="1417320"/>
            <a:ext cx="4206240" cy="566928"/>
          </a:xfrm>
          <a:prstGeom prst="roundRect">
            <a:avLst>
              <a:gd name="adj" fmla="val 16000"/>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799" y="1417320"/>
            <a:ext cx="3931920" cy="566928"/>
          </a:xfrm>
          <a:prstGeom prst="rect">
            <a:avLst/>
          </a:prstGeom>
          <a:noFill/>
        </p:spPr>
        <p:txBody>
          <a:bodyPr wrap="square" anchor="ctr" lIns="0" rIns="0" tIns="0" bIns="0">
            <a:spAutoFit/>
          </a:bodyPr>
          <a:lstStyle/>
          <a:p>
            <a:pPr algn="ctr">
              <a:lnSpc>
                <a:spcPct val="105000"/>
              </a:lnSpc>
              <a:spcAft>
                <a:spcPts val="0"/>
              </a:spcAft>
            </a:pPr>
            <a:r>
              <a:rPr sz="1400" b="1" i="0">
                <a:solidFill>
                  <a:srgbClr val="FFFFFF"/>
                </a:solidFill>
                <a:latin typeface="Segoe UI"/>
              </a:rPr>
              <a:t>Farmer / User Input</a:t>
            </a:r>
          </a:p>
        </p:txBody>
      </p:sp>
      <p:sp>
        <p:nvSpPr>
          <p:cNvPr id="8" name="Isosceles Triangle 7"/>
          <p:cNvSpPr/>
          <p:nvPr/>
        </p:nvSpPr>
        <p:spPr>
          <a:xfrm rot="10800000">
            <a:off x="5980175" y="2016252"/>
            <a:ext cx="201168" cy="16093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77639" y="2130552"/>
            <a:ext cx="4206240" cy="777240"/>
          </a:xfrm>
          <a:prstGeom prst="roundRect">
            <a:avLst>
              <a:gd name="adj" fmla="val 16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9" y="2130552"/>
            <a:ext cx="3931920" cy="777240"/>
          </a:xfrm>
          <a:prstGeom prst="rect">
            <a:avLst/>
          </a:prstGeom>
          <a:noFill/>
        </p:spPr>
        <p:txBody>
          <a:bodyPr wrap="square" anchor="ctr" lIns="0" rIns="0" tIns="0" bIns="0">
            <a:spAutoFit/>
          </a:bodyPr>
          <a:lstStyle/>
          <a:p>
            <a:pPr algn="ctr">
              <a:lnSpc>
                <a:spcPct val="105000"/>
              </a:lnSpc>
              <a:spcAft>
                <a:spcPts val="0"/>
              </a:spcAft>
            </a:pPr>
            <a:r>
              <a:rPr sz="1400" b="1" i="0">
                <a:solidFill>
                  <a:srgbClr val="FFFFFF"/>
                </a:solidFill>
                <a:latin typeface="Segoe UI"/>
              </a:rPr>
              <a:t>Soil + Environmental Parameters</a:t>
            </a:r>
          </a:p>
          <a:p>
            <a:pPr algn="ctr">
              <a:lnSpc>
                <a:spcPct val="105000"/>
              </a:lnSpc>
              <a:spcAft>
                <a:spcPts val="0"/>
              </a:spcAft>
            </a:pPr>
            <a:r>
              <a:rPr sz="1400" b="1" i="0">
                <a:solidFill>
                  <a:srgbClr val="FFFFFF"/>
                </a:solidFill>
                <a:latin typeface="Segoe UI"/>
              </a:rPr>
              <a:t>(N, P, K, Temperature, Humidity, pH, Rainfall)</a:t>
            </a:r>
          </a:p>
        </p:txBody>
      </p:sp>
      <p:sp>
        <p:nvSpPr>
          <p:cNvPr id="11" name="Isosceles Triangle 10"/>
          <p:cNvSpPr/>
          <p:nvPr/>
        </p:nvSpPr>
        <p:spPr>
          <a:xfrm rot="10800000">
            <a:off x="5980175" y="2939796"/>
            <a:ext cx="201168" cy="16093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77639" y="3054096"/>
            <a:ext cx="4206240" cy="566928"/>
          </a:xfrm>
          <a:prstGeom prst="roundRect">
            <a:avLst>
              <a:gd name="adj" fmla="val 16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9" y="3054096"/>
            <a:ext cx="3931920" cy="566928"/>
          </a:xfrm>
          <a:prstGeom prst="rect">
            <a:avLst/>
          </a:prstGeom>
          <a:noFill/>
        </p:spPr>
        <p:txBody>
          <a:bodyPr wrap="square" anchor="ctr" lIns="0" rIns="0" tIns="0" bIns="0">
            <a:spAutoFit/>
          </a:bodyPr>
          <a:lstStyle/>
          <a:p>
            <a:pPr algn="ctr">
              <a:lnSpc>
                <a:spcPct val="105000"/>
              </a:lnSpc>
              <a:spcAft>
                <a:spcPts val="0"/>
              </a:spcAft>
            </a:pPr>
            <a:r>
              <a:rPr sz="1400" b="1" i="0">
                <a:solidFill>
                  <a:srgbClr val="FFFFFF"/>
                </a:solidFill>
                <a:latin typeface="Segoe UI"/>
              </a:rPr>
              <a:t>Data Preprocessing</a:t>
            </a:r>
          </a:p>
        </p:txBody>
      </p:sp>
      <p:sp>
        <p:nvSpPr>
          <p:cNvPr id="14" name="Isosceles Triangle 13"/>
          <p:cNvSpPr/>
          <p:nvPr/>
        </p:nvSpPr>
        <p:spPr>
          <a:xfrm rot="10800000">
            <a:off x="5980175" y="3653028"/>
            <a:ext cx="201168" cy="16093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977639" y="3767328"/>
            <a:ext cx="4206240" cy="566928"/>
          </a:xfrm>
          <a:prstGeom prst="roundRect">
            <a:avLst>
              <a:gd name="adj" fmla="val 1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9" y="3767328"/>
            <a:ext cx="3931920" cy="566928"/>
          </a:xfrm>
          <a:prstGeom prst="rect">
            <a:avLst/>
          </a:prstGeom>
          <a:noFill/>
        </p:spPr>
        <p:txBody>
          <a:bodyPr wrap="square" anchor="ctr" lIns="0" rIns="0" tIns="0" bIns="0">
            <a:spAutoFit/>
          </a:bodyPr>
          <a:lstStyle/>
          <a:p>
            <a:pPr algn="ctr">
              <a:lnSpc>
                <a:spcPct val="105000"/>
              </a:lnSpc>
              <a:spcAft>
                <a:spcPts val="0"/>
              </a:spcAft>
            </a:pPr>
            <a:r>
              <a:rPr sz="1400" b="1" i="0">
                <a:solidFill>
                  <a:srgbClr val="FFFFFF"/>
                </a:solidFill>
                <a:latin typeface="Segoe UI"/>
              </a:rPr>
              <a:t>Machine Learning Model</a:t>
            </a:r>
          </a:p>
        </p:txBody>
      </p:sp>
      <p:sp>
        <p:nvSpPr>
          <p:cNvPr id="17" name="Isosceles Triangle 16"/>
          <p:cNvSpPr/>
          <p:nvPr/>
        </p:nvSpPr>
        <p:spPr>
          <a:xfrm rot="10800000">
            <a:off x="5980175" y="4366260"/>
            <a:ext cx="201168" cy="16093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977639" y="4480560"/>
            <a:ext cx="4206240" cy="566928"/>
          </a:xfrm>
          <a:prstGeom prst="roundRect">
            <a:avLst>
              <a:gd name="adj" fmla="val 16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799" y="4480560"/>
            <a:ext cx="3931920" cy="566928"/>
          </a:xfrm>
          <a:prstGeom prst="rect">
            <a:avLst/>
          </a:prstGeom>
          <a:noFill/>
        </p:spPr>
        <p:txBody>
          <a:bodyPr wrap="square" anchor="ctr" lIns="0" rIns="0" tIns="0" bIns="0">
            <a:spAutoFit/>
          </a:bodyPr>
          <a:lstStyle/>
          <a:p>
            <a:pPr algn="ctr">
              <a:lnSpc>
                <a:spcPct val="105000"/>
              </a:lnSpc>
              <a:spcAft>
                <a:spcPts val="0"/>
              </a:spcAft>
            </a:pPr>
            <a:r>
              <a:rPr sz="1400" b="1" i="0">
                <a:solidFill>
                  <a:srgbClr val="FFFFFF"/>
                </a:solidFill>
                <a:latin typeface="Segoe UI"/>
              </a:rPr>
              <a:t>Crop Prediction</a:t>
            </a:r>
          </a:p>
        </p:txBody>
      </p:sp>
      <p:sp>
        <p:nvSpPr>
          <p:cNvPr id="20" name="Isosceles Triangle 19"/>
          <p:cNvSpPr/>
          <p:nvPr/>
        </p:nvSpPr>
        <p:spPr>
          <a:xfrm rot="10800000">
            <a:off x="5980175" y="5079492"/>
            <a:ext cx="201168" cy="16093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977639" y="5193792"/>
            <a:ext cx="4206240" cy="566928"/>
          </a:xfrm>
          <a:prstGeom prst="roundRect">
            <a:avLst>
              <a:gd name="adj" fmla="val 16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799" y="5193792"/>
            <a:ext cx="3931920" cy="566928"/>
          </a:xfrm>
          <a:prstGeom prst="rect">
            <a:avLst/>
          </a:prstGeom>
          <a:noFill/>
        </p:spPr>
        <p:txBody>
          <a:bodyPr wrap="square" anchor="ctr" lIns="0" rIns="0" tIns="0" bIns="0">
            <a:spAutoFit/>
          </a:bodyPr>
          <a:lstStyle/>
          <a:p>
            <a:pPr algn="ctr">
              <a:lnSpc>
                <a:spcPct val="105000"/>
              </a:lnSpc>
              <a:spcAft>
                <a:spcPts val="0"/>
              </a:spcAft>
            </a:pPr>
            <a:r>
              <a:rPr sz="1400" b="1" i="0">
                <a:solidFill>
                  <a:srgbClr val="121B15"/>
                </a:solidFill>
                <a:latin typeface="Segoe UI"/>
              </a:rPr>
              <a:t>Recommended Crop</a:t>
            </a:r>
          </a:p>
        </p:txBody>
      </p:sp>
      <p:cxnSp>
        <p:nvCxnSpPr>
          <p:cNvPr id="23" name="Connector 22"/>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25" name="TextBox 24"/>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DATASET</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Crop Recommendation Dataset</a:t>
            </a:r>
          </a:p>
        </p:txBody>
      </p:sp>
      <p:sp>
        <p:nvSpPr>
          <p:cNvPr id="6" name="TextBox 5"/>
          <p:cNvSpPr txBox="1"/>
          <p:nvPr/>
        </p:nvSpPr>
        <p:spPr>
          <a:xfrm>
            <a:off x="640080" y="1508760"/>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Dataset name</a:t>
            </a:r>
          </a:p>
        </p:txBody>
      </p:sp>
      <p:sp>
        <p:nvSpPr>
          <p:cNvPr id="7" name="TextBox 6"/>
          <p:cNvSpPr txBox="1"/>
          <p:nvPr/>
        </p:nvSpPr>
        <p:spPr>
          <a:xfrm>
            <a:off x="2788920" y="1508760"/>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Crop Recommendation Dataset</a:t>
            </a:r>
          </a:p>
        </p:txBody>
      </p:sp>
      <p:sp>
        <p:nvSpPr>
          <p:cNvPr id="8" name="TextBox 7"/>
          <p:cNvSpPr txBox="1"/>
          <p:nvPr/>
        </p:nvSpPr>
        <p:spPr>
          <a:xfrm>
            <a:off x="640080" y="2112264"/>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Source</a:t>
            </a:r>
          </a:p>
        </p:txBody>
      </p:sp>
      <p:sp>
        <p:nvSpPr>
          <p:cNvPr id="9" name="TextBox 8"/>
          <p:cNvSpPr txBox="1"/>
          <p:nvPr/>
        </p:nvSpPr>
        <p:spPr>
          <a:xfrm>
            <a:off x="2788920" y="2112264"/>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Kaggle: atharvaingle/crop-recommendation-</a:t>
            </a:r>
          </a:p>
          <a:p>
            <a:pPr algn="l">
              <a:lnSpc>
                <a:spcPct val="110000"/>
              </a:lnSpc>
              <a:spcAft>
                <a:spcPts val="0"/>
              </a:spcAft>
            </a:pPr>
            <a:r>
              <a:rPr sz="1150" b="0" i="0">
                <a:solidFill>
                  <a:srgbClr val="121B15"/>
                </a:solidFill>
                <a:latin typeface="Segoe UI"/>
              </a:rPr>
              <a:t>dataset (local CSV mirror)</a:t>
            </a:r>
          </a:p>
        </p:txBody>
      </p:sp>
      <p:sp>
        <p:nvSpPr>
          <p:cNvPr id="10" name="TextBox 9"/>
          <p:cNvSpPr txBox="1"/>
          <p:nvPr/>
        </p:nvSpPr>
        <p:spPr>
          <a:xfrm>
            <a:off x="640080" y="2715768"/>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Records</a:t>
            </a:r>
          </a:p>
        </p:txBody>
      </p:sp>
      <p:sp>
        <p:nvSpPr>
          <p:cNvPr id="11" name="TextBox 10"/>
          <p:cNvSpPr txBox="1"/>
          <p:nvPr/>
        </p:nvSpPr>
        <p:spPr>
          <a:xfrm>
            <a:off x="2788920" y="2715768"/>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2,200 rows, 0 missing, 0 duplicates</a:t>
            </a:r>
          </a:p>
        </p:txBody>
      </p:sp>
      <p:sp>
        <p:nvSpPr>
          <p:cNvPr id="12" name="TextBox 11"/>
          <p:cNvSpPr txBox="1"/>
          <p:nvPr/>
        </p:nvSpPr>
        <p:spPr>
          <a:xfrm>
            <a:off x="640080" y="3319272"/>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Crop classes</a:t>
            </a:r>
          </a:p>
        </p:txBody>
      </p:sp>
      <p:sp>
        <p:nvSpPr>
          <p:cNvPr id="13" name="TextBox 12"/>
          <p:cNvSpPr txBox="1"/>
          <p:nvPr/>
        </p:nvSpPr>
        <p:spPr>
          <a:xfrm>
            <a:off x="2788920" y="3319272"/>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22 crops, 100 samples each</a:t>
            </a:r>
          </a:p>
        </p:txBody>
      </p:sp>
      <p:sp>
        <p:nvSpPr>
          <p:cNvPr id="14" name="TextBox 13"/>
          <p:cNvSpPr txBox="1"/>
          <p:nvPr/>
        </p:nvSpPr>
        <p:spPr>
          <a:xfrm>
            <a:off x="640080" y="3922776"/>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Input features</a:t>
            </a:r>
          </a:p>
        </p:txBody>
      </p:sp>
      <p:sp>
        <p:nvSpPr>
          <p:cNvPr id="15" name="TextBox 14"/>
          <p:cNvSpPr txBox="1"/>
          <p:nvPr/>
        </p:nvSpPr>
        <p:spPr>
          <a:xfrm>
            <a:off x="2788920" y="3922776"/>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7 numeric: N, P, K, temp,</a:t>
            </a:r>
          </a:p>
          <a:p>
            <a:pPr algn="l">
              <a:lnSpc>
                <a:spcPct val="110000"/>
              </a:lnSpc>
              <a:spcAft>
                <a:spcPts val="0"/>
              </a:spcAft>
            </a:pPr>
            <a:r>
              <a:rPr sz="1150" b="0" i="0">
                <a:solidFill>
                  <a:srgbClr val="121B15"/>
                </a:solidFill>
                <a:latin typeface="Segoe UI"/>
              </a:rPr>
              <a:t>humidity, pH, rainfall</a:t>
            </a:r>
          </a:p>
        </p:txBody>
      </p:sp>
      <p:sp>
        <p:nvSpPr>
          <p:cNvPr id="16" name="TextBox 15"/>
          <p:cNvSpPr txBox="1"/>
          <p:nvPr/>
        </p:nvSpPr>
        <p:spPr>
          <a:xfrm>
            <a:off x="640080" y="4526280"/>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Target / label</a:t>
            </a:r>
          </a:p>
        </p:txBody>
      </p:sp>
      <p:sp>
        <p:nvSpPr>
          <p:cNvPr id="17" name="TextBox 16"/>
          <p:cNvSpPr txBox="1"/>
          <p:nvPr/>
        </p:nvSpPr>
        <p:spPr>
          <a:xfrm>
            <a:off x="2788920" y="4526280"/>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Crop name (22 classes)</a:t>
            </a:r>
          </a:p>
        </p:txBody>
      </p:sp>
      <p:sp>
        <p:nvSpPr>
          <p:cNvPr id="18" name="TextBox 17"/>
          <p:cNvSpPr txBox="1"/>
          <p:nvPr/>
        </p:nvSpPr>
        <p:spPr>
          <a:xfrm>
            <a:off x="640080" y="5129784"/>
            <a:ext cx="2103120" cy="64008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Data type</a:t>
            </a:r>
          </a:p>
        </p:txBody>
      </p:sp>
      <p:sp>
        <p:nvSpPr>
          <p:cNvPr id="19" name="TextBox 18"/>
          <p:cNvSpPr txBox="1"/>
          <p:nvPr/>
        </p:nvSpPr>
        <p:spPr>
          <a:xfrm>
            <a:off x="2788920" y="5129784"/>
            <a:ext cx="3749039" cy="640080"/>
          </a:xfrm>
          <a:prstGeom prst="rect">
            <a:avLst/>
          </a:prstGeom>
          <a:noFill/>
        </p:spPr>
        <p:txBody>
          <a:bodyPr wrap="square" anchor="t" lIns="0" rIns="0" tIns="0" bIns="0">
            <a:spAutoFit/>
          </a:bodyPr>
          <a:lstStyle/>
          <a:p>
            <a:pPr algn="l">
              <a:lnSpc>
                <a:spcPct val="110000"/>
              </a:lnSpc>
              <a:spcAft>
                <a:spcPts val="0"/>
              </a:spcAft>
            </a:pPr>
            <a:r>
              <a:rPr sz="1150" b="0" i="0">
                <a:solidFill>
                  <a:srgbClr val="121B15"/>
                </a:solidFill>
                <a:latin typeface="Segoe UI"/>
              </a:rPr>
              <a:t>Structured / tabular</a:t>
            </a:r>
          </a:p>
        </p:txBody>
      </p:sp>
      <p:graphicFrame>
        <p:nvGraphicFramePr>
          <p:cNvPr id="20" name="Table 19"/>
          <p:cNvGraphicFramePr>
            <a:graphicFrameLocks noGrp="1"/>
          </p:cNvGraphicFramePr>
          <p:nvPr/>
        </p:nvGraphicFramePr>
        <p:xfrm>
          <a:off x="6537960" y="1508760"/>
          <a:ext cx="5120640" cy="1463040"/>
        </p:xfrm>
        <a:graphic>
          <a:graphicData uri="http://schemas.openxmlformats.org/drawingml/2006/table">
            <a:tbl>
              <a:tblPr firstRow="1" bandRow="1">
                <a:tableStyleId>{5C22544A-7EE6-4342-B048-85BDC9FD1C3A}</a:tableStyleId>
              </a:tblPr>
              <a:tblGrid>
                <a:gridCol w="568960"/>
                <a:gridCol w="568960"/>
                <a:gridCol w="568960"/>
                <a:gridCol w="682752"/>
                <a:gridCol w="739648"/>
                <a:gridCol w="568960"/>
                <a:gridCol w="682752"/>
                <a:gridCol w="739648"/>
              </a:tblGrid>
              <a:tr h="292608">
                <a:tc>
                  <a:txBody>
                    <a:bodyPr wrap="square"/>
                    <a:lstStyle/>
                    <a:p>
                      <a:pPr algn="l"/>
                      <a:r>
                        <a:rPr sz="1000" b="1">
                          <a:solidFill>
                            <a:srgbClr val="FFFFFF"/>
                          </a:solidFill>
                          <a:latin typeface="Segoe UI Semibold"/>
                        </a:rPr>
                        <a:t>N</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P</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K</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temp</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humidity</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ph</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rainfall</a:t>
                      </a:r>
                    </a:p>
                  </a:txBody>
                  <a:tcPr marL="101600" marR="101600" marT="50800" marB="50800" anchor="ctr">
                    <a:solidFill>
                      <a:srgbClr val="2E7D32"/>
                    </a:solidFill>
                  </a:tcPr>
                </a:tc>
                <a:tc>
                  <a:txBody>
                    <a:bodyPr wrap="square"/>
                    <a:lstStyle/>
                    <a:p>
                      <a:pPr algn="ctr"/>
                      <a:r>
                        <a:rPr sz="1000" b="1">
                          <a:solidFill>
                            <a:srgbClr val="FFFFFF"/>
                          </a:solidFill>
                          <a:latin typeface="Segoe UI Semibold"/>
                        </a:rPr>
                        <a:t>label</a:t>
                      </a:r>
                    </a:p>
                  </a:txBody>
                  <a:tcPr marL="101600" marR="101600" marT="50800" marB="50800" anchor="ctr">
                    <a:solidFill>
                      <a:srgbClr val="2E7D32"/>
                    </a:solidFill>
                  </a:tcPr>
                </a:tc>
              </a:tr>
              <a:tr h="292608">
                <a:tc>
                  <a:txBody>
                    <a:bodyPr wrap="square"/>
                    <a:lstStyle/>
                    <a:p>
                      <a:pPr algn="l"/>
                      <a:r>
                        <a:rPr sz="950">
                          <a:solidFill>
                            <a:srgbClr val="121B15"/>
                          </a:solidFill>
                          <a:latin typeface="Segoe UI"/>
                        </a:rPr>
                        <a:t>90</a:t>
                      </a:r>
                    </a:p>
                  </a:txBody>
                  <a:tcPr marL="101600" marR="101600" marT="50800" marB="50800" anchor="ctr">
                    <a:solidFill>
                      <a:srgbClr val="FFFFFF"/>
                    </a:solidFill>
                  </a:tcPr>
                </a:tc>
                <a:tc>
                  <a:txBody>
                    <a:bodyPr wrap="square"/>
                    <a:lstStyle/>
                    <a:p>
                      <a:pPr algn="ctr"/>
                      <a:r>
                        <a:rPr sz="950">
                          <a:solidFill>
                            <a:srgbClr val="121B15"/>
                          </a:solidFill>
                          <a:latin typeface="Segoe UI"/>
                        </a:rPr>
                        <a:t>42</a:t>
                      </a:r>
                    </a:p>
                  </a:txBody>
                  <a:tcPr marL="101600" marR="101600" marT="50800" marB="50800" anchor="ctr">
                    <a:solidFill>
                      <a:srgbClr val="FFFFFF"/>
                    </a:solidFill>
                  </a:tcPr>
                </a:tc>
                <a:tc>
                  <a:txBody>
                    <a:bodyPr wrap="square"/>
                    <a:lstStyle/>
                    <a:p>
                      <a:pPr algn="ctr"/>
                      <a:r>
                        <a:rPr sz="950">
                          <a:solidFill>
                            <a:srgbClr val="121B15"/>
                          </a:solidFill>
                          <a:latin typeface="Segoe UI"/>
                        </a:rPr>
                        <a:t>43</a:t>
                      </a:r>
                    </a:p>
                  </a:txBody>
                  <a:tcPr marL="101600" marR="101600" marT="50800" marB="50800" anchor="ctr">
                    <a:solidFill>
                      <a:srgbClr val="FFFFFF"/>
                    </a:solidFill>
                  </a:tcPr>
                </a:tc>
                <a:tc>
                  <a:txBody>
                    <a:bodyPr wrap="square"/>
                    <a:lstStyle/>
                    <a:p>
                      <a:pPr algn="ctr"/>
                      <a:r>
                        <a:rPr sz="950">
                          <a:solidFill>
                            <a:srgbClr val="121B15"/>
                          </a:solidFill>
                          <a:latin typeface="Segoe UI"/>
                        </a:rPr>
                        <a:t>20.9</a:t>
                      </a:r>
                    </a:p>
                  </a:txBody>
                  <a:tcPr marL="101600" marR="101600" marT="50800" marB="50800" anchor="ctr">
                    <a:solidFill>
                      <a:srgbClr val="FFFFFF"/>
                    </a:solidFill>
                  </a:tcPr>
                </a:tc>
                <a:tc>
                  <a:txBody>
                    <a:bodyPr wrap="square"/>
                    <a:lstStyle/>
                    <a:p>
                      <a:pPr algn="ctr"/>
                      <a:r>
                        <a:rPr sz="950">
                          <a:solidFill>
                            <a:srgbClr val="121B15"/>
                          </a:solidFill>
                          <a:latin typeface="Segoe UI"/>
                        </a:rPr>
                        <a:t>82.0</a:t>
                      </a:r>
                    </a:p>
                  </a:txBody>
                  <a:tcPr marL="101600" marR="101600" marT="50800" marB="50800" anchor="ctr">
                    <a:solidFill>
                      <a:srgbClr val="FFFFFF"/>
                    </a:solidFill>
                  </a:tcPr>
                </a:tc>
                <a:tc>
                  <a:txBody>
                    <a:bodyPr wrap="square"/>
                    <a:lstStyle/>
                    <a:p>
                      <a:pPr algn="ctr"/>
                      <a:r>
                        <a:rPr sz="950">
                          <a:solidFill>
                            <a:srgbClr val="121B15"/>
                          </a:solidFill>
                          <a:latin typeface="Segoe UI"/>
                        </a:rPr>
                        <a:t>6.50</a:t>
                      </a:r>
                    </a:p>
                  </a:txBody>
                  <a:tcPr marL="101600" marR="101600" marT="50800" marB="50800" anchor="ctr">
                    <a:solidFill>
                      <a:srgbClr val="FFFFFF"/>
                    </a:solidFill>
                  </a:tcPr>
                </a:tc>
                <a:tc>
                  <a:txBody>
                    <a:bodyPr wrap="square"/>
                    <a:lstStyle/>
                    <a:p>
                      <a:pPr algn="ctr"/>
                      <a:r>
                        <a:rPr sz="950">
                          <a:solidFill>
                            <a:srgbClr val="121B15"/>
                          </a:solidFill>
                          <a:latin typeface="Segoe UI"/>
                        </a:rPr>
                        <a:t>202.9</a:t>
                      </a:r>
                    </a:p>
                  </a:txBody>
                  <a:tcPr marL="101600" marR="101600" marT="50800" marB="50800" anchor="ctr">
                    <a:solidFill>
                      <a:srgbClr val="FFFFFF"/>
                    </a:solidFill>
                  </a:tcPr>
                </a:tc>
                <a:tc>
                  <a:txBody>
                    <a:bodyPr wrap="square"/>
                    <a:lstStyle/>
                    <a:p>
                      <a:pPr algn="ctr"/>
                      <a:r>
                        <a:rPr sz="950">
                          <a:solidFill>
                            <a:srgbClr val="121B15"/>
                          </a:solidFill>
                          <a:latin typeface="Segoe UI"/>
                        </a:rPr>
                        <a:t>rice</a:t>
                      </a:r>
                    </a:p>
                  </a:txBody>
                  <a:tcPr marL="101600" marR="101600" marT="50800" marB="50800" anchor="ctr">
                    <a:solidFill>
                      <a:srgbClr val="FFFFFF"/>
                    </a:solidFill>
                  </a:tcPr>
                </a:tc>
              </a:tr>
              <a:tr h="292608">
                <a:tc>
                  <a:txBody>
                    <a:bodyPr wrap="square"/>
                    <a:lstStyle/>
                    <a:p>
                      <a:pPr algn="l"/>
                      <a:r>
                        <a:rPr sz="950">
                          <a:solidFill>
                            <a:srgbClr val="121B15"/>
                          </a:solidFill>
                          <a:latin typeface="Segoe UI"/>
                        </a:rPr>
                        <a:t>85</a:t>
                      </a:r>
                    </a:p>
                  </a:txBody>
                  <a:tcPr marL="101600" marR="101600" marT="50800" marB="50800" anchor="ctr">
                    <a:solidFill>
                      <a:srgbClr val="EEF5EE"/>
                    </a:solidFill>
                  </a:tcPr>
                </a:tc>
                <a:tc>
                  <a:txBody>
                    <a:bodyPr wrap="square"/>
                    <a:lstStyle/>
                    <a:p>
                      <a:pPr algn="ctr"/>
                      <a:r>
                        <a:rPr sz="950">
                          <a:solidFill>
                            <a:srgbClr val="121B15"/>
                          </a:solidFill>
                          <a:latin typeface="Segoe UI"/>
                        </a:rPr>
                        <a:t>58</a:t>
                      </a:r>
                    </a:p>
                  </a:txBody>
                  <a:tcPr marL="101600" marR="101600" marT="50800" marB="50800" anchor="ctr">
                    <a:solidFill>
                      <a:srgbClr val="EEF5EE"/>
                    </a:solidFill>
                  </a:tcPr>
                </a:tc>
                <a:tc>
                  <a:txBody>
                    <a:bodyPr wrap="square"/>
                    <a:lstStyle/>
                    <a:p>
                      <a:pPr algn="ctr"/>
                      <a:r>
                        <a:rPr sz="950">
                          <a:solidFill>
                            <a:srgbClr val="121B15"/>
                          </a:solidFill>
                          <a:latin typeface="Segoe UI"/>
                        </a:rPr>
                        <a:t>41</a:t>
                      </a:r>
                    </a:p>
                  </a:txBody>
                  <a:tcPr marL="101600" marR="101600" marT="50800" marB="50800" anchor="ctr">
                    <a:solidFill>
                      <a:srgbClr val="EEF5EE"/>
                    </a:solidFill>
                  </a:tcPr>
                </a:tc>
                <a:tc>
                  <a:txBody>
                    <a:bodyPr wrap="square"/>
                    <a:lstStyle/>
                    <a:p>
                      <a:pPr algn="ctr"/>
                      <a:r>
                        <a:rPr sz="950">
                          <a:solidFill>
                            <a:srgbClr val="121B15"/>
                          </a:solidFill>
                          <a:latin typeface="Segoe UI"/>
                        </a:rPr>
                        <a:t>21.8</a:t>
                      </a:r>
                    </a:p>
                  </a:txBody>
                  <a:tcPr marL="101600" marR="101600" marT="50800" marB="50800" anchor="ctr">
                    <a:solidFill>
                      <a:srgbClr val="EEF5EE"/>
                    </a:solidFill>
                  </a:tcPr>
                </a:tc>
                <a:tc>
                  <a:txBody>
                    <a:bodyPr wrap="square"/>
                    <a:lstStyle/>
                    <a:p>
                      <a:pPr algn="ctr"/>
                      <a:r>
                        <a:rPr sz="950">
                          <a:solidFill>
                            <a:srgbClr val="121B15"/>
                          </a:solidFill>
                          <a:latin typeface="Segoe UI"/>
                        </a:rPr>
                        <a:t>80.3</a:t>
                      </a:r>
                    </a:p>
                  </a:txBody>
                  <a:tcPr marL="101600" marR="101600" marT="50800" marB="50800" anchor="ctr">
                    <a:solidFill>
                      <a:srgbClr val="EEF5EE"/>
                    </a:solidFill>
                  </a:tcPr>
                </a:tc>
                <a:tc>
                  <a:txBody>
                    <a:bodyPr wrap="square"/>
                    <a:lstStyle/>
                    <a:p>
                      <a:pPr algn="ctr"/>
                      <a:r>
                        <a:rPr sz="950">
                          <a:solidFill>
                            <a:srgbClr val="121B15"/>
                          </a:solidFill>
                          <a:latin typeface="Segoe UI"/>
                        </a:rPr>
                        <a:t>7.04</a:t>
                      </a:r>
                    </a:p>
                  </a:txBody>
                  <a:tcPr marL="101600" marR="101600" marT="50800" marB="50800" anchor="ctr">
                    <a:solidFill>
                      <a:srgbClr val="EEF5EE"/>
                    </a:solidFill>
                  </a:tcPr>
                </a:tc>
                <a:tc>
                  <a:txBody>
                    <a:bodyPr wrap="square"/>
                    <a:lstStyle/>
                    <a:p>
                      <a:pPr algn="ctr"/>
                      <a:r>
                        <a:rPr sz="950">
                          <a:solidFill>
                            <a:srgbClr val="121B15"/>
                          </a:solidFill>
                          <a:latin typeface="Segoe UI"/>
                        </a:rPr>
                        <a:t>226.7</a:t>
                      </a:r>
                    </a:p>
                  </a:txBody>
                  <a:tcPr marL="101600" marR="101600" marT="50800" marB="50800" anchor="ctr">
                    <a:solidFill>
                      <a:srgbClr val="EEF5EE"/>
                    </a:solidFill>
                  </a:tcPr>
                </a:tc>
                <a:tc>
                  <a:txBody>
                    <a:bodyPr wrap="square"/>
                    <a:lstStyle/>
                    <a:p>
                      <a:pPr algn="ctr"/>
                      <a:r>
                        <a:rPr sz="950">
                          <a:solidFill>
                            <a:srgbClr val="121B15"/>
                          </a:solidFill>
                          <a:latin typeface="Segoe UI"/>
                        </a:rPr>
                        <a:t>rice</a:t>
                      </a:r>
                    </a:p>
                  </a:txBody>
                  <a:tcPr marL="101600" marR="101600" marT="50800" marB="50800" anchor="ctr">
                    <a:solidFill>
                      <a:srgbClr val="EEF5EE"/>
                    </a:solidFill>
                  </a:tcPr>
                </a:tc>
              </a:tr>
              <a:tr h="292608">
                <a:tc>
                  <a:txBody>
                    <a:bodyPr wrap="square"/>
                    <a:lstStyle/>
                    <a:p>
                      <a:pPr algn="l"/>
                      <a:r>
                        <a:rPr sz="950">
                          <a:solidFill>
                            <a:srgbClr val="121B15"/>
                          </a:solidFill>
                          <a:latin typeface="Segoe UI"/>
                        </a:rPr>
                        <a:t>71</a:t>
                      </a:r>
                    </a:p>
                  </a:txBody>
                  <a:tcPr marL="101600" marR="101600" marT="50800" marB="50800" anchor="ctr">
                    <a:solidFill>
                      <a:srgbClr val="FFFFFF"/>
                    </a:solidFill>
                  </a:tcPr>
                </a:tc>
                <a:tc>
                  <a:txBody>
                    <a:bodyPr wrap="square"/>
                    <a:lstStyle/>
                    <a:p>
                      <a:pPr algn="ctr"/>
                      <a:r>
                        <a:rPr sz="950">
                          <a:solidFill>
                            <a:srgbClr val="121B15"/>
                          </a:solidFill>
                          <a:latin typeface="Segoe UI"/>
                        </a:rPr>
                        <a:t>54</a:t>
                      </a:r>
                    </a:p>
                  </a:txBody>
                  <a:tcPr marL="101600" marR="101600" marT="50800" marB="50800" anchor="ctr">
                    <a:solidFill>
                      <a:srgbClr val="FFFFFF"/>
                    </a:solidFill>
                  </a:tcPr>
                </a:tc>
                <a:tc>
                  <a:txBody>
                    <a:bodyPr wrap="square"/>
                    <a:lstStyle/>
                    <a:p>
                      <a:pPr algn="ctr"/>
                      <a:r>
                        <a:rPr sz="950">
                          <a:solidFill>
                            <a:srgbClr val="121B15"/>
                          </a:solidFill>
                          <a:latin typeface="Segoe UI"/>
                        </a:rPr>
                        <a:t>16</a:t>
                      </a:r>
                    </a:p>
                  </a:txBody>
                  <a:tcPr marL="101600" marR="101600" marT="50800" marB="50800" anchor="ctr">
                    <a:solidFill>
                      <a:srgbClr val="FFFFFF"/>
                    </a:solidFill>
                  </a:tcPr>
                </a:tc>
                <a:tc>
                  <a:txBody>
                    <a:bodyPr wrap="square"/>
                    <a:lstStyle/>
                    <a:p>
                      <a:pPr algn="ctr"/>
                      <a:r>
                        <a:rPr sz="950">
                          <a:solidFill>
                            <a:srgbClr val="121B15"/>
                          </a:solidFill>
                          <a:latin typeface="Segoe UI"/>
                        </a:rPr>
                        <a:t>22.6</a:t>
                      </a:r>
                    </a:p>
                  </a:txBody>
                  <a:tcPr marL="101600" marR="101600" marT="50800" marB="50800" anchor="ctr">
                    <a:solidFill>
                      <a:srgbClr val="FFFFFF"/>
                    </a:solidFill>
                  </a:tcPr>
                </a:tc>
                <a:tc>
                  <a:txBody>
                    <a:bodyPr wrap="square"/>
                    <a:lstStyle/>
                    <a:p>
                      <a:pPr algn="ctr"/>
                      <a:r>
                        <a:rPr sz="950">
                          <a:solidFill>
                            <a:srgbClr val="121B15"/>
                          </a:solidFill>
                          <a:latin typeface="Segoe UI"/>
                        </a:rPr>
                        <a:t>63.7</a:t>
                      </a:r>
                    </a:p>
                  </a:txBody>
                  <a:tcPr marL="101600" marR="101600" marT="50800" marB="50800" anchor="ctr">
                    <a:solidFill>
                      <a:srgbClr val="FFFFFF"/>
                    </a:solidFill>
                  </a:tcPr>
                </a:tc>
                <a:tc>
                  <a:txBody>
                    <a:bodyPr wrap="square"/>
                    <a:lstStyle/>
                    <a:p>
                      <a:pPr algn="ctr"/>
                      <a:r>
                        <a:rPr sz="950">
                          <a:solidFill>
                            <a:srgbClr val="121B15"/>
                          </a:solidFill>
                          <a:latin typeface="Segoe UI"/>
                        </a:rPr>
                        <a:t>5.75</a:t>
                      </a:r>
                    </a:p>
                  </a:txBody>
                  <a:tcPr marL="101600" marR="101600" marT="50800" marB="50800" anchor="ctr">
                    <a:solidFill>
                      <a:srgbClr val="FFFFFF"/>
                    </a:solidFill>
                  </a:tcPr>
                </a:tc>
                <a:tc>
                  <a:txBody>
                    <a:bodyPr wrap="square"/>
                    <a:lstStyle/>
                    <a:p>
                      <a:pPr algn="ctr"/>
                      <a:r>
                        <a:rPr sz="950">
                          <a:solidFill>
                            <a:srgbClr val="121B15"/>
                          </a:solidFill>
                          <a:latin typeface="Segoe UI"/>
                        </a:rPr>
                        <a:t>87.8</a:t>
                      </a:r>
                    </a:p>
                  </a:txBody>
                  <a:tcPr marL="101600" marR="101600" marT="50800" marB="50800" anchor="ctr">
                    <a:solidFill>
                      <a:srgbClr val="FFFFFF"/>
                    </a:solidFill>
                  </a:tcPr>
                </a:tc>
                <a:tc>
                  <a:txBody>
                    <a:bodyPr wrap="square"/>
                    <a:lstStyle/>
                    <a:p>
                      <a:pPr algn="ctr"/>
                      <a:r>
                        <a:rPr sz="950">
                          <a:solidFill>
                            <a:srgbClr val="121B15"/>
                          </a:solidFill>
                          <a:latin typeface="Segoe UI"/>
                        </a:rPr>
                        <a:t>maize</a:t>
                      </a:r>
                    </a:p>
                  </a:txBody>
                  <a:tcPr marL="101600" marR="101600" marT="50800" marB="50800" anchor="ctr">
                    <a:solidFill>
                      <a:srgbClr val="FFFFFF"/>
                    </a:solidFill>
                  </a:tcPr>
                </a:tc>
              </a:tr>
              <a:tr h="292608">
                <a:tc>
                  <a:txBody>
                    <a:bodyPr wrap="square"/>
                    <a:lstStyle/>
                    <a:p>
                      <a:pPr algn="l"/>
                      <a:r>
                        <a:rPr sz="950">
                          <a:solidFill>
                            <a:srgbClr val="121B15"/>
                          </a:solidFill>
                          <a:latin typeface="Segoe UI"/>
                        </a:rPr>
                        <a:t>20</a:t>
                      </a:r>
                    </a:p>
                  </a:txBody>
                  <a:tcPr marL="101600" marR="101600" marT="50800" marB="50800" anchor="ctr">
                    <a:solidFill>
                      <a:srgbClr val="EEF5EE"/>
                    </a:solidFill>
                  </a:tcPr>
                </a:tc>
                <a:tc>
                  <a:txBody>
                    <a:bodyPr wrap="square"/>
                    <a:lstStyle/>
                    <a:p>
                      <a:pPr algn="ctr"/>
                      <a:r>
                        <a:rPr sz="950">
                          <a:solidFill>
                            <a:srgbClr val="121B15"/>
                          </a:solidFill>
                          <a:latin typeface="Segoe UI"/>
                        </a:rPr>
                        <a:t>67</a:t>
                      </a:r>
                    </a:p>
                  </a:txBody>
                  <a:tcPr marL="101600" marR="101600" marT="50800" marB="50800" anchor="ctr">
                    <a:solidFill>
                      <a:srgbClr val="EEF5EE"/>
                    </a:solidFill>
                  </a:tcPr>
                </a:tc>
                <a:tc>
                  <a:txBody>
                    <a:bodyPr wrap="square"/>
                    <a:lstStyle/>
                    <a:p>
                      <a:pPr algn="ctr"/>
                      <a:r>
                        <a:rPr sz="950">
                          <a:solidFill>
                            <a:srgbClr val="121B15"/>
                          </a:solidFill>
                          <a:latin typeface="Segoe UI"/>
                        </a:rPr>
                        <a:t>20</a:t>
                      </a:r>
                    </a:p>
                  </a:txBody>
                  <a:tcPr marL="101600" marR="101600" marT="50800" marB="50800" anchor="ctr">
                    <a:solidFill>
                      <a:srgbClr val="EEF5EE"/>
                    </a:solidFill>
                  </a:tcPr>
                </a:tc>
                <a:tc>
                  <a:txBody>
                    <a:bodyPr wrap="square"/>
                    <a:lstStyle/>
                    <a:p>
                      <a:pPr algn="ctr"/>
                      <a:r>
                        <a:rPr sz="950">
                          <a:solidFill>
                            <a:srgbClr val="121B15"/>
                          </a:solidFill>
                          <a:latin typeface="Segoe UI"/>
                        </a:rPr>
                        <a:t>17.0</a:t>
                      </a:r>
                    </a:p>
                  </a:txBody>
                  <a:tcPr marL="101600" marR="101600" marT="50800" marB="50800" anchor="ctr">
                    <a:solidFill>
                      <a:srgbClr val="EEF5EE"/>
                    </a:solidFill>
                  </a:tcPr>
                </a:tc>
                <a:tc>
                  <a:txBody>
                    <a:bodyPr wrap="square"/>
                    <a:lstStyle/>
                    <a:p>
                      <a:pPr algn="ctr"/>
                      <a:r>
                        <a:rPr sz="950">
                          <a:solidFill>
                            <a:srgbClr val="121B15"/>
                          </a:solidFill>
                          <a:latin typeface="Segoe UI"/>
                        </a:rPr>
                        <a:t>16.9</a:t>
                      </a:r>
                    </a:p>
                  </a:txBody>
                  <a:tcPr marL="101600" marR="101600" marT="50800" marB="50800" anchor="ctr">
                    <a:solidFill>
                      <a:srgbClr val="EEF5EE"/>
                    </a:solidFill>
                  </a:tcPr>
                </a:tc>
                <a:tc>
                  <a:txBody>
                    <a:bodyPr wrap="square"/>
                    <a:lstStyle/>
                    <a:p>
                      <a:pPr algn="ctr"/>
                      <a:r>
                        <a:rPr sz="950">
                          <a:solidFill>
                            <a:srgbClr val="121B15"/>
                          </a:solidFill>
                          <a:latin typeface="Segoe UI"/>
                        </a:rPr>
                        <a:t>7.63</a:t>
                      </a:r>
                    </a:p>
                  </a:txBody>
                  <a:tcPr marL="101600" marR="101600" marT="50800" marB="50800" anchor="ctr">
                    <a:solidFill>
                      <a:srgbClr val="EEF5EE"/>
                    </a:solidFill>
                  </a:tcPr>
                </a:tc>
                <a:tc>
                  <a:txBody>
                    <a:bodyPr wrap="square"/>
                    <a:lstStyle/>
                    <a:p>
                      <a:pPr algn="ctr"/>
                      <a:r>
                        <a:rPr sz="950">
                          <a:solidFill>
                            <a:srgbClr val="121B15"/>
                          </a:solidFill>
                          <a:latin typeface="Segoe UI"/>
                        </a:rPr>
                        <a:t>88.6</a:t>
                      </a:r>
                    </a:p>
                  </a:txBody>
                  <a:tcPr marL="101600" marR="101600" marT="50800" marB="50800" anchor="ctr">
                    <a:solidFill>
                      <a:srgbClr val="EEF5EE"/>
                    </a:solidFill>
                  </a:tcPr>
                </a:tc>
                <a:tc>
                  <a:txBody>
                    <a:bodyPr wrap="square"/>
                    <a:lstStyle/>
                    <a:p>
                      <a:pPr algn="ctr"/>
                      <a:r>
                        <a:rPr sz="950">
                          <a:solidFill>
                            <a:srgbClr val="121B15"/>
                          </a:solidFill>
                          <a:latin typeface="Segoe UI"/>
                        </a:rPr>
                        <a:t>chickpea</a:t>
                      </a:r>
                    </a:p>
                  </a:txBody>
                  <a:tcPr marL="101600" marR="101600" marT="50800" marB="50800" anchor="ctr">
                    <a:solidFill>
                      <a:srgbClr val="EEF5EE"/>
                    </a:solidFill>
                  </a:tcPr>
                </a:tc>
              </a:tr>
            </a:tbl>
          </a:graphicData>
        </a:graphic>
      </p:graphicFrame>
      <p:sp>
        <p:nvSpPr>
          <p:cNvPr id="21" name="TextBox 20"/>
          <p:cNvSpPr txBox="1"/>
          <p:nvPr/>
        </p:nvSpPr>
        <p:spPr>
          <a:xfrm>
            <a:off x="6537960" y="3456432"/>
            <a:ext cx="5120640" cy="274320"/>
          </a:xfrm>
          <a:prstGeom prst="rect">
            <a:avLst/>
          </a:prstGeom>
          <a:noFill/>
        </p:spPr>
        <p:txBody>
          <a:bodyPr wrap="square" anchor="t" lIns="0" rIns="0" tIns="0" bIns="0">
            <a:spAutoFit/>
          </a:bodyPr>
          <a:lstStyle/>
          <a:p>
            <a:pPr algn="l">
              <a:lnSpc>
                <a:spcPct val="100000"/>
              </a:lnSpc>
              <a:spcAft>
                <a:spcPts val="0"/>
              </a:spcAft>
            </a:pPr>
            <a:r>
              <a:rPr sz="950" b="0" i="1">
                <a:solidFill>
                  <a:srgbClr val="5B6B60"/>
                </a:solidFill>
                <a:latin typeface="Segoe UI"/>
              </a:rPr>
              <a:t>Sample rows from ml/datasets/crop_recommendation.csv</a:t>
            </a:r>
          </a:p>
        </p:txBody>
      </p:sp>
      <p:sp>
        <p:nvSpPr>
          <p:cNvPr id="22" name="Rounded Rectangle 21"/>
          <p:cNvSpPr/>
          <p:nvPr/>
        </p:nvSpPr>
        <p:spPr>
          <a:xfrm>
            <a:off x="6537960" y="3886200"/>
            <a:ext cx="5120640" cy="2423160"/>
          </a:xfrm>
          <a:prstGeom prst="roundRect">
            <a:avLst>
              <a:gd name="adj" fmla="val 8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4069080"/>
            <a:ext cx="45720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66BB6A"/>
                </a:solidFill>
                <a:latin typeface="Segoe UI Semibold"/>
              </a:rPr>
              <a:t>Why this dataset is suitable</a:t>
            </a:r>
          </a:p>
        </p:txBody>
      </p:sp>
      <p:sp>
        <p:nvSpPr>
          <p:cNvPr id="24" name="TextBox 23"/>
          <p:cNvSpPr txBox="1"/>
          <p:nvPr/>
        </p:nvSpPr>
        <p:spPr>
          <a:xfrm>
            <a:off x="6812280" y="4480560"/>
            <a:ext cx="4663440" cy="1737360"/>
          </a:xfrm>
          <a:prstGeom prst="rect">
            <a:avLst/>
          </a:prstGeom>
          <a:noFill/>
        </p:spPr>
        <p:txBody>
          <a:bodyPr wrap="square" anchor="t" lIns="0" rIns="0" tIns="0" bIns="0">
            <a:spAutoFit/>
          </a:bodyPr>
          <a:lstStyle/>
          <a:p>
            <a:pPr algn="l">
              <a:lnSpc>
                <a:spcPct val="130000"/>
              </a:lnSpc>
              <a:spcAft>
                <a:spcPts val="600"/>
              </a:spcAft>
            </a:pPr>
            <a:r>
              <a:rPr sz="1150" b="0" i="0">
                <a:solidFill>
                  <a:srgbClr val="FFFFFF"/>
                </a:solidFill>
                <a:latin typeface="Segoe UI"/>
              </a:rPr>
              <a:t>•  Matches farmer-supplied soil + weather inputs directly</a:t>
            </a:r>
          </a:p>
          <a:p>
            <a:pPr algn="l">
              <a:lnSpc>
                <a:spcPct val="130000"/>
              </a:lnSpc>
              <a:spcAft>
                <a:spcPts val="600"/>
              </a:spcAft>
            </a:pPr>
            <a:r>
              <a:rPr sz="1150" b="0" i="0">
                <a:solidFill>
                  <a:srgbClr val="FFFFFF"/>
                </a:solidFill>
                <a:latin typeface="Segoe UI"/>
              </a:rPr>
              <a:t>•  Balanced: 100 samples/crop, no imbalance handling needed</a:t>
            </a:r>
          </a:p>
          <a:p>
            <a:pPr algn="l">
              <a:lnSpc>
                <a:spcPct val="130000"/>
              </a:lnSpc>
              <a:spcAft>
                <a:spcPts val="600"/>
              </a:spcAft>
            </a:pPr>
            <a:r>
              <a:rPr sz="1150" b="0" i="0">
                <a:solidFill>
                  <a:srgbClr val="FFFFFF"/>
                </a:solidFill>
                <a:latin typeface="Segoe UI"/>
              </a:rPr>
              <a:t>•  Retrains fast; large enough for a valid 80/20 split</a:t>
            </a:r>
          </a:p>
          <a:p>
            <a:pPr algn="l">
              <a:lnSpc>
                <a:spcPct val="130000"/>
              </a:lnSpc>
              <a:spcAft>
                <a:spcPts val="600"/>
              </a:spcAft>
            </a:pPr>
            <a:r>
              <a:rPr sz="1150" b="0" i="0">
                <a:solidFill>
                  <a:srgbClr val="FFFFFF"/>
                </a:solidFill>
                <a:latin typeface="Segoe UI"/>
              </a:rPr>
              <a:t>•  Widely used benchmark — enables literature comparison</a:t>
            </a:r>
          </a:p>
        </p:txBody>
      </p:sp>
      <p:cxnSp>
        <p:nvCxnSpPr>
          <p:cNvPr id="25" name="Connector 24"/>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27" name="TextBox 26"/>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DATASET</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Feature Ranges &amp; Crop Classes</a:t>
            </a:r>
          </a:p>
        </p:txBody>
      </p:sp>
      <p:graphicFrame>
        <p:nvGraphicFramePr>
          <p:cNvPr id="6" name="Table 5"/>
          <p:cNvGraphicFramePr>
            <a:graphicFrameLocks noGrp="1"/>
          </p:cNvGraphicFramePr>
          <p:nvPr/>
        </p:nvGraphicFramePr>
        <p:xfrm>
          <a:off x="640080" y="1463040"/>
          <a:ext cx="5577839" cy="4096512"/>
        </p:xfrm>
        <a:graphic>
          <a:graphicData uri="http://schemas.openxmlformats.org/drawingml/2006/table">
            <a:tbl>
              <a:tblPr firstRow="1" bandRow="1">
                <a:tableStyleId>{5C22544A-7EE6-4342-B048-85BDC9FD1C3A}</a:tableStyleId>
              </a:tblPr>
              <a:tblGrid>
                <a:gridCol w="1301495"/>
                <a:gridCol w="2788920"/>
                <a:gridCol w="1487424"/>
              </a:tblGrid>
              <a:tr h="512064">
                <a:tc>
                  <a:txBody>
                    <a:bodyPr wrap="square"/>
                    <a:lstStyle/>
                    <a:p>
                      <a:pPr algn="l"/>
                      <a:r>
                        <a:rPr sz="1250" b="1">
                          <a:solidFill>
                            <a:srgbClr val="FFFFFF"/>
                          </a:solidFill>
                          <a:latin typeface="Segoe UI Semibold"/>
                        </a:rPr>
                        <a:t>Feature</a:t>
                      </a:r>
                    </a:p>
                  </a:txBody>
                  <a:tcPr marL="101600" marR="101600" marT="50800" marB="50800" anchor="ctr">
                    <a:solidFill>
                      <a:srgbClr val="2E7D32"/>
                    </a:solidFill>
                  </a:tcPr>
                </a:tc>
                <a:tc>
                  <a:txBody>
                    <a:bodyPr wrap="square"/>
                    <a:lstStyle/>
                    <a:p>
                      <a:pPr algn="ctr"/>
                      <a:r>
                        <a:rPr sz="1250" b="1">
                          <a:solidFill>
                            <a:srgbClr val="FFFFFF"/>
                          </a:solidFill>
                          <a:latin typeface="Segoe UI Semibold"/>
                        </a:rPr>
                        <a:t>Meaning</a:t>
                      </a:r>
                    </a:p>
                  </a:txBody>
                  <a:tcPr marL="101600" marR="101600" marT="50800" marB="50800" anchor="ctr">
                    <a:solidFill>
                      <a:srgbClr val="2E7D32"/>
                    </a:solidFill>
                  </a:tcPr>
                </a:tc>
                <a:tc>
                  <a:txBody>
                    <a:bodyPr wrap="square"/>
                    <a:lstStyle/>
                    <a:p>
                      <a:pPr algn="ctr"/>
                      <a:r>
                        <a:rPr sz="1250" b="1">
                          <a:solidFill>
                            <a:srgbClr val="FFFFFF"/>
                          </a:solidFill>
                          <a:latin typeface="Segoe UI Semibold"/>
                        </a:rPr>
                        <a:t>Typical Range</a:t>
                      </a:r>
                    </a:p>
                  </a:txBody>
                  <a:tcPr marL="101600" marR="101600" marT="50800" marB="50800" anchor="ctr">
                    <a:solidFill>
                      <a:srgbClr val="2E7D32"/>
                    </a:solidFill>
                  </a:tcPr>
                </a:tc>
              </a:tr>
              <a:tr h="512064">
                <a:tc>
                  <a:txBody>
                    <a:bodyPr wrap="square"/>
                    <a:lstStyle/>
                    <a:p>
                      <a:pPr algn="l"/>
                      <a:r>
                        <a:rPr sz="1150">
                          <a:solidFill>
                            <a:srgbClr val="121B15"/>
                          </a:solidFill>
                          <a:latin typeface="Segoe UI"/>
                        </a:rPr>
                        <a:t>N</a:t>
                      </a:r>
                    </a:p>
                  </a:txBody>
                  <a:tcPr marL="101600" marR="101600" marT="50800" marB="50800" anchor="ctr">
                    <a:solidFill>
                      <a:srgbClr val="FFFFFF"/>
                    </a:solidFill>
                  </a:tcPr>
                </a:tc>
                <a:tc>
                  <a:txBody>
                    <a:bodyPr wrap="square"/>
                    <a:lstStyle/>
                    <a:p>
                      <a:pPr algn="ctr"/>
                      <a:r>
                        <a:rPr sz="1150">
                          <a:solidFill>
                            <a:srgbClr val="121B15"/>
                          </a:solidFill>
                          <a:latin typeface="Segoe UI"/>
                        </a:rPr>
                        <a:t>Nitrogen content in soil (kg/ha)</a:t>
                      </a:r>
                    </a:p>
                  </a:txBody>
                  <a:tcPr marL="101600" marR="101600" marT="50800" marB="50800" anchor="ctr">
                    <a:solidFill>
                      <a:srgbClr val="FFFFFF"/>
                    </a:solidFill>
                  </a:tcPr>
                </a:tc>
                <a:tc>
                  <a:txBody>
                    <a:bodyPr wrap="square"/>
                    <a:lstStyle/>
                    <a:p>
                      <a:pPr algn="ctr"/>
                      <a:r>
                        <a:rPr sz="1150">
                          <a:solidFill>
                            <a:srgbClr val="121B15"/>
                          </a:solidFill>
                          <a:latin typeface="Segoe UI"/>
                        </a:rPr>
                        <a:t>0 - 140</a:t>
                      </a:r>
                    </a:p>
                  </a:txBody>
                  <a:tcPr marL="101600" marR="101600" marT="50800" marB="50800" anchor="ctr">
                    <a:solidFill>
                      <a:srgbClr val="FFFFFF"/>
                    </a:solidFill>
                  </a:tcPr>
                </a:tc>
              </a:tr>
              <a:tr h="512064">
                <a:tc>
                  <a:txBody>
                    <a:bodyPr wrap="square"/>
                    <a:lstStyle/>
                    <a:p>
                      <a:pPr algn="l"/>
                      <a:r>
                        <a:rPr sz="1150">
                          <a:solidFill>
                            <a:srgbClr val="121B15"/>
                          </a:solidFill>
                          <a:latin typeface="Segoe UI"/>
                        </a:rPr>
                        <a:t>P</a:t>
                      </a:r>
                    </a:p>
                  </a:txBody>
                  <a:tcPr marL="101600" marR="101600" marT="50800" marB="50800" anchor="ctr">
                    <a:solidFill>
                      <a:srgbClr val="EEF5EE"/>
                    </a:solidFill>
                  </a:tcPr>
                </a:tc>
                <a:tc>
                  <a:txBody>
                    <a:bodyPr wrap="square"/>
                    <a:lstStyle/>
                    <a:p>
                      <a:pPr algn="ctr"/>
                      <a:r>
                        <a:rPr sz="1150">
                          <a:solidFill>
                            <a:srgbClr val="121B15"/>
                          </a:solidFill>
                          <a:latin typeface="Segoe UI"/>
                        </a:rPr>
                        <a:t>Phosphorus content in soil (kg/ha)</a:t>
                      </a:r>
                    </a:p>
                  </a:txBody>
                  <a:tcPr marL="101600" marR="101600" marT="50800" marB="50800" anchor="ctr">
                    <a:solidFill>
                      <a:srgbClr val="EEF5EE"/>
                    </a:solidFill>
                  </a:tcPr>
                </a:tc>
                <a:tc>
                  <a:txBody>
                    <a:bodyPr wrap="square"/>
                    <a:lstStyle/>
                    <a:p>
                      <a:pPr algn="ctr"/>
                      <a:r>
                        <a:rPr sz="1150">
                          <a:solidFill>
                            <a:srgbClr val="121B15"/>
                          </a:solidFill>
                          <a:latin typeface="Segoe UI"/>
                        </a:rPr>
                        <a:t>5 - 145</a:t>
                      </a:r>
                    </a:p>
                  </a:txBody>
                  <a:tcPr marL="101600" marR="101600" marT="50800" marB="50800" anchor="ctr">
                    <a:solidFill>
                      <a:srgbClr val="EEF5EE"/>
                    </a:solidFill>
                  </a:tcPr>
                </a:tc>
              </a:tr>
              <a:tr h="512064">
                <a:tc>
                  <a:txBody>
                    <a:bodyPr wrap="square"/>
                    <a:lstStyle/>
                    <a:p>
                      <a:pPr algn="l"/>
                      <a:r>
                        <a:rPr sz="1150">
                          <a:solidFill>
                            <a:srgbClr val="121B15"/>
                          </a:solidFill>
                          <a:latin typeface="Segoe UI"/>
                        </a:rPr>
                        <a:t>K</a:t>
                      </a:r>
                    </a:p>
                  </a:txBody>
                  <a:tcPr marL="101600" marR="101600" marT="50800" marB="50800" anchor="ctr">
                    <a:solidFill>
                      <a:srgbClr val="FFFFFF"/>
                    </a:solidFill>
                  </a:tcPr>
                </a:tc>
                <a:tc>
                  <a:txBody>
                    <a:bodyPr wrap="square"/>
                    <a:lstStyle/>
                    <a:p>
                      <a:pPr algn="ctr"/>
                      <a:r>
                        <a:rPr sz="1150">
                          <a:solidFill>
                            <a:srgbClr val="121B15"/>
                          </a:solidFill>
                          <a:latin typeface="Segoe UI"/>
                        </a:rPr>
                        <a:t>Potassium content in soil (kg/ha)</a:t>
                      </a:r>
                    </a:p>
                  </a:txBody>
                  <a:tcPr marL="101600" marR="101600" marT="50800" marB="50800" anchor="ctr">
                    <a:solidFill>
                      <a:srgbClr val="FFFFFF"/>
                    </a:solidFill>
                  </a:tcPr>
                </a:tc>
                <a:tc>
                  <a:txBody>
                    <a:bodyPr wrap="square"/>
                    <a:lstStyle/>
                    <a:p>
                      <a:pPr algn="ctr"/>
                      <a:r>
                        <a:rPr sz="1150">
                          <a:solidFill>
                            <a:srgbClr val="121B15"/>
                          </a:solidFill>
                          <a:latin typeface="Segoe UI"/>
                        </a:rPr>
                        <a:t>5 - 205</a:t>
                      </a:r>
                    </a:p>
                  </a:txBody>
                  <a:tcPr marL="101600" marR="101600" marT="50800" marB="50800" anchor="ctr">
                    <a:solidFill>
                      <a:srgbClr val="FFFFFF"/>
                    </a:solidFill>
                  </a:tcPr>
                </a:tc>
              </a:tr>
              <a:tr h="512064">
                <a:tc>
                  <a:txBody>
                    <a:bodyPr wrap="square"/>
                    <a:lstStyle/>
                    <a:p>
                      <a:pPr algn="l"/>
                      <a:r>
                        <a:rPr sz="1150">
                          <a:solidFill>
                            <a:srgbClr val="121B15"/>
                          </a:solidFill>
                          <a:latin typeface="Segoe UI"/>
                        </a:rPr>
                        <a:t>temperature</a:t>
                      </a:r>
                    </a:p>
                  </a:txBody>
                  <a:tcPr marL="101600" marR="101600" marT="50800" marB="50800" anchor="ctr">
                    <a:solidFill>
                      <a:srgbClr val="EEF5EE"/>
                    </a:solidFill>
                  </a:tcPr>
                </a:tc>
                <a:tc>
                  <a:txBody>
                    <a:bodyPr wrap="square"/>
                    <a:lstStyle/>
                    <a:p>
                      <a:pPr algn="ctr"/>
                      <a:r>
                        <a:rPr sz="1150">
                          <a:solidFill>
                            <a:srgbClr val="121B15"/>
                          </a:solidFill>
                          <a:latin typeface="Segoe UI"/>
                        </a:rPr>
                        <a:t>Ambient temperature (deg C)</a:t>
                      </a:r>
                    </a:p>
                  </a:txBody>
                  <a:tcPr marL="101600" marR="101600" marT="50800" marB="50800" anchor="ctr">
                    <a:solidFill>
                      <a:srgbClr val="EEF5EE"/>
                    </a:solidFill>
                  </a:tcPr>
                </a:tc>
                <a:tc>
                  <a:txBody>
                    <a:bodyPr wrap="square"/>
                    <a:lstStyle/>
                    <a:p>
                      <a:pPr algn="ctr"/>
                      <a:r>
                        <a:rPr sz="1150">
                          <a:solidFill>
                            <a:srgbClr val="121B15"/>
                          </a:solidFill>
                          <a:latin typeface="Segoe UI"/>
                        </a:rPr>
                        <a:t>9 - 44</a:t>
                      </a:r>
                    </a:p>
                  </a:txBody>
                  <a:tcPr marL="101600" marR="101600" marT="50800" marB="50800" anchor="ctr">
                    <a:solidFill>
                      <a:srgbClr val="EEF5EE"/>
                    </a:solidFill>
                  </a:tcPr>
                </a:tc>
              </a:tr>
              <a:tr h="512064">
                <a:tc>
                  <a:txBody>
                    <a:bodyPr wrap="square"/>
                    <a:lstStyle/>
                    <a:p>
                      <a:pPr algn="l"/>
                      <a:r>
                        <a:rPr sz="1150">
                          <a:solidFill>
                            <a:srgbClr val="121B15"/>
                          </a:solidFill>
                          <a:latin typeface="Segoe UI"/>
                        </a:rPr>
                        <a:t>humidity</a:t>
                      </a:r>
                    </a:p>
                  </a:txBody>
                  <a:tcPr marL="101600" marR="101600" marT="50800" marB="50800" anchor="ctr">
                    <a:solidFill>
                      <a:srgbClr val="FFFFFF"/>
                    </a:solidFill>
                  </a:tcPr>
                </a:tc>
                <a:tc>
                  <a:txBody>
                    <a:bodyPr wrap="square"/>
                    <a:lstStyle/>
                    <a:p>
                      <a:pPr algn="ctr"/>
                      <a:r>
                        <a:rPr sz="1150">
                          <a:solidFill>
                            <a:srgbClr val="121B15"/>
                          </a:solidFill>
                          <a:latin typeface="Segoe UI"/>
                        </a:rPr>
                        <a:t>Relative humidity (%)</a:t>
                      </a:r>
                    </a:p>
                  </a:txBody>
                  <a:tcPr marL="101600" marR="101600" marT="50800" marB="50800" anchor="ctr">
                    <a:solidFill>
                      <a:srgbClr val="FFFFFF"/>
                    </a:solidFill>
                  </a:tcPr>
                </a:tc>
                <a:tc>
                  <a:txBody>
                    <a:bodyPr wrap="square"/>
                    <a:lstStyle/>
                    <a:p>
                      <a:pPr algn="ctr"/>
                      <a:r>
                        <a:rPr sz="1150">
                          <a:solidFill>
                            <a:srgbClr val="121B15"/>
                          </a:solidFill>
                          <a:latin typeface="Segoe UI"/>
                        </a:rPr>
                        <a:t>14 - 100</a:t>
                      </a:r>
                    </a:p>
                  </a:txBody>
                  <a:tcPr marL="101600" marR="101600" marT="50800" marB="50800" anchor="ctr">
                    <a:solidFill>
                      <a:srgbClr val="FFFFFF"/>
                    </a:solidFill>
                  </a:tcPr>
                </a:tc>
              </a:tr>
              <a:tr h="512064">
                <a:tc>
                  <a:txBody>
                    <a:bodyPr wrap="square"/>
                    <a:lstStyle/>
                    <a:p>
                      <a:pPr algn="l"/>
                      <a:r>
                        <a:rPr sz="1150">
                          <a:solidFill>
                            <a:srgbClr val="121B15"/>
                          </a:solidFill>
                          <a:latin typeface="Segoe UI"/>
                        </a:rPr>
                        <a:t>ph</a:t>
                      </a:r>
                    </a:p>
                  </a:txBody>
                  <a:tcPr marL="101600" marR="101600" marT="50800" marB="50800" anchor="ctr">
                    <a:solidFill>
                      <a:srgbClr val="EEF5EE"/>
                    </a:solidFill>
                  </a:tcPr>
                </a:tc>
                <a:tc>
                  <a:txBody>
                    <a:bodyPr wrap="square"/>
                    <a:lstStyle/>
                    <a:p>
                      <a:pPr algn="ctr"/>
                      <a:r>
                        <a:rPr sz="1150">
                          <a:solidFill>
                            <a:srgbClr val="121B15"/>
                          </a:solidFill>
                          <a:latin typeface="Segoe UI"/>
                        </a:rPr>
                        <a:t>Soil pH</a:t>
                      </a:r>
                    </a:p>
                  </a:txBody>
                  <a:tcPr marL="101600" marR="101600" marT="50800" marB="50800" anchor="ctr">
                    <a:solidFill>
                      <a:srgbClr val="EEF5EE"/>
                    </a:solidFill>
                  </a:tcPr>
                </a:tc>
                <a:tc>
                  <a:txBody>
                    <a:bodyPr wrap="square"/>
                    <a:lstStyle/>
                    <a:p>
                      <a:pPr algn="ctr"/>
                      <a:r>
                        <a:rPr sz="1150">
                          <a:solidFill>
                            <a:srgbClr val="121B15"/>
                          </a:solidFill>
                          <a:latin typeface="Segoe UI"/>
                        </a:rPr>
                        <a:t>3.5 - 10</a:t>
                      </a:r>
                    </a:p>
                  </a:txBody>
                  <a:tcPr marL="101600" marR="101600" marT="50800" marB="50800" anchor="ctr">
                    <a:solidFill>
                      <a:srgbClr val="EEF5EE"/>
                    </a:solidFill>
                  </a:tcPr>
                </a:tc>
              </a:tr>
              <a:tr h="512064">
                <a:tc>
                  <a:txBody>
                    <a:bodyPr wrap="square"/>
                    <a:lstStyle/>
                    <a:p>
                      <a:pPr algn="l"/>
                      <a:r>
                        <a:rPr sz="1150">
                          <a:solidFill>
                            <a:srgbClr val="121B15"/>
                          </a:solidFill>
                          <a:latin typeface="Segoe UI"/>
                        </a:rPr>
                        <a:t>rainfall</a:t>
                      </a:r>
                    </a:p>
                  </a:txBody>
                  <a:tcPr marL="101600" marR="101600" marT="50800" marB="50800" anchor="ctr">
                    <a:solidFill>
                      <a:srgbClr val="FFFFFF"/>
                    </a:solidFill>
                  </a:tcPr>
                </a:tc>
                <a:tc>
                  <a:txBody>
                    <a:bodyPr wrap="square"/>
                    <a:lstStyle/>
                    <a:p>
                      <a:pPr algn="ctr"/>
                      <a:r>
                        <a:rPr sz="1150">
                          <a:solidFill>
                            <a:srgbClr val="121B15"/>
                          </a:solidFill>
                          <a:latin typeface="Segoe UI"/>
                        </a:rPr>
                        <a:t>Rainfall (mm)</a:t>
                      </a:r>
                    </a:p>
                  </a:txBody>
                  <a:tcPr marL="101600" marR="101600" marT="50800" marB="50800" anchor="ctr">
                    <a:solidFill>
                      <a:srgbClr val="FFFFFF"/>
                    </a:solidFill>
                  </a:tcPr>
                </a:tc>
                <a:tc>
                  <a:txBody>
                    <a:bodyPr wrap="square"/>
                    <a:lstStyle/>
                    <a:p>
                      <a:pPr algn="ctr"/>
                      <a:r>
                        <a:rPr sz="1150">
                          <a:solidFill>
                            <a:srgbClr val="121B15"/>
                          </a:solidFill>
                          <a:latin typeface="Segoe UI"/>
                        </a:rPr>
                        <a:t>20 - 300</a:t>
                      </a:r>
                    </a:p>
                  </a:txBody>
                  <a:tcPr marL="101600" marR="101600" marT="50800" marB="50800" anchor="ctr">
                    <a:solidFill>
                      <a:srgbClr val="FFFFFF"/>
                    </a:solidFill>
                  </a:tcPr>
                </a:tc>
              </a:tr>
            </a:tbl>
          </a:graphicData>
        </a:graphic>
      </p:graphicFrame>
      <p:sp>
        <p:nvSpPr>
          <p:cNvPr id="7" name="TextBox 6"/>
          <p:cNvSpPr txBox="1"/>
          <p:nvPr/>
        </p:nvSpPr>
        <p:spPr>
          <a:xfrm>
            <a:off x="6492240" y="1463040"/>
            <a:ext cx="512064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21B15"/>
                </a:solidFill>
                <a:latin typeface="Segoe UI Semibold"/>
              </a:rPr>
              <a:t>22 Crop Classes</a:t>
            </a:r>
          </a:p>
        </p:txBody>
      </p:sp>
      <p:sp>
        <p:nvSpPr>
          <p:cNvPr id="8" name="Rounded Rectangle 7"/>
          <p:cNvSpPr/>
          <p:nvPr/>
        </p:nvSpPr>
        <p:spPr>
          <a:xfrm>
            <a:off x="6492240" y="1965960"/>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rice</a:t>
            </a:r>
          </a:p>
        </p:txBody>
      </p:sp>
      <p:sp>
        <p:nvSpPr>
          <p:cNvPr id="9" name="Rounded Rectangle 8"/>
          <p:cNvSpPr/>
          <p:nvPr/>
        </p:nvSpPr>
        <p:spPr>
          <a:xfrm>
            <a:off x="8238744" y="1965960"/>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maize</a:t>
            </a:r>
          </a:p>
        </p:txBody>
      </p:sp>
      <p:sp>
        <p:nvSpPr>
          <p:cNvPr id="10" name="Rounded Rectangle 9"/>
          <p:cNvSpPr/>
          <p:nvPr/>
        </p:nvSpPr>
        <p:spPr>
          <a:xfrm>
            <a:off x="9985248" y="1965960"/>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chickpea</a:t>
            </a:r>
          </a:p>
        </p:txBody>
      </p:sp>
      <p:sp>
        <p:nvSpPr>
          <p:cNvPr id="11" name="Rounded Rectangle 10"/>
          <p:cNvSpPr/>
          <p:nvPr/>
        </p:nvSpPr>
        <p:spPr>
          <a:xfrm>
            <a:off x="6492240" y="2404872"/>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kidneybeans</a:t>
            </a:r>
          </a:p>
        </p:txBody>
      </p:sp>
      <p:sp>
        <p:nvSpPr>
          <p:cNvPr id="12" name="Rounded Rectangle 11"/>
          <p:cNvSpPr/>
          <p:nvPr/>
        </p:nvSpPr>
        <p:spPr>
          <a:xfrm>
            <a:off x="8238744" y="2404872"/>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pigeonpeas</a:t>
            </a:r>
          </a:p>
        </p:txBody>
      </p:sp>
      <p:sp>
        <p:nvSpPr>
          <p:cNvPr id="13" name="Rounded Rectangle 12"/>
          <p:cNvSpPr/>
          <p:nvPr/>
        </p:nvSpPr>
        <p:spPr>
          <a:xfrm>
            <a:off x="9985248" y="2404872"/>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mothbeans</a:t>
            </a:r>
          </a:p>
        </p:txBody>
      </p:sp>
      <p:sp>
        <p:nvSpPr>
          <p:cNvPr id="14" name="Rounded Rectangle 13"/>
          <p:cNvSpPr/>
          <p:nvPr/>
        </p:nvSpPr>
        <p:spPr>
          <a:xfrm>
            <a:off x="6492240" y="2843784"/>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mungbean</a:t>
            </a:r>
          </a:p>
        </p:txBody>
      </p:sp>
      <p:sp>
        <p:nvSpPr>
          <p:cNvPr id="15" name="Rounded Rectangle 14"/>
          <p:cNvSpPr/>
          <p:nvPr/>
        </p:nvSpPr>
        <p:spPr>
          <a:xfrm>
            <a:off x="8238744" y="2843784"/>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blackgram</a:t>
            </a:r>
          </a:p>
        </p:txBody>
      </p:sp>
      <p:sp>
        <p:nvSpPr>
          <p:cNvPr id="16" name="Rounded Rectangle 15"/>
          <p:cNvSpPr/>
          <p:nvPr/>
        </p:nvSpPr>
        <p:spPr>
          <a:xfrm>
            <a:off x="9985248" y="2843784"/>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lentil</a:t>
            </a:r>
          </a:p>
        </p:txBody>
      </p:sp>
      <p:sp>
        <p:nvSpPr>
          <p:cNvPr id="17" name="Rounded Rectangle 16"/>
          <p:cNvSpPr/>
          <p:nvPr/>
        </p:nvSpPr>
        <p:spPr>
          <a:xfrm>
            <a:off x="6492240" y="3282696"/>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pomegranate</a:t>
            </a:r>
          </a:p>
        </p:txBody>
      </p:sp>
      <p:sp>
        <p:nvSpPr>
          <p:cNvPr id="18" name="Rounded Rectangle 17"/>
          <p:cNvSpPr/>
          <p:nvPr/>
        </p:nvSpPr>
        <p:spPr>
          <a:xfrm>
            <a:off x="8238744" y="3282696"/>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banana</a:t>
            </a:r>
          </a:p>
        </p:txBody>
      </p:sp>
      <p:sp>
        <p:nvSpPr>
          <p:cNvPr id="19" name="Rounded Rectangle 18"/>
          <p:cNvSpPr/>
          <p:nvPr/>
        </p:nvSpPr>
        <p:spPr>
          <a:xfrm>
            <a:off x="9985248" y="3282696"/>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mango</a:t>
            </a:r>
          </a:p>
        </p:txBody>
      </p:sp>
      <p:sp>
        <p:nvSpPr>
          <p:cNvPr id="20" name="Rounded Rectangle 19"/>
          <p:cNvSpPr/>
          <p:nvPr/>
        </p:nvSpPr>
        <p:spPr>
          <a:xfrm>
            <a:off x="6492240" y="3721608"/>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grapes</a:t>
            </a:r>
          </a:p>
        </p:txBody>
      </p:sp>
      <p:sp>
        <p:nvSpPr>
          <p:cNvPr id="21" name="Rounded Rectangle 20"/>
          <p:cNvSpPr/>
          <p:nvPr/>
        </p:nvSpPr>
        <p:spPr>
          <a:xfrm>
            <a:off x="8238744" y="3721608"/>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watermelon</a:t>
            </a:r>
          </a:p>
        </p:txBody>
      </p:sp>
      <p:sp>
        <p:nvSpPr>
          <p:cNvPr id="22" name="Rounded Rectangle 21"/>
          <p:cNvSpPr/>
          <p:nvPr/>
        </p:nvSpPr>
        <p:spPr>
          <a:xfrm>
            <a:off x="9985248" y="3721608"/>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muskmelon</a:t>
            </a:r>
          </a:p>
        </p:txBody>
      </p:sp>
      <p:sp>
        <p:nvSpPr>
          <p:cNvPr id="23" name="Rounded Rectangle 22"/>
          <p:cNvSpPr/>
          <p:nvPr/>
        </p:nvSpPr>
        <p:spPr>
          <a:xfrm>
            <a:off x="6492240" y="4160520"/>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apple</a:t>
            </a:r>
          </a:p>
        </p:txBody>
      </p:sp>
      <p:sp>
        <p:nvSpPr>
          <p:cNvPr id="24" name="Rounded Rectangle 23"/>
          <p:cNvSpPr/>
          <p:nvPr/>
        </p:nvSpPr>
        <p:spPr>
          <a:xfrm>
            <a:off x="8238744" y="4160520"/>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orange</a:t>
            </a:r>
          </a:p>
        </p:txBody>
      </p:sp>
      <p:sp>
        <p:nvSpPr>
          <p:cNvPr id="25" name="Rounded Rectangle 24"/>
          <p:cNvSpPr/>
          <p:nvPr/>
        </p:nvSpPr>
        <p:spPr>
          <a:xfrm>
            <a:off x="9985248" y="4160520"/>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papaya</a:t>
            </a:r>
          </a:p>
        </p:txBody>
      </p:sp>
      <p:sp>
        <p:nvSpPr>
          <p:cNvPr id="26" name="Rounded Rectangle 25"/>
          <p:cNvSpPr/>
          <p:nvPr/>
        </p:nvSpPr>
        <p:spPr>
          <a:xfrm>
            <a:off x="6492240" y="4599432"/>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coconut</a:t>
            </a:r>
          </a:p>
        </p:txBody>
      </p:sp>
      <p:sp>
        <p:nvSpPr>
          <p:cNvPr id="27" name="Rounded Rectangle 26"/>
          <p:cNvSpPr/>
          <p:nvPr/>
        </p:nvSpPr>
        <p:spPr>
          <a:xfrm>
            <a:off x="8238744" y="4599432"/>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cotton</a:t>
            </a:r>
          </a:p>
        </p:txBody>
      </p:sp>
      <p:sp>
        <p:nvSpPr>
          <p:cNvPr id="28" name="Rounded Rectangle 27"/>
          <p:cNvSpPr/>
          <p:nvPr/>
        </p:nvSpPr>
        <p:spPr>
          <a:xfrm>
            <a:off x="9985248" y="4599432"/>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jute</a:t>
            </a:r>
          </a:p>
        </p:txBody>
      </p:sp>
      <p:sp>
        <p:nvSpPr>
          <p:cNvPr id="29" name="Rounded Rectangle 28"/>
          <p:cNvSpPr/>
          <p:nvPr/>
        </p:nvSpPr>
        <p:spPr>
          <a:xfrm>
            <a:off x="6492240" y="5038344"/>
            <a:ext cx="1691640" cy="384048"/>
          </a:xfrm>
          <a:prstGeom prst="roundRect">
            <a:avLst>
              <a:gd name="adj" fmla="val 50000"/>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050" b="1">
                <a:solidFill>
                  <a:srgbClr val="2E7D32"/>
                </a:solidFill>
                <a:latin typeface="Segoe UI Semibold"/>
              </a:rPr>
              <a:t>coffee</a:t>
            </a:r>
          </a:p>
        </p:txBody>
      </p:sp>
      <p:cxnSp>
        <p:nvCxnSpPr>
          <p:cNvPr id="30" name="Connector 29"/>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32" name="TextBox 31"/>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DATA PREPROCESSING</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From Raw CSV to Model-Ready Data</a:t>
            </a:r>
          </a:p>
        </p:txBody>
      </p:sp>
      <p:sp>
        <p:nvSpPr>
          <p:cNvPr id="6" name="Rounded Rectangle 5"/>
          <p:cNvSpPr/>
          <p:nvPr/>
        </p:nvSpPr>
        <p:spPr>
          <a:xfrm>
            <a:off x="2377440" y="1280160"/>
            <a:ext cx="7406640" cy="457200"/>
          </a:xfrm>
          <a:prstGeom prst="roundRect">
            <a:avLst>
              <a:gd name="adj" fmla="val 2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0" y="1280160"/>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Raw Dataset</a:t>
            </a:r>
          </a:p>
          <a:p>
            <a:pPr algn="ctr">
              <a:lnSpc>
                <a:spcPct val="100000"/>
              </a:lnSpc>
              <a:spcAft>
                <a:spcPts val="0"/>
              </a:spcAft>
            </a:pPr>
            <a:r>
              <a:rPr sz="1200" b="1" i="0">
                <a:solidFill>
                  <a:srgbClr val="FFFFFF"/>
                </a:solidFill>
                <a:latin typeface="Segoe UI"/>
              </a:rPr>
              <a:t>(2,200 rows)</a:t>
            </a:r>
          </a:p>
        </p:txBody>
      </p:sp>
      <p:sp>
        <p:nvSpPr>
          <p:cNvPr id="8" name="Isosceles Triangle 7"/>
          <p:cNvSpPr/>
          <p:nvPr/>
        </p:nvSpPr>
        <p:spPr>
          <a:xfrm rot="10800000">
            <a:off x="6012180" y="1755648"/>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77440" y="1847088"/>
            <a:ext cx="7406640" cy="457200"/>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847088"/>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Data Inspection</a:t>
            </a:r>
          </a:p>
          <a:p>
            <a:pPr algn="ctr">
              <a:lnSpc>
                <a:spcPct val="100000"/>
              </a:lnSpc>
              <a:spcAft>
                <a:spcPts val="0"/>
              </a:spcAft>
            </a:pPr>
            <a:r>
              <a:rPr sz="1200" b="1" i="0">
                <a:solidFill>
                  <a:srgbClr val="FFFFFF"/>
                </a:solidFill>
                <a:latin typeface="Segoe UI"/>
              </a:rPr>
              <a:t>(schema + null/duplicate check)</a:t>
            </a:r>
          </a:p>
        </p:txBody>
      </p:sp>
      <p:sp>
        <p:nvSpPr>
          <p:cNvPr id="11" name="Isosceles Triangle 10"/>
          <p:cNvSpPr/>
          <p:nvPr/>
        </p:nvSpPr>
        <p:spPr>
          <a:xfrm rot="10800000">
            <a:off x="6012180" y="2322576"/>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77440" y="2414016"/>
            <a:ext cx="7406640" cy="457200"/>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2414016"/>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Missing / Duplicate Row Check</a:t>
            </a:r>
          </a:p>
          <a:p>
            <a:pPr algn="ctr">
              <a:lnSpc>
                <a:spcPct val="100000"/>
              </a:lnSpc>
              <a:spcAft>
                <a:spcPts val="0"/>
              </a:spcAft>
            </a:pPr>
            <a:r>
              <a:rPr sz="1200" b="1" i="0">
                <a:solidFill>
                  <a:srgbClr val="FFFFFF"/>
                </a:solidFill>
                <a:latin typeface="Segoe UI"/>
              </a:rPr>
              <a:t>(0 missing, 0 duplicates found)</a:t>
            </a:r>
          </a:p>
        </p:txBody>
      </p:sp>
      <p:sp>
        <p:nvSpPr>
          <p:cNvPr id="14" name="Isosceles Triangle 13"/>
          <p:cNvSpPr/>
          <p:nvPr/>
        </p:nvSpPr>
        <p:spPr>
          <a:xfrm rot="10800000">
            <a:off x="6012180" y="2889504"/>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377440" y="2980944"/>
            <a:ext cx="7406640" cy="457200"/>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0320" y="2980944"/>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Feature / Target Separation</a:t>
            </a:r>
          </a:p>
          <a:p>
            <a:pPr algn="ctr">
              <a:lnSpc>
                <a:spcPct val="100000"/>
              </a:lnSpc>
              <a:spcAft>
                <a:spcPts val="0"/>
              </a:spcAft>
            </a:pPr>
            <a:r>
              <a:rPr sz="1200" b="1" i="0">
                <a:solidFill>
                  <a:srgbClr val="FFFFFF"/>
                </a:solidFill>
                <a:latin typeface="Segoe UI"/>
              </a:rPr>
              <a:t>(7 features vs. crop label)</a:t>
            </a:r>
          </a:p>
        </p:txBody>
      </p:sp>
      <p:sp>
        <p:nvSpPr>
          <p:cNvPr id="17" name="Isosceles Triangle 16"/>
          <p:cNvSpPr/>
          <p:nvPr/>
        </p:nvSpPr>
        <p:spPr>
          <a:xfrm rot="10800000">
            <a:off x="6012180" y="3456432"/>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377440" y="3547872"/>
            <a:ext cx="7406640" cy="457200"/>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0" y="3547872"/>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Label Encoding</a:t>
            </a:r>
          </a:p>
          <a:p>
            <a:pPr algn="ctr">
              <a:lnSpc>
                <a:spcPct val="100000"/>
              </a:lnSpc>
              <a:spcAft>
                <a:spcPts val="0"/>
              </a:spcAft>
            </a:pPr>
            <a:r>
              <a:rPr sz="1200" b="1" i="0">
                <a:solidFill>
                  <a:srgbClr val="FFFFFF"/>
                </a:solidFill>
                <a:latin typeface="Segoe UI"/>
              </a:rPr>
              <a:t>(22 crop classes -&gt; integers)</a:t>
            </a:r>
          </a:p>
        </p:txBody>
      </p:sp>
      <p:sp>
        <p:nvSpPr>
          <p:cNvPr id="20" name="Isosceles Triangle 19"/>
          <p:cNvSpPr/>
          <p:nvPr/>
        </p:nvSpPr>
        <p:spPr>
          <a:xfrm rot="10800000">
            <a:off x="6012180" y="4023360"/>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377440" y="4114800"/>
            <a:ext cx="7406640" cy="457200"/>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0" y="4114800"/>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Stratified 80/20 Train/Test Split</a:t>
            </a:r>
          </a:p>
          <a:p>
            <a:pPr algn="ctr">
              <a:lnSpc>
                <a:spcPct val="100000"/>
              </a:lnSpc>
              <a:spcAft>
                <a:spcPts val="0"/>
              </a:spcAft>
            </a:pPr>
            <a:r>
              <a:rPr sz="1200" b="1" i="0">
                <a:solidFill>
                  <a:srgbClr val="FFFFFF"/>
                </a:solidFill>
                <a:latin typeface="Segoe UI"/>
              </a:rPr>
              <a:t>(random_state = 42)</a:t>
            </a:r>
          </a:p>
        </p:txBody>
      </p:sp>
      <p:sp>
        <p:nvSpPr>
          <p:cNvPr id="23" name="Isosceles Triangle 22"/>
          <p:cNvSpPr/>
          <p:nvPr/>
        </p:nvSpPr>
        <p:spPr>
          <a:xfrm rot="10800000">
            <a:off x="6012180" y="4590288"/>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77440" y="4681728"/>
            <a:ext cx="7406640" cy="457200"/>
          </a:xfrm>
          <a:prstGeom prst="roundRect">
            <a:avLst>
              <a:gd name="adj" fmla="val 2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0" y="4681728"/>
            <a:ext cx="7040880" cy="457200"/>
          </a:xfrm>
          <a:prstGeom prst="rect">
            <a:avLst/>
          </a:prstGeom>
          <a:noFill/>
        </p:spPr>
        <p:txBody>
          <a:bodyPr wrap="square" anchor="ctr" lIns="0" rIns="0" tIns="0" bIns="0">
            <a:spAutoFit/>
          </a:bodyPr>
          <a:lstStyle/>
          <a:p>
            <a:pPr algn="ctr">
              <a:lnSpc>
                <a:spcPct val="100000"/>
              </a:lnSpc>
              <a:spcAft>
                <a:spcPts val="0"/>
              </a:spcAft>
            </a:pPr>
            <a:r>
              <a:rPr sz="1200" b="1" i="0">
                <a:solidFill>
                  <a:srgbClr val="FFFFFF"/>
                </a:solidFill>
                <a:latin typeface="Segoe UI"/>
              </a:rPr>
              <a:t>Model-Ready Dataset</a:t>
            </a:r>
          </a:p>
        </p:txBody>
      </p:sp>
      <p:sp>
        <p:nvSpPr>
          <p:cNvPr id="26" name="TextBox 25"/>
          <p:cNvSpPr txBox="1"/>
          <p:nvPr/>
        </p:nvSpPr>
        <p:spPr>
          <a:xfrm>
            <a:off x="640080" y="5623560"/>
            <a:ext cx="10881360" cy="685800"/>
          </a:xfrm>
          <a:prstGeom prst="rect">
            <a:avLst/>
          </a:prstGeom>
          <a:noFill/>
        </p:spPr>
        <p:txBody>
          <a:bodyPr wrap="square" anchor="t" lIns="0" rIns="0" tIns="0" bIns="0">
            <a:spAutoFit/>
          </a:bodyPr>
          <a:lstStyle/>
          <a:p>
            <a:pPr algn="ctr">
              <a:lnSpc>
                <a:spcPct val="100000"/>
              </a:lnSpc>
              <a:spcAft>
                <a:spcPts val="0"/>
              </a:spcAft>
            </a:pPr>
            <a:r>
              <a:rPr sz="1150" b="0" i="1">
                <a:solidFill>
                  <a:srgbClr val="AFC4B6"/>
                </a:solidFill>
                <a:latin typeface="Segoe UI"/>
              </a:rPr>
              <a:t>No scaling / normalization / SMOTE / PCA is applied — Random Forest, Gradient Boosting and XGBoost are scale-invariant. SVM is trained on raw features in this MVP (documented limitation).</a:t>
            </a:r>
          </a:p>
        </p:txBody>
      </p:sp>
      <p:cxnSp>
        <p:nvCxnSpPr>
          <p:cNvPr id="27" name="Connector 26"/>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29" name="TextBox 28"/>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ML MODELS</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Random Forest — The Active Model</a:t>
            </a:r>
          </a:p>
        </p:txBody>
      </p:sp>
      <p:sp>
        <p:nvSpPr>
          <p:cNvPr id="6" name="TextBox 5"/>
          <p:cNvSpPr txBox="1"/>
          <p:nvPr/>
        </p:nvSpPr>
        <p:spPr>
          <a:xfrm>
            <a:off x="640080" y="1417320"/>
            <a:ext cx="5760720" cy="822960"/>
          </a:xfrm>
          <a:prstGeom prst="rect">
            <a:avLst/>
          </a:prstGeom>
          <a:noFill/>
        </p:spPr>
        <p:txBody>
          <a:bodyPr wrap="square" anchor="t" lIns="0" rIns="0" tIns="0" bIns="0">
            <a:spAutoFit/>
          </a:bodyPr>
          <a:lstStyle/>
          <a:p>
            <a:pPr algn="l">
              <a:lnSpc>
                <a:spcPct val="130000"/>
              </a:lnSpc>
              <a:spcAft>
                <a:spcPts val="0"/>
              </a:spcAft>
            </a:pPr>
            <a:r>
              <a:rPr sz="1350" b="0" i="0">
                <a:solidFill>
                  <a:srgbClr val="5B6B60"/>
                </a:solidFill>
                <a:latin typeface="Segoe UI"/>
              </a:rPr>
              <a:t>Random Forest is an ensemble of many decision trees, each trained on a random subset of rows and features. The final prediction is the majority vote across all trees.</a:t>
            </a:r>
          </a:p>
        </p:txBody>
      </p:sp>
      <p:sp>
        <p:nvSpPr>
          <p:cNvPr id="7" name="Oval 6"/>
          <p:cNvSpPr/>
          <p:nvPr/>
        </p:nvSpPr>
        <p:spPr>
          <a:xfrm>
            <a:off x="640080" y="2331720"/>
            <a:ext cx="329184" cy="329184"/>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FFFFFF"/>
                </a:solidFill>
                <a:latin typeface="Segoe UI"/>
              </a:rPr>
              <a:t>-</a:t>
            </a:r>
          </a:p>
        </p:txBody>
      </p:sp>
      <p:sp>
        <p:nvSpPr>
          <p:cNvPr id="8" name="TextBox 7"/>
          <p:cNvSpPr txBox="1"/>
          <p:nvPr/>
        </p:nvSpPr>
        <p:spPr>
          <a:xfrm>
            <a:off x="1143000" y="2313432"/>
            <a:ext cx="1737360" cy="45720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Why suitable here</a:t>
            </a:r>
          </a:p>
        </p:txBody>
      </p:sp>
      <p:sp>
        <p:nvSpPr>
          <p:cNvPr id="9" name="TextBox 8"/>
          <p:cNvSpPr txBox="1"/>
          <p:nvPr/>
        </p:nvSpPr>
        <p:spPr>
          <a:xfrm>
            <a:off x="2926080" y="2286000"/>
            <a:ext cx="4480560" cy="777240"/>
          </a:xfrm>
          <a:prstGeom prst="rect">
            <a:avLst/>
          </a:prstGeom>
          <a:noFill/>
        </p:spPr>
        <p:txBody>
          <a:bodyPr wrap="square" anchor="t" lIns="0" rIns="0" tIns="0" bIns="0">
            <a:spAutoFit/>
          </a:bodyPr>
          <a:lstStyle/>
          <a:p>
            <a:pPr algn="l">
              <a:lnSpc>
                <a:spcPct val="120000"/>
              </a:lnSpc>
              <a:spcAft>
                <a:spcPts val="0"/>
              </a:spcAft>
            </a:pPr>
            <a:r>
              <a:rPr sz="1100" b="0" i="0">
                <a:solidFill>
                  <a:srgbClr val="121B15"/>
                </a:solidFill>
                <a:latin typeface="Segoe UI"/>
              </a:rPr>
              <a:t>Handles non-linear soil/climate interactions; robust to noisy, mixed-scale tabular features like N,P,K vs. rainfall.</a:t>
            </a:r>
          </a:p>
        </p:txBody>
      </p:sp>
      <p:sp>
        <p:nvSpPr>
          <p:cNvPr id="10" name="Oval 9"/>
          <p:cNvSpPr/>
          <p:nvPr/>
        </p:nvSpPr>
        <p:spPr>
          <a:xfrm>
            <a:off x="640080" y="3227832"/>
            <a:ext cx="329184" cy="329184"/>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FFFFFF"/>
                </a:solidFill>
                <a:latin typeface="Segoe UI"/>
              </a:rPr>
              <a:t>-</a:t>
            </a:r>
          </a:p>
        </p:txBody>
      </p:sp>
      <p:sp>
        <p:nvSpPr>
          <p:cNvPr id="11" name="TextBox 10"/>
          <p:cNvSpPr txBox="1"/>
          <p:nvPr/>
        </p:nvSpPr>
        <p:spPr>
          <a:xfrm>
            <a:off x="1143000" y="3209544"/>
            <a:ext cx="1737360" cy="45720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How it predicts</a:t>
            </a:r>
          </a:p>
        </p:txBody>
      </p:sp>
      <p:sp>
        <p:nvSpPr>
          <p:cNvPr id="12" name="TextBox 11"/>
          <p:cNvSpPr txBox="1"/>
          <p:nvPr/>
        </p:nvSpPr>
        <p:spPr>
          <a:xfrm>
            <a:off x="2926080" y="3182112"/>
            <a:ext cx="4480560" cy="777240"/>
          </a:xfrm>
          <a:prstGeom prst="rect">
            <a:avLst/>
          </a:prstGeom>
          <a:noFill/>
        </p:spPr>
        <p:txBody>
          <a:bodyPr wrap="square" anchor="t" lIns="0" rIns="0" tIns="0" bIns="0">
            <a:spAutoFit/>
          </a:bodyPr>
          <a:lstStyle/>
          <a:p>
            <a:pPr algn="l">
              <a:lnSpc>
                <a:spcPct val="120000"/>
              </a:lnSpc>
              <a:spcAft>
                <a:spcPts val="0"/>
              </a:spcAft>
            </a:pPr>
            <a:r>
              <a:rPr sz="1100" b="0" i="0">
                <a:solidFill>
                  <a:srgbClr val="121B15"/>
                </a:solidFill>
                <a:latin typeface="Segoe UI"/>
              </a:rPr>
              <a:t>300 trees vote independently on the crop class; the class with the most votes (highest average probability) wins.</a:t>
            </a:r>
          </a:p>
        </p:txBody>
      </p:sp>
      <p:sp>
        <p:nvSpPr>
          <p:cNvPr id="13" name="Oval 12"/>
          <p:cNvSpPr/>
          <p:nvPr/>
        </p:nvSpPr>
        <p:spPr>
          <a:xfrm>
            <a:off x="640080" y="4123944"/>
            <a:ext cx="329184" cy="329184"/>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FFFFFF"/>
                </a:solidFill>
                <a:latin typeface="Segoe UI"/>
              </a:rPr>
              <a:t>-</a:t>
            </a:r>
          </a:p>
        </p:txBody>
      </p:sp>
      <p:sp>
        <p:nvSpPr>
          <p:cNvPr id="14" name="TextBox 13"/>
          <p:cNvSpPr txBox="1"/>
          <p:nvPr/>
        </p:nvSpPr>
        <p:spPr>
          <a:xfrm>
            <a:off x="1143000" y="4105656"/>
            <a:ext cx="1737360" cy="45720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Advantages</a:t>
            </a:r>
          </a:p>
        </p:txBody>
      </p:sp>
      <p:sp>
        <p:nvSpPr>
          <p:cNvPr id="15" name="TextBox 14"/>
          <p:cNvSpPr txBox="1"/>
          <p:nvPr/>
        </p:nvSpPr>
        <p:spPr>
          <a:xfrm>
            <a:off x="2926080" y="4078224"/>
            <a:ext cx="4480560" cy="777240"/>
          </a:xfrm>
          <a:prstGeom prst="rect">
            <a:avLst/>
          </a:prstGeom>
          <a:noFill/>
        </p:spPr>
        <p:txBody>
          <a:bodyPr wrap="square" anchor="t" lIns="0" rIns="0" tIns="0" bIns="0">
            <a:spAutoFit/>
          </a:bodyPr>
          <a:lstStyle/>
          <a:p>
            <a:pPr algn="l">
              <a:lnSpc>
                <a:spcPct val="120000"/>
              </a:lnSpc>
              <a:spcAft>
                <a:spcPts val="0"/>
              </a:spcAft>
            </a:pPr>
            <a:r>
              <a:rPr sz="1100" b="0" i="0">
                <a:solidFill>
                  <a:srgbClr val="121B15"/>
                </a:solidFill>
                <a:latin typeface="Segoe UI"/>
              </a:rPr>
              <a:t>High accuracy, resistant to overfitting, gives feature importance for explainability, no scaling required.</a:t>
            </a:r>
          </a:p>
        </p:txBody>
      </p:sp>
      <p:sp>
        <p:nvSpPr>
          <p:cNvPr id="16" name="Oval 15"/>
          <p:cNvSpPr/>
          <p:nvPr/>
        </p:nvSpPr>
        <p:spPr>
          <a:xfrm>
            <a:off x="640080" y="5020056"/>
            <a:ext cx="329184" cy="329184"/>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600" b="1">
                <a:solidFill>
                  <a:srgbClr val="FFFFFF"/>
                </a:solidFill>
                <a:latin typeface="Segoe UI"/>
              </a:rPr>
              <a:t>-</a:t>
            </a:r>
          </a:p>
        </p:txBody>
      </p:sp>
      <p:sp>
        <p:nvSpPr>
          <p:cNvPr id="17" name="TextBox 16"/>
          <p:cNvSpPr txBox="1"/>
          <p:nvPr/>
        </p:nvSpPr>
        <p:spPr>
          <a:xfrm>
            <a:off x="1143000" y="5001768"/>
            <a:ext cx="1737360" cy="45720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Segoe UI"/>
              </a:rPr>
              <a:t>Limitations</a:t>
            </a:r>
          </a:p>
        </p:txBody>
      </p:sp>
      <p:sp>
        <p:nvSpPr>
          <p:cNvPr id="18" name="TextBox 17"/>
          <p:cNvSpPr txBox="1"/>
          <p:nvPr/>
        </p:nvSpPr>
        <p:spPr>
          <a:xfrm>
            <a:off x="2926080" y="4974336"/>
            <a:ext cx="4480560" cy="777240"/>
          </a:xfrm>
          <a:prstGeom prst="rect">
            <a:avLst/>
          </a:prstGeom>
          <a:noFill/>
        </p:spPr>
        <p:txBody>
          <a:bodyPr wrap="square" anchor="t" lIns="0" rIns="0" tIns="0" bIns="0">
            <a:spAutoFit/>
          </a:bodyPr>
          <a:lstStyle/>
          <a:p>
            <a:pPr algn="l">
              <a:lnSpc>
                <a:spcPct val="120000"/>
              </a:lnSpc>
              <a:spcAft>
                <a:spcPts val="0"/>
              </a:spcAft>
            </a:pPr>
            <a:r>
              <a:rPr sz="1100" b="0" i="0">
                <a:solidFill>
                  <a:srgbClr val="121B15"/>
                </a:solidFill>
                <a:latin typeface="Segoe UI"/>
              </a:rPr>
              <a:t>Larger model size than a single tree; less interpretable per-tree (addressed here using SHAP).</a:t>
            </a:r>
          </a:p>
        </p:txBody>
      </p:sp>
      <p:sp>
        <p:nvSpPr>
          <p:cNvPr id="19" name="Rounded Rectangle 18"/>
          <p:cNvSpPr/>
          <p:nvPr/>
        </p:nvSpPr>
        <p:spPr>
          <a:xfrm>
            <a:off x="7635240" y="1417320"/>
            <a:ext cx="4023360" cy="4892040"/>
          </a:xfrm>
          <a:prstGeom prst="roundRect">
            <a:avLst>
              <a:gd name="adj" fmla="val 8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1600200"/>
            <a:ext cx="3474720" cy="640080"/>
          </a:xfrm>
          <a:prstGeom prst="rect">
            <a:avLst/>
          </a:prstGeom>
          <a:noFill/>
        </p:spPr>
        <p:txBody>
          <a:bodyPr wrap="square" anchor="t" lIns="0" rIns="0" tIns="0" bIns="0">
            <a:spAutoFit/>
          </a:bodyPr>
          <a:lstStyle/>
          <a:p>
            <a:pPr algn="l">
              <a:lnSpc>
                <a:spcPct val="105000"/>
              </a:lnSpc>
              <a:spcAft>
                <a:spcPts val="0"/>
              </a:spcAft>
            </a:pPr>
            <a:r>
              <a:rPr sz="1500" b="1" i="0">
                <a:solidFill>
                  <a:srgbClr val="FFFFFF"/>
                </a:solidFill>
                <a:latin typeface="Segoe UI Semibold"/>
              </a:rPr>
              <a:t>Model Comparison</a:t>
            </a:r>
          </a:p>
          <a:p>
            <a:pPr algn="l">
              <a:lnSpc>
                <a:spcPct val="105000"/>
              </a:lnSpc>
              <a:spcAft>
                <a:spcPts val="0"/>
              </a:spcAft>
            </a:pPr>
            <a:r>
              <a:rPr sz="1500" b="1" i="0">
                <a:solidFill>
                  <a:srgbClr val="FFFFFF"/>
                </a:solidFill>
                <a:latin typeface="Segoe UI Semibold"/>
              </a:rPr>
              <a:t>(Experimentation)</a:t>
            </a:r>
          </a:p>
        </p:txBody>
      </p:sp>
      <p:sp>
        <p:nvSpPr>
          <p:cNvPr id="21" name="Rounded Rectangle 20"/>
          <p:cNvSpPr/>
          <p:nvPr/>
        </p:nvSpPr>
        <p:spPr>
          <a:xfrm>
            <a:off x="7909560" y="2423160"/>
            <a:ext cx="3474720" cy="658368"/>
          </a:xfrm>
          <a:prstGeom prst="roundRect">
            <a:avLst>
              <a:gd name="adj" fmla="val 18000"/>
            </a:avLst>
          </a:prstGeom>
          <a:solidFill>
            <a:srgbClr val="1D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423160"/>
            <a:ext cx="2011680" cy="658368"/>
          </a:xfrm>
          <a:prstGeom prst="rect">
            <a:avLst/>
          </a:prstGeom>
          <a:noFill/>
        </p:spPr>
        <p:txBody>
          <a:bodyPr wrap="square" anchor="ctr" lIns="0" rIns="0" tIns="0" bIns="0">
            <a:spAutoFit/>
          </a:bodyPr>
          <a:lstStyle/>
          <a:p>
            <a:pPr algn="l">
              <a:lnSpc>
                <a:spcPct val="100000"/>
              </a:lnSpc>
              <a:spcAft>
                <a:spcPts val="0"/>
              </a:spcAft>
            </a:pPr>
            <a:r>
              <a:rPr sz="1250" b="1" i="0">
                <a:solidFill>
                  <a:srgbClr val="FFFFFF"/>
                </a:solidFill>
                <a:latin typeface="Segoe UI"/>
              </a:rPr>
              <a:t>Random Forest</a:t>
            </a:r>
          </a:p>
        </p:txBody>
      </p:sp>
      <p:sp>
        <p:nvSpPr>
          <p:cNvPr id="23" name="TextBox 22"/>
          <p:cNvSpPr txBox="1"/>
          <p:nvPr/>
        </p:nvSpPr>
        <p:spPr>
          <a:xfrm>
            <a:off x="9966960" y="2423160"/>
            <a:ext cx="1280160" cy="658368"/>
          </a:xfrm>
          <a:prstGeom prst="rect">
            <a:avLst/>
          </a:prstGeom>
          <a:noFill/>
        </p:spPr>
        <p:txBody>
          <a:bodyPr wrap="square" anchor="ctr" lIns="0" rIns="0" tIns="0" bIns="0">
            <a:spAutoFit/>
          </a:bodyPr>
          <a:lstStyle/>
          <a:p>
            <a:pPr algn="r">
              <a:lnSpc>
                <a:spcPct val="100000"/>
              </a:lnSpc>
              <a:spcAft>
                <a:spcPts val="0"/>
              </a:spcAft>
            </a:pPr>
            <a:r>
              <a:rPr sz="1500" b="1" i="0">
                <a:solidFill>
                  <a:srgbClr val="D8A63A"/>
                </a:solidFill>
                <a:latin typeface="Segoe UI Semibold"/>
              </a:rPr>
              <a:t>99.32%</a:t>
            </a:r>
          </a:p>
        </p:txBody>
      </p:sp>
      <p:sp>
        <p:nvSpPr>
          <p:cNvPr id="24" name="Rounded Rectangle 23"/>
          <p:cNvSpPr/>
          <p:nvPr/>
        </p:nvSpPr>
        <p:spPr>
          <a:xfrm>
            <a:off x="7909560" y="3227832"/>
            <a:ext cx="3474720" cy="658368"/>
          </a:xfrm>
          <a:prstGeom prst="roundRect">
            <a:avLst>
              <a:gd name="adj" fmla="val 18000"/>
            </a:avLst>
          </a:prstGeom>
          <a:solidFill>
            <a:srgbClr val="1833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3227832"/>
            <a:ext cx="2011680" cy="658368"/>
          </a:xfrm>
          <a:prstGeom prst="rect">
            <a:avLst/>
          </a:prstGeom>
          <a:noFill/>
        </p:spPr>
        <p:txBody>
          <a:bodyPr wrap="square" anchor="ctr" lIns="0" rIns="0" tIns="0" bIns="0">
            <a:spAutoFit/>
          </a:bodyPr>
          <a:lstStyle/>
          <a:p>
            <a:pPr algn="l">
              <a:lnSpc>
                <a:spcPct val="100000"/>
              </a:lnSpc>
              <a:spcAft>
                <a:spcPts val="0"/>
              </a:spcAft>
            </a:pPr>
            <a:r>
              <a:rPr sz="1250" b="0" i="0">
                <a:solidFill>
                  <a:srgbClr val="FFFFFF"/>
                </a:solidFill>
                <a:latin typeface="Segoe UI"/>
              </a:rPr>
              <a:t>Gradient Boosting</a:t>
            </a:r>
          </a:p>
        </p:txBody>
      </p:sp>
      <p:sp>
        <p:nvSpPr>
          <p:cNvPr id="26" name="TextBox 25"/>
          <p:cNvSpPr txBox="1"/>
          <p:nvPr/>
        </p:nvSpPr>
        <p:spPr>
          <a:xfrm>
            <a:off x="9966960" y="3227832"/>
            <a:ext cx="1280160" cy="658368"/>
          </a:xfrm>
          <a:prstGeom prst="rect">
            <a:avLst/>
          </a:prstGeom>
          <a:noFill/>
        </p:spPr>
        <p:txBody>
          <a:bodyPr wrap="square" anchor="ctr" lIns="0" rIns="0" tIns="0" bIns="0">
            <a:spAutoFit/>
          </a:bodyPr>
          <a:lstStyle/>
          <a:p>
            <a:pPr algn="r">
              <a:lnSpc>
                <a:spcPct val="100000"/>
              </a:lnSpc>
              <a:spcAft>
                <a:spcPts val="0"/>
              </a:spcAft>
            </a:pPr>
            <a:r>
              <a:rPr sz="1500" b="1" i="0">
                <a:solidFill>
                  <a:srgbClr val="66BB6A"/>
                </a:solidFill>
                <a:latin typeface="Segoe UI Semibold"/>
              </a:rPr>
              <a:t>98.86%</a:t>
            </a:r>
          </a:p>
        </p:txBody>
      </p:sp>
      <p:sp>
        <p:nvSpPr>
          <p:cNvPr id="27" name="Rounded Rectangle 26"/>
          <p:cNvSpPr/>
          <p:nvPr/>
        </p:nvSpPr>
        <p:spPr>
          <a:xfrm>
            <a:off x="7909560" y="4032504"/>
            <a:ext cx="3474720" cy="658368"/>
          </a:xfrm>
          <a:prstGeom prst="roundRect">
            <a:avLst>
              <a:gd name="adj" fmla="val 18000"/>
            </a:avLst>
          </a:prstGeom>
          <a:solidFill>
            <a:srgbClr val="1833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2440" y="4032504"/>
            <a:ext cx="2011680" cy="658368"/>
          </a:xfrm>
          <a:prstGeom prst="rect">
            <a:avLst/>
          </a:prstGeom>
          <a:noFill/>
        </p:spPr>
        <p:txBody>
          <a:bodyPr wrap="square" anchor="ctr" lIns="0" rIns="0" tIns="0" bIns="0">
            <a:spAutoFit/>
          </a:bodyPr>
          <a:lstStyle/>
          <a:p>
            <a:pPr algn="l">
              <a:lnSpc>
                <a:spcPct val="100000"/>
              </a:lnSpc>
              <a:spcAft>
                <a:spcPts val="0"/>
              </a:spcAft>
            </a:pPr>
            <a:r>
              <a:rPr sz="1250" b="0" i="0">
                <a:solidFill>
                  <a:srgbClr val="FFFFFF"/>
                </a:solidFill>
                <a:latin typeface="Segoe UI"/>
              </a:rPr>
              <a:t>XGBoost</a:t>
            </a:r>
          </a:p>
        </p:txBody>
      </p:sp>
      <p:sp>
        <p:nvSpPr>
          <p:cNvPr id="29" name="TextBox 28"/>
          <p:cNvSpPr txBox="1"/>
          <p:nvPr/>
        </p:nvSpPr>
        <p:spPr>
          <a:xfrm>
            <a:off x="9966960" y="4032504"/>
            <a:ext cx="1280160" cy="658368"/>
          </a:xfrm>
          <a:prstGeom prst="rect">
            <a:avLst/>
          </a:prstGeom>
          <a:noFill/>
        </p:spPr>
        <p:txBody>
          <a:bodyPr wrap="square" anchor="ctr" lIns="0" rIns="0" tIns="0" bIns="0">
            <a:spAutoFit/>
          </a:bodyPr>
          <a:lstStyle/>
          <a:p>
            <a:pPr algn="r">
              <a:lnSpc>
                <a:spcPct val="100000"/>
              </a:lnSpc>
              <a:spcAft>
                <a:spcPts val="0"/>
              </a:spcAft>
            </a:pPr>
            <a:r>
              <a:rPr sz="1500" b="1" i="0">
                <a:solidFill>
                  <a:srgbClr val="66BB6A"/>
                </a:solidFill>
                <a:latin typeface="Segoe UI Semibold"/>
              </a:rPr>
              <a:t>98.64%</a:t>
            </a:r>
          </a:p>
        </p:txBody>
      </p:sp>
      <p:sp>
        <p:nvSpPr>
          <p:cNvPr id="30" name="Rounded Rectangle 29"/>
          <p:cNvSpPr/>
          <p:nvPr/>
        </p:nvSpPr>
        <p:spPr>
          <a:xfrm>
            <a:off x="7909560" y="4837176"/>
            <a:ext cx="3474720" cy="658368"/>
          </a:xfrm>
          <a:prstGeom prst="roundRect">
            <a:avLst>
              <a:gd name="adj" fmla="val 18000"/>
            </a:avLst>
          </a:prstGeom>
          <a:solidFill>
            <a:srgbClr val="1833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2440" y="4837176"/>
            <a:ext cx="2011680" cy="658368"/>
          </a:xfrm>
          <a:prstGeom prst="rect">
            <a:avLst/>
          </a:prstGeom>
          <a:noFill/>
        </p:spPr>
        <p:txBody>
          <a:bodyPr wrap="square" anchor="ctr" lIns="0" rIns="0" tIns="0" bIns="0">
            <a:spAutoFit/>
          </a:bodyPr>
          <a:lstStyle/>
          <a:p>
            <a:pPr algn="l">
              <a:lnSpc>
                <a:spcPct val="100000"/>
              </a:lnSpc>
              <a:spcAft>
                <a:spcPts val="0"/>
              </a:spcAft>
            </a:pPr>
            <a:r>
              <a:rPr sz="1250" b="0" i="0">
                <a:solidFill>
                  <a:srgbClr val="FFFFFF"/>
                </a:solidFill>
                <a:latin typeface="Segoe UI"/>
              </a:rPr>
              <a:t>SVM</a:t>
            </a:r>
          </a:p>
        </p:txBody>
      </p:sp>
      <p:sp>
        <p:nvSpPr>
          <p:cNvPr id="32" name="TextBox 31"/>
          <p:cNvSpPr txBox="1"/>
          <p:nvPr/>
        </p:nvSpPr>
        <p:spPr>
          <a:xfrm>
            <a:off x="9966960" y="4837176"/>
            <a:ext cx="1280160" cy="658368"/>
          </a:xfrm>
          <a:prstGeom prst="rect">
            <a:avLst/>
          </a:prstGeom>
          <a:noFill/>
        </p:spPr>
        <p:txBody>
          <a:bodyPr wrap="square" anchor="ctr" lIns="0" rIns="0" tIns="0" bIns="0">
            <a:spAutoFit/>
          </a:bodyPr>
          <a:lstStyle/>
          <a:p>
            <a:pPr algn="r">
              <a:lnSpc>
                <a:spcPct val="100000"/>
              </a:lnSpc>
              <a:spcAft>
                <a:spcPts val="0"/>
              </a:spcAft>
            </a:pPr>
            <a:r>
              <a:rPr sz="1500" b="1" i="0">
                <a:solidFill>
                  <a:srgbClr val="66BB6A"/>
                </a:solidFill>
                <a:latin typeface="Segoe UI Semibold"/>
              </a:rPr>
              <a:t>98.41%</a:t>
            </a:r>
          </a:p>
        </p:txBody>
      </p:sp>
      <p:sp>
        <p:nvSpPr>
          <p:cNvPr id="33" name="TextBox 32"/>
          <p:cNvSpPr txBox="1"/>
          <p:nvPr/>
        </p:nvSpPr>
        <p:spPr>
          <a:xfrm>
            <a:off x="7909560" y="5687568"/>
            <a:ext cx="3474720" cy="822960"/>
          </a:xfrm>
          <a:prstGeom prst="rect">
            <a:avLst/>
          </a:prstGeom>
          <a:noFill/>
        </p:spPr>
        <p:txBody>
          <a:bodyPr wrap="square" anchor="t" lIns="0" rIns="0" tIns="0" bIns="0">
            <a:spAutoFit/>
          </a:bodyPr>
          <a:lstStyle/>
          <a:p>
            <a:pPr algn="l">
              <a:lnSpc>
                <a:spcPct val="125000"/>
              </a:lnSpc>
              <a:spcAft>
                <a:spcPts val="0"/>
              </a:spcAft>
            </a:pPr>
            <a:r>
              <a:rPr sz="1000" b="0" i="1">
                <a:solidFill>
                  <a:srgbClr val="AFC4B6"/>
                </a:solidFill>
                <a:latin typeface="Segoe UI"/>
              </a:rPr>
              <a:t>All 4 trained &amp; saved for transparent comparison. Random Forest is the active model used for live prediction (highest test accuracy).</a:t>
            </a:r>
          </a:p>
        </p:txBody>
      </p:sp>
      <p:cxnSp>
        <p:nvCxnSpPr>
          <p:cNvPr id="34" name="Connector 33"/>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36" name="TextBox 35"/>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TRAINING &amp; TESTING</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Pipeline: Dataset to Prediction</a:t>
            </a:r>
          </a:p>
        </p:txBody>
      </p:sp>
      <p:sp>
        <p:nvSpPr>
          <p:cNvPr id="6" name="Rounded Rectangle 5"/>
          <p:cNvSpPr/>
          <p:nvPr/>
        </p:nvSpPr>
        <p:spPr>
          <a:xfrm>
            <a:off x="640080" y="1417320"/>
            <a:ext cx="2606040" cy="56692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Dataset</a:t>
            </a:r>
          </a:p>
        </p:txBody>
      </p:sp>
      <p:sp>
        <p:nvSpPr>
          <p:cNvPr id="8" name="Isosceles Triangle 7"/>
          <p:cNvSpPr/>
          <p:nvPr/>
        </p:nvSpPr>
        <p:spPr>
          <a:xfrm rot="5400000">
            <a:off x="3264408" y="1627632"/>
            <a:ext cx="117043"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0712" y="1417320"/>
            <a:ext cx="2606040" cy="566928"/>
          </a:xfrm>
          <a:prstGeom prst="roundRect">
            <a:avLst>
              <a:gd name="adj" fmla="val 2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417320"/>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Data Cleaning</a:t>
            </a:r>
          </a:p>
        </p:txBody>
      </p:sp>
      <p:sp>
        <p:nvSpPr>
          <p:cNvPr id="11" name="Isosceles Triangle 10"/>
          <p:cNvSpPr/>
          <p:nvPr/>
        </p:nvSpPr>
        <p:spPr>
          <a:xfrm rot="5400000">
            <a:off x="6035040" y="1627632"/>
            <a:ext cx="117043"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81344" y="1417320"/>
            <a:ext cx="2606040" cy="566928"/>
          </a:xfrm>
          <a:prstGeom prst="roundRect">
            <a:avLst>
              <a:gd name="adj" fmla="val 2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1417320"/>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Feature Selection</a:t>
            </a:r>
          </a:p>
        </p:txBody>
      </p:sp>
      <p:sp>
        <p:nvSpPr>
          <p:cNvPr id="14" name="Isosceles Triangle 13"/>
          <p:cNvSpPr/>
          <p:nvPr/>
        </p:nvSpPr>
        <p:spPr>
          <a:xfrm rot="5400000">
            <a:off x="8805672" y="1627632"/>
            <a:ext cx="117043"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51976" y="1417320"/>
            <a:ext cx="2606040" cy="566928"/>
          </a:xfrm>
          <a:prstGeom prst="roundRect">
            <a:avLst>
              <a:gd name="adj" fmla="val 2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51976" y="1417320"/>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Train / Test Split (80/20)</a:t>
            </a:r>
          </a:p>
        </p:txBody>
      </p:sp>
      <p:sp>
        <p:nvSpPr>
          <p:cNvPr id="17" name="Isosceles Triangle 16"/>
          <p:cNvSpPr/>
          <p:nvPr/>
        </p:nvSpPr>
        <p:spPr>
          <a:xfrm rot="10800000">
            <a:off x="10163556" y="2020824"/>
            <a:ext cx="182880"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2487168"/>
            <a:ext cx="2606040" cy="566928"/>
          </a:xfrm>
          <a:prstGeom prst="roundRect">
            <a:avLst>
              <a:gd name="adj" fmla="val 2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487168"/>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Model Training (4 algorithms)</a:t>
            </a:r>
          </a:p>
        </p:txBody>
      </p:sp>
      <p:sp>
        <p:nvSpPr>
          <p:cNvPr id="20" name="Isosceles Triangle 19"/>
          <p:cNvSpPr/>
          <p:nvPr/>
        </p:nvSpPr>
        <p:spPr>
          <a:xfrm rot="5400000">
            <a:off x="3264408" y="2697480"/>
            <a:ext cx="117043"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410712" y="2487168"/>
            <a:ext cx="2606040" cy="566928"/>
          </a:xfrm>
          <a:prstGeom prst="roundRect">
            <a:avLst>
              <a:gd name="adj" fmla="val 2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10712" y="2487168"/>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Model Evaluation</a:t>
            </a:r>
          </a:p>
        </p:txBody>
      </p:sp>
      <p:sp>
        <p:nvSpPr>
          <p:cNvPr id="23" name="Isosceles Triangle 22"/>
          <p:cNvSpPr/>
          <p:nvPr/>
        </p:nvSpPr>
        <p:spPr>
          <a:xfrm rot="5400000">
            <a:off x="6035040" y="2697480"/>
            <a:ext cx="117043"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81344" y="2487168"/>
            <a:ext cx="2606040" cy="56692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81344" y="2487168"/>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Best Model Selection</a:t>
            </a:r>
          </a:p>
        </p:txBody>
      </p:sp>
      <p:sp>
        <p:nvSpPr>
          <p:cNvPr id="26" name="Isosceles Triangle 25"/>
          <p:cNvSpPr/>
          <p:nvPr/>
        </p:nvSpPr>
        <p:spPr>
          <a:xfrm rot="5400000">
            <a:off x="8805672" y="2697480"/>
            <a:ext cx="117043" cy="14630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951976" y="2487168"/>
            <a:ext cx="2606040" cy="566928"/>
          </a:xfrm>
          <a:prstGeom prst="roundRect">
            <a:avLst>
              <a:gd name="adj" fmla="val 2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51976" y="2487168"/>
            <a:ext cx="2606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Save Trained Model</a:t>
            </a:r>
          </a:p>
        </p:txBody>
      </p:sp>
      <p:sp>
        <p:nvSpPr>
          <p:cNvPr id="29" name="Isosceles Triangle 28"/>
          <p:cNvSpPr/>
          <p:nvPr/>
        </p:nvSpPr>
        <p:spPr>
          <a:xfrm rot="10800000">
            <a:off x="5980176" y="3108960"/>
            <a:ext cx="201168" cy="160934"/>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566160" y="3465576"/>
            <a:ext cx="5029200" cy="566928"/>
          </a:xfrm>
          <a:prstGeom prst="roundRect">
            <a:avLst>
              <a:gd name="adj" fmla="val 22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66160" y="3465576"/>
            <a:ext cx="5029200" cy="566928"/>
          </a:xfrm>
          <a:prstGeom prst="rect">
            <a:avLst/>
          </a:prstGeom>
          <a:noFill/>
        </p:spPr>
        <p:txBody>
          <a:bodyPr wrap="square" anchor="ctr" lIns="0" rIns="0" tIns="0" bIns="0">
            <a:spAutoFit/>
          </a:bodyPr>
          <a:lstStyle/>
          <a:p>
            <a:pPr algn="ctr">
              <a:lnSpc>
                <a:spcPct val="100000"/>
              </a:lnSpc>
              <a:spcAft>
                <a:spcPts val="0"/>
              </a:spcAft>
            </a:pPr>
            <a:r>
              <a:rPr sz="1300" b="1" i="0">
                <a:solidFill>
                  <a:srgbClr val="121B15"/>
                </a:solidFill>
                <a:latin typeface="Segoe UI"/>
              </a:rPr>
              <a:t>New Farmer Input  -&gt;  Prediction (Recommended Crop)</a:t>
            </a:r>
          </a:p>
        </p:txBody>
      </p:sp>
      <p:sp>
        <p:nvSpPr>
          <p:cNvPr id="32" name="Rounded Rectangle 31"/>
          <p:cNvSpPr/>
          <p:nvPr/>
        </p:nvSpPr>
        <p:spPr>
          <a:xfrm>
            <a:off x="640080" y="4334256"/>
            <a:ext cx="3611880" cy="9601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4425696"/>
            <a:ext cx="3246120" cy="274320"/>
          </a:xfrm>
          <a:prstGeom prst="rect">
            <a:avLst/>
          </a:prstGeom>
          <a:noFill/>
        </p:spPr>
        <p:txBody>
          <a:bodyPr wrap="square" anchor="t" lIns="0" rIns="0" tIns="0" bIns="0">
            <a:spAutoFit/>
          </a:bodyPr>
          <a:lstStyle/>
          <a:p>
            <a:pPr algn="l">
              <a:lnSpc>
                <a:spcPct val="100000"/>
              </a:lnSpc>
              <a:spcAft>
                <a:spcPts val="0"/>
              </a:spcAft>
            </a:pPr>
            <a:r>
              <a:rPr sz="1300" b="1" i="0">
                <a:solidFill>
                  <a:srgbClr val="66BB6A"/>
                </a:solidFill>
                <a:latin typeface="Segoe UI Semibold"/>
              </a:rPr>
              <a:t>Training</a:t>
            </a:r>
          </a:p>
        </p:txBody>
      </p:sp>
      <p:sp>
        <p:nvSpPr>
          <p:cNvPr id="34" name="TextBox 33"/>
          <p:cNvSpPr txBox="1"/>
          <p:nvPr/>
        </p:nvSpPr>
        <p:spPr>
          <a:xfrm>
            <a:off x="841248" y="4718304"/>
            <a:ext cx="3246120" cy="548640"/>
          </a:xfrm>
          <a:prstGeom prst="rect">
            <a:avLst/>
          </a:prstGeom>
          <a:noFill/>
        </p:spPr>
        <p:txBody>
          <a:bodyPr wrap="square" anchor="t" lIns="0" rIns="0" tIns="0" bIns="0">
            <a:spAutoFit/>
          </a:bodyPr>
          <a:lstStyle/>
          <a:p>
            <a:pPr algn="l">
              <a:lnSpc>
                <a:spcPct val="115000"/>
              </a:lnSpc>
              <a:spcAft>
                <a:spcPts val="0"/>
              </a:spcAft>
            </a:pPr>
            <a:r>
              <a:rPr sz="1000" b="0" i="0">
                <a:solidFill>
                  <a:srgbClr val="FFFFFF"/>
                </a:solidFill>
                <a:latin typeface="Segoe UI"/>
              </a:rPr>
              <a:t>Learns the relationship between soil/climate features and crop labels from the training split.</a:t>
            </a:r>
          </a:p>
        </p:txBody>
      </p:sp>
      <p:sp>
        <p:nvSpPr>
          <p:cNvPr id="35" name="Rounded Rectangle 34"/>
          <p:cNvSpPr/>
          <p:nvPr/>
        </p:nvSpPr>
        <p:spPr>
          <a:xfrm>
            <a:off x="4389120" y="4334256"/>
            <a:ext cx="3611880" cy="9601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0288" y="4425696"/>
            <a:ext cx="3246120" cy="274320"/>
          </a:xfrm>
          <a:prstGeom prst="rect">
            <a:avLst/>
          </a:prstGeom>
          <a:noFill/>
        </p:spPr>
        <p:txBody>
          <a:bodyPr wrap="square" anchor="t" lIns="0" rIns="0" tIns="0" bIns="0">
            <a:spAutoFit/>
          </a:bodyPr>
          <a:lstStyle/>
          <a:p>
            <a:pPr algn="l">
              <a:lnSpc>
                <a:spcPct val="100000"/>
              </a:lnSpc>
              <a:spcAft>
                <a:spcPts val="0"/>
              </a:spcAft>
            </a:pPr>
            <a:r>
              <a:rPr sz="1300" b="1" i="0">
                <a:solidFill>
                  <a:srgbClr val="66BB6A"/>
                </a:solidFill>
                <a:latin typeface="Segoe UI Semibold"/>
              </a:rPr>
              <a:t>Testing</a:t>
            </a:r>
          </a:p>
        </p:txBody>
      </p:sp>
      <p:sp>
        <p:nvSpPr>
          <p:cNvPr id="37" name="TextBox 36"/>
          <p:cNvSpPr txBox="1"/>
          <p:nvPr/>
        </p:nvSpPr>
        <p:spPr>
          <a:xfrm>
            <a:off x="4590288" y="4718304"/>
            <a:ext cx="3246120" cy="548640"/>
          </a:xfrm>
          <a:prstGeom prst="rect">
            <a:avLst/>
          </a:prstGeom>
          <a:noFill/>
        </p:spPr>
        <p:txBody>
          <a:bodyPr wrap="square" anchor="t" lIns="0" rIns="0" tIns="0" bIns="0">
            <a:spAutoFit/>
          </a:bodyPr>
          <a:lstStyle/>
          <a:p>
            <a:pPr algn="l">
              <a:lnSpc>
                <a:spcPct val="115000"/>
              </a:lnSpc>
              <a:spcAft>
                <a:spcPts val="0"/>
              </a:spcAft>
            </a:pPr>
            <a:r>
              <a:rPr sz="1000" b="0" i="0">
                <a:solidFill>
                  <a:srgbClr val="FFFFFF"/>
                </a:solidFill>
                <a:latin typeface="Segoe UI"/>
              </a:rPr>
              <a:t>Evaluates the trained model on the unseen 20% split to measure real generalization.</a:t>
            </a:r>
          </a:p>
        </p:txBody>
      </p:sp>
      <p:sp>
        <p:nvSpPr>
          <p:cNvPr id="38" name="Rounded Rectangle 37"/>
          <p:cNvSpPr/>
          <p:nvPr/>
        </p:nvSpPr>
        <p:spPr>
          <a:xfrm>
            <a:off x="8138160" y="4334256"/>
            <a:ext cx="3611880" cy="96012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39328" y="4425696"/>
            <a:ext cx="3246120" cy="274320"/>
          </a:xfrm>
          <a:prstGeom prst="rect">
            <a:avLst/>
          </a:prstGeom>
          <a:noFill/>
        </p:spPr>
        <p:txBody>
          <a:bodyPr wrap="square" anchor="t" lIns="0" rIns="0" tIns="0" bIns="0">
            <a:spAutoFit/>
          </a:bodyPr>
          <a:lstStyle/>
          <a:p>
            <a:pPr algn="l">
              <a:lnSpc>
                <a:spcPct val="100000"/>
              </a:lnSpc>
              <a:spcAft>
                <a:spcPts val="0"/>
              </a:spcAft>
            </a:pPr>
            <a:r>
              <a:rPr sz="1300" b="1" i="0">
                <a:solidFill>
                  <a:srgbClr val="66BB6A"/>
                </a:solidFill>
                <a:latin typeface="Segoe UI Semibold"/>
              </a:rPr>
              <a:t>Prediction</a:t>
            </a:r>
          </a:p>
        </p:txBody>
      </p:sp>
      <p:sp>
        <p:nvSpPr>
          <p:cNvPr id="40" name="TextBox 39"/>
          <p:cNvSpPr txBox="1"/>
          <p:nvPr/>
        </p:nvSpPr>
        <p:spPr>
          <a:xfrm>
            <a:off x="8339328" y="4718304"/>
            <a:ext cx="3246120" cy="548640"/>
          </a:xfrm>
          <a:prstGeom prst="rect">
            <a:avLst/>
          </a:prstGeom>
          <a:noFill/>
        </p:spPr>
        <p:txBody>
          <a:bodyPr wrap="square" anchor="t" lIns="0" rIns="0" tIns="0" bIns="0">
            <a:spAutoFit/>
          </a:bodyPr>
          <a:lstStyle/>
          <a:p>
            <a:pPr algn="l">
              <a:lnSpc>
                <a:spcPct val="115000"/>
              </a:lnSpc>
              <a:spcAft>
                <a:spcPts val="0"/>
              </a:spcAft>
            </a:pPr>
            <a:r>
              <a:rPr sz="1000" b="0" i="0">
                <a:solidFill>
                  <a:srgbClr val="FFFFFF"/>
                </a:solidFill>
                <a:latin typeface="Segoe UI"/>
              </a:rPr>
              <a:t>The saved model receives new soil/environmental values and returns a ranked crop recommendation.</a:t>
            </a:r>
          </a:p>
        </p:txBody>
      </p:sp>
      <p:cxnSp>
        <p:nvCxnSpPr>
          <p:cNvPr id="41" name="Connector 40"/>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43" name="TextBox 42"/>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SYSTEM ARCHITECTURE</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End-to-End Block Diagram</a:t>
            </a:r>
          </a:p>
        </p:txBody>
      </p:sp>
      <p:sp>
        <p:nvSpPr>
          <p:cNvPr id="6" name="Rounded Rectangle 5"/>
          <p:cNvSpPr/>
          <p:nvPr/>
        </p:nvSpPr>
        <p:spPr>
          <a:xfrm>
            <a:off x="3566160" y="1207008"/>
            <a:ext cx="5074920" cy="566928"/>
          </a:xfrm>
          <a:prstGeom prst="roundRect">
            <a:avLst>
              <a:gd name="adj" fmla="val 22000"/>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1207008"/>
            <a:ext cx="4892040" cy="566928"/>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Farmer Input: Soil &amp; Environmental Parameters</a:t>
            </a:r>
          </a:p>
          <a:p>
            <a:pPr algn="ctr">
              <a:lnSpc>
                <a:spcPct val="100000"/>
              </a:lnSpc>
              <a:spcAft>
                <a:spcPts val="0"/>
              </a:spcAft>
            </a:pPr>
            <a:r>
              <a:rPr sz="1150" b="1" i="0">
                <a:solidFill>
                  <a:srgbClr val="FFFFFF"/>
                </a:solidFill>
                <a:latin typeface="Segoe UI"/>
              </a:rPr>
              <a:t>(N, P, K, Temperature, Humidity, pH, Rainfall)</a:t>
            </a:r>
          </a:p>
        </p:txBody>
      </p:sp>
      <p:sp>
        <p:nvSpPr>
          <p:cNvPr id="8" name="Isosceles Triangle 7"/>
          <p:cNvSpPr/>
          <p:nvPr/>
        </p:nvSpPr>
        <p:spPr>
          <a:xfrm rot="10800000">
            <a:off x="6035040" y="1787652"/>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865376"/>
            <a:ext cx="5074920" cy="420624"/>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865376"/>
            <a:ext cx="4892040" cy="420624"/>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Data Validation &amp; Preprocessing (schema check, clean, encode)</a:t>
            </a:r>
          </a:p>
        </p:txBody>
      </p:sp>
      <p:sp>
        <p:nvSpPr>
          <p:cNvPr id="11" name="Isosceles Triangle 10"/>
          <p:cNvSpPr/>
          <p:nvPr/>
        </p:nvSpPr>
        <p:spPr>
          <a:xfrm rot="10800000">
            <a:off x="6035040" y="2299716"/>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66160" y="2377440"/>
            <a:ext cx="5074920" cy="420624"/>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2377440"/>
            <a:ext cx="4892040" cy="420624"/>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Feature Preparation (7-feature vector)</a:t>
            </a:r>
          </a:p>
        </p:txBody>
      </p:sp>
      <p:sp>
        <p:nvSpPr>
          <p:cNvPr id="14" name="Isosceles Triangle 13"/>
          <p:cNvSpPr/>
          <p:nvPr/>
        </p:nvSpPr>
        <p:spPr>
          <a:xfrm rot="10800000">
            <a:off x="6035040" y="2811780"/>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66160" y="2889504"/>
            <a:ext cx="5074920" cy="713232"/>
          </a:xfrm>
          <a:prstGeom prst="roundRect">
            <a:avLst>
              <a:gd name="adj" fmla="val 1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926080"/>
            <a:ext cx="5074920" cy="219456"/>
          </a:xfrm>
          <a:prstGeom prst="rect">
            <a:avLst/>
          </a:prstGeom>
          <a:noFill/>
        </p:spPr>
        <p:txBody>
          <a:bodyPr wrap="square" anchor="t" lIns="0" rIns="0" tIns="0" bIns="0">
            <a:spAutoFit/>
          </a:bodyPr>
          <a:lstStyle/>
          <a:p>
            <a:pPr algn="ctr">
              <a:lnSpc>
                <a:spcPct val="100000"/>
              </a:lnSpc>
              <a:spcAft>
                <a:spcPts val="0"/>
              </a:spcAft>
            </a:pPr>
            <a:r>
              <a:rPr sz="1100" b="1" i="0">
                <a:solidFill>
                  <a:srgbClr val="FFFFFF"/>
                </a:solidFill>
                <a:latin typeface="Segoe UI Semibold"/>
              </a:rPr>
              <a:t>ML MODEL LAYER</a:t>
            </a:r>
          </a:p>
        </p:txBody>
      </p:sp>
      <p:sp>
        <p:nvSpPr>
          <p:cNvPr id="17" name="Rounded Rectangle 16"/>
          <p:cNvSpPr/>
          <p:nvPr/>
        </p:nvSpPr>
        <p:spPr>
          <a:xfrm>
            <a:off x="3703320" y="3163824"/>
            <a:ext cx="1200150" cy="384048"/>
          </a:xfrm>
          <a:prstGeom prst="roundRect">
            <a:avLst>
              <a:gd name="adj" fmla="val 15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3320" y="3163824"/>
            <a:ext cx="1200150" cy="384048"/>
          </a:xfrm>
          <a:prstGeom prst="rect">
            <a:avLst/>
          </a:prstGeom>
          <a:noFill/>
        </p:spPr>
        <p:txBody>
          <a:bodyPr wrap="square" anchor="ctr" lIns="0" rIns="0" tIns="0" bIns="0">
            <a:spAutoFit/>
          </a:bodyPr>
          <a:lstStyle/>
          <a:p>
            <a:pPr algn="ctr">
              <a:lnSpc>
                <a:spcPct val="90000"/>
              </a:lnSpc>
              <a:spcAft>
                <a:spcPts val="0"/>
              </a:spcAft>
            </a:pPr>
            <a:r>
              <a:rPr sz="830" b="1" i="0">
                <a:solidFill>
                  <a:srgbClr val="121B15"/>
                </a:solidFill>
                <a:latin typeface="Segoe UI"/>
              </a:rPr>
              <a:t>Random Forest</a:t>
            </a:r>
          </a:p>
          <a:p>
            <a:pPr algn="ctr">
              <a:lnSpc>
                <a:spcPct val="90000"/>
              </a:lnSpc>
              <a:spcAft>
                <a:spcPts val="0"/>
              </a:spcAft>
            </a:pPr>
            <a:r>
              <a:rPr sz="830" b="1" i="0">
                <a:solidFill>
                  <a:srgbClr val="121B15"/>
                </a:solidFill>
                <a:latin typeface="Segoe UI"/>
              </a:rPr>
              <a:t>(ACTIVE)</a:t>
            </a:r>
          </a:p>
        </p:txBody>
      </p:sp>
      <p:sp>
        <p:nvSpPr>
          <p:cNvPr id="19" name="Rounded Rectangle 18"/>
          <p:cNvSpPr/>
          <p:nvPr/>
        </p:nvSpPr>
        <p:spPr>
          <a:xfrm>
            <a:off x="4921758" y="3163824"/>
            <a:ext cx="1200150" cy="384048"/>
          </a:xfrm>
          <a:prstGeom prst="roundRect">
            <a:avLst>
              <a:gd name="adj" fmla="val 15000"/>
            </a:avLst>
          </a:prstGeom>
          <a:solidFill>
            <a:srgbClr val="1E5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1758" y="3163824"/>
            <a:ext cx="1200150" cy="384048"/>
          </a:xfrm>
          <a:prstGeom prst="rect">
            <a:avLst/>
          </a:prstGeom>
          <a:noFill/>
        </p:spPr>
        <p:txBody>
          <a:bodyPr wrap="square" anchor="ctr" lIns="0" rIns="0" tIns="0" bIns="0">
            <a:spAutoFit/>
          </a:bodyPr>
          <a:lstStyle/>
          <a:p>
            <a:pPr algn="ctr">
              <a:lnSpc>
                <a:spcPct val="90000"/>
              </a:lnSpc>
              <a:spcAft>
                <a:spcPts val="0"/>
              </a:spcAft>
            </a:pPr>
            <a:r>
              <a:rPr sz="830" b="1" i="0">
                <a:solidFill>
                  <a:srgbClr val="FFFFFF"/>
                </a:solidFill>
                <a:latin typeface="Segoe UI"/>
              </a:rPr>
              <a:t>Gradient</a:t>
            </a:r>
          </a:p>
          <a:p>
            <a:pPr algn="ctr">
              <a:lnSpc>
                <a:spcPct val="90000"/>
              </a:lnSpc>
              <a:spcAft>
                <a:spcPts val="0"/>
              </a:spcAft>
            </a:pPr>
            <a:r>
              <a:rPr sz="830" b="1" i="0">
                <a:solidFill>
                  <a:srgbClr val="FFFFFF"/>
                </a:solidFill>
                <a:latin typeface="Segoe UI"/>
              </a:rPr>
              <a:t>Boosting</a:t>
            </a:r>
          </a:p>
        </p:txBody>
      </p:sp>
      <p:sp>
        <p:nvSpPr>
          <p:cNvPr id="21" name="Rounded Rectangle 20"/>
          <p:cNvSpPr/>
          <p:nvPr/>
        </p:nvSpPr>
        <p:spPr>
          <a:xfrm>
            <a:off x="6140196" y="3163824"/>
            <a:ext cx="1200150" cy="384048"/>
          </a:xfrm>
          <a:prstGeom prst="roundRect">
            <a:avLst>
              <a:gd name="adj" fmla="val 15000"/>
            </a:avLst>
          </a:prstGeom>
          <a:solidFill>
            <a:srgbClr val="1E5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40196" y="3163824"/>
            <a:ext cx="1200150" cy="384048"/>
          </a:xfrm>
          <a:prstGeom prst="rect">
            <a:avLst/>
          </a:prstGeom>
          <a:noFill/>
        </p:spPr>
        <p:txBody>
          <a:bodyPr wrap="square" anchor="ctr" lIns="0" rIns="0" tIns="0" bIns="0">
            <a:spAutoFit/>
          </a:bodyPr>
          <a:lstStyle/>
          <a:p>
            <a:pPr algn="ctr">
              <a:lnSpc>
                <a:spcPct val="90000"/>
              </a:lnSpc>
              <a:spcAft>
                <a:spcPts val="0"/>
              </a:spcAft>
            </a:pPr>
            <a:r>
              <a:rPr sz="830" b="1" i="0">
                <a:solidFill>
                  <a:srgbClr val="FFFFFF"/>
                </a:solidFill>
                <a:latin typeface="Segoe UI"/>
              </a:rPr>
              <a:t>XGBoost</a:t>
            </a:r>
          </a:p>
        </p:txBody>
      </p:sp>
      <p:sp>
        <p:nvSpPr>
          <p:cNvPr id="23" name="Rounded Rectangle 22"/>
          <p:cNvSpPr/>
          <p:nvPr/>
        </p:nvSpPr>
        <p:spPr>
          <a:xfrm>
            <a:off x="7358634" y="3163824"/>
            <a:ext cx="1200150" cy="384048"/>
          </a:xfrm>
          <a:prstGeom prst="roundRect">
            <a:avLst>
              <a:gd name="adj" fmla="val 15000"/>
            </a:avLst>
          </a:prstGeom>
          <a:solidFill>
            <a:srgbClr val="1E5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58634" y="3163824"/>
            <a:ext cx="1200150" cy="384048"/>
          </a:xfrm>
          <a:prstGeom prst="rect">
            <a:avLst/>
          </a:prstGeom>
          <a:noFill/>
        </p:spPr>
        <p:txBody>
          <a:bodyPr wrap="square" anchor="ctr" lIns="0" rIns="0" tIns="0" bIns="0">
            <a:spAutoFit/>
          </a:bodyPr>
          <a:lstStyle/>
          <a:p>
            <a:pPr algn="ctr">
              <a:lnSpc>
                <a:spcPct val="90000"/>
              </a:lnSpc>
              <a:spcAft>
                <a:spcPts val="0"/>
              </a:spcAft>
            </a:pPr>
            <a:r>
              <a:rPr sz="830" b="1" i="0">
                <a:solidFill>
                  <a:srgbClr val="FFFFFF"/>
                </a:solidFill>
                <a:latin typeface="Segoe UI"/>
              </a:rPr>
              <a:t>SVM</a:t>
            </a:r>
          </a:p>
        </p:txBody>
      </p:sp>
      <p:sp>
        <p:nvSpPr>
          <p:cNvPr id="25" name="Isosceles Triangle 24"/>
          <p:cNvSpPr/>
          <p:nvPr/>
        </p:nvSpPr>
        <p:spPr>
          <a:xfrm rot="10800000">
            <a:off x="6035040" y="3616452"/>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66160" y="3694176"/>
            <a:ext cx="5074920" cy="420624"/>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3694176"/>
            <a:ext cx="4892040" cy="420624"/>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Model Evaluation (accuracy, precision, recall, F1)</a:t>
            </a:r>
          </a:p>
        </p:txBody>
      </p:sp>
      <p:sp>
        <p:nvSpPr>
          <p:cNvPr id="28" name="Isosceles Triangle 27"/>
          <p:cNvSpPr/>
          <p:nvPr/>
        </p:nvSpPr>
        <p:spPr>
          <a:xfrm rot="10800000">
            <a:off x="6035040" y="4128516"/>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566160" y="4206240"/>
            <a:ext cx="5074920" cy="420624"/>
          </a:xfrm>
          <a:prstGeom prst="roundRect">
            <a:avLst>
              <a:gd name="adj" fmla="val 22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0" y="4206240"/>
            <a:ext cx="4892040" cy="420624"/>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Explainable AI (SHAP feature contribution)</a:t>
            </a:r>
          </a:p>
        </p:txBody>
      </p:sp>
      <p:sp>
        <p:nvSpPr>
          <p:cNvPr id="31" name="Isosceles Triangle 30"/>
          <p:cNvSpPr/>
          <p:nvPr/>
        </p:nvSpPr>
        <p:spPr>
          <a:xfrm rot="10800000">
            <a:off x="6035040" y="4640580"/>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566160" y="4718304"/>
            <a:ext cx="5074920" cy="420624"/>
          </a:xfrm>
          <a:prstGeom prst="roundRect">
            <a:avLst>
              <a:gd name="adj" fmla="val 22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0" y="4718304"/>
            <a:ext cx="4892040" cy="420624"/>
          </a:xfrm>
          <a:prstGeom prst="rect">
            <a:avLst/>
          </a:prstGeom>
          <a:noFill/>
        </p:spPr>
        <p:txBody>
          <a:bodyPr wrap="square" anchor="ctr" lIns="0" rIns="0" tIns="0" bIns="0">
            <a:spAutoFit/>
          </a:bodyPr>
          <a:lstStyle/>
          <a:p>
            <a:pPr algn="ctr">
              <a:lnSpc>
                <a:spcPct val="100000"/>
              </a:lnSpc>
              <a:spcAft>
                <a:spcPts val="0"/>
              </a:spcAft>
            </a:pPr>
            <a:r>
              <a:rPr sz="1150" b="1" i="0">
                <a:solidFill>
                  <a:srgbClr val="121B15"/>
                </a:solidFill>
                <a:latin typeface="Segoe UI"/>
              </a:rPr>
              <a:t>Crop Recommendation (Top-5 ranked, with probability)</a:t>
            </a:r>
          </a:p>
        </p:txBody>
      </p:sp>
      <p:sp>
        <p:nvSpPr>
          <p:cNvPr id="34" name="Isosceles Triangle 33"/>
          <p:cNvSpPr/>
          <p:nvPr/>
        </p:nvSpPr>
        <p:spPr>
          <a:xfrm rot="10800000">
            <a:off x="6035040" y="5152644"/>
            <a:ext cx="137160" cy="109728"/>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566160" y="5230368"/>
            <a:ext cx="5074920" cy="420624"/>
          </a:xfrm>
          <a:prstGeom prst="roundRect">
            <a:avLst>
              <a:gd name="adj" fmla="val 22000"/>
            </a:avLst>
          </a:prstGeom>
          <a:solidFill>
            <a:srgbClr val="3E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0" y="5230368"/>
            <a:ext cx="4892040" cy="420624"/>
          </a:xfrm>
          <a:prstGeom prst="rect">
            <a:avLst/>
          </a:prstGeom>
          <a:noFill/>
        </p:spPr>
        <p:txBody>
          <a:bodyPr wrap="square" anchor="ctr" lIns="0" rIns="0" tIns="0" bIns="0">
            <a:spAutoFit/>
          </a:bodyPr>
          <a:lstStyle/>
          <a:p>
            <a:pPr algn="ctr">
              <a:lnSpc>
                <a:spcPct val="100000"/>
              </a:lnSpc>
              <a:spcAft>
                <a:spcPts val="0"/>
              </a:spcAft>
            </a:pPr>
            <a:r>
              <a:rPr sz="1150" b="1" i="0">
                <a:solidFill>
                  <a:srgbClr val="FFFFFF"/>
                </a:solidFill>
                <a:latin typeface="Segoe UI"/>
              </a:rPr>
              <a:t>Farmer Dashboard / UI</a:t>
            </a:r>
          </a:p>
        </p:txBody>
      </p:sp>
      <p:cxnSp>
        <p:nvCxnSpPr>
          <p:cNvPr id="37" name="Connector 36"/>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39" name="TextBox 38"/>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EXPLAINABILITY</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Why This Crop? — SHAP-Based Explanation</a:t>
            </a:r>
          </a:p>
        </p:txBody>
      </p:sp>
      <p:sp>
        <p:nvSpPr>
          <p:cNvPr id="6" name="TextBox 5"/>
          <p:cNvSpPr txBox="1"/>
          <p:nvPr/>
        </p:nvSpPr>
        <p:spPr>
          <a:xfrm>
            <a:off x="640080" y="1417320"/>
            <a:ext cx="5577840" cy="1005840"/>
          </a:xfrm>
          <a:prstGeom prst="rect">
            <a:avLst/>
          </a:prstGeom>
          <a:noFill/>
        </p:spPr>
        <p:txBody>
          <a:bodyPr wrap="square" anchor="t" lIns="0" rIns="0" tIns="0" bIns="0">
            <a:spAutoFit/>
          </a:bodyPr>
          <a:lstStyle/>
          <a:p>
            <a:pPr algn="l">
              <a:lnSpc>
                <a:spcPct val="130000"/>
              </a:lnSpc>
              <a:spcAft>
                <a:spcPts val="0"/>
              </a:spcAft>
            </a:pPr>
            <a:r>
              <a:rPr sz="1350" b="0" i="0">
                <a:solidFill>
                  <a:srgbClr val="5B6B60"/>
                </a:solidFill>
                <a:latin typeface="Segoe UI"/>
              </a:rPr>
              <a:t>Every recommendation is explained using SHAP (SHapley Additive exPlanations) applied to the active tree-based model — not a templated or hand-written justification.</a:t>
            </a:r>
          </a:p>
        </p:txBody>
      </p:sp>
      <p:sp>
        <p:nvSpPr>
          <p:cNvPr id="7" name="Oval 6"/>
          <p:cNvSpPr/>
          <p:nvPr/>
        </p:nvSpPr>
        <p:spPr>
          <a:xfrm>
            <a:off x="640080" y="2514600"/>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1</a:t>
            </a:r>
          </a:p>
        </p:txBody>
      </p:sp>
      <p:sp>
        <p:nvSpPr>
          <p:cNvPr id="8" name="TextBox 7"/>
          <p:cNvSpPr txBox="1"/>
          <p:nvPr/>
        </p:nvSpPr>
        <p:spPr>
          <a:xfrm>
            <a:off x="1143000" y="2496312"/>
            <a:ext cx="5303520" cy="457200"/>
          </a:xfrm>
          <a:prstGeom prst="rect">
            <a:avLst/>
          </a:prstGeom>
          <a:noFill/>
        </p:spPr>
        <p:txBody>
          <a:bodyPr wrap="square" anchor="ctr" lIns="0" rIns="0" tIns="0" bIns="0">
            <a:spAutoFit/>
          </a:bodyPr>
          <a:lstStyle/>
          <a:p>
            <a:pPr algn="l">
              <a:lnSpc>
                <a:spcPct val="110000"/>
              </a:lnSpc>
              <a:spcAft>
                <a:spcPts val="0"/>
              </a:spcAft>
            </a:pPr>
            <a:r>
              <a:rPr sz="1200" b="0" i="0">
                <a:solidFill>
                  <a:srgbClr val="121B15"/>
                </a:solidFill>
                <a:latin typeface="Segoe UI"/>
              </a:rPr>
              <a:t>Build the 7-feature input vector for the requested crop</a:t>
            </a:r>
          </a:p>
        </p:txBody>
      </p:sp>
      <p:sp>
        <p:nvSpPr>
          <p:cNvPr id="9" name="Oval 8"/>
          <p:cNvSpPr/>
          <p:nvPr/>
        </p:nvSpPr>
        <p:spPr>
          <a:xfrm>
            <a:off x="640080" y="3026664"/>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2</a:t>
            </a:r>
          </a:p>
        </p:txBody>
      </p:sp>
      <p:sp>
        <p:nvSpPr>
          <p:cNvPr id="10" name="TextBox 9"/>
          <p:cNvSpPr txBox="1"/>
          <p:nvPr/>
        </p:nvSpPr>
        <p:spPr>
          <a:xfrm>
            <a:off x="1143000" y="3008376"/>
            <a:ext cx="5303520" cy="457200"/>
          </a:xfrm>
          <a:prstGeom prst="rect">
            <a:avLst/>
          </a:prstGeom>
          <a:noFill/>
        </p:spPr>
        <p:txBody>
          <a:bodyPr wrap="square" anchor="ctr" lIns="0" rIns="0" tIns="0" bIns="0">
            <a:spAutoFit/>
          </a:bodyPr>
          <a:lstStyle/>
          <a:p>
            <a:pPr algn="l">
              <a:lnSpc>
                <a:spcPct val="110000"/>
              </a:lnSpc>
              <a:spcAft>
                <a:spcPts val="0"/>
              </a:spcAft>
            </a:pPr>
            <a:r>
              <a:rPr sz="1200" b="0" i="0">
                <a:solidFill>
                  <a:srgbClr val="121B15"/>
                </a:solidFill>
                <a:latin typeface="Segoe UI"/>
              </a:rPr>
              <a:t>Run SHAP TreeExplainer on the trained model</a:t>
            </a:r>
          </a:p>
        </p:txBody>
      </p:sp>
      <p:sp>
        <p:nvSpPr>
          <p:cNvPr id="11" name="Oval 10"/>
          <p:cNvSpPr/>
          <p:nvPr/>
        </p:nvSpPr>
        <p:spPr>
          <a:xfrm>
            <a:off x="640080" y="3538728"/>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3</a:t>
            </a:r>
          </a:p>
        </p:txBody>
      </p:sp>
      <p:sp>
        <p:nvSpPr>
          <p:cNvPr id="12" name="TextBox 11"/>
          <p:cNvSpPr txBox="1"/>
          <p:nvPr/>
        </p:nvSpPr>
        <p:spPr>
          <a:xfrm>
            <a:off x="1143000" y="3520440"/>
            <a:ext cx="5303520" cy="457200"/>
          </a:xfrm>
          <a:prstGeom prst="rect">
            <a:avLst/>
          </a:prstGeom>
          <a:noFill/>
        </p:spPr>
        <p:txBody>
          <a:bodyPr wrap="square" anchor="ctr" lIns="0" rIns="0" tIns="0" bIns="0">
            <a:spAutoFit/>
          </a:bodyPr>
          <a:lstStyle/>
          <a:p>
            <a:pPr algn="l">
              <a:lnSpc>
                <a:spcPct val="110000"/>
              </a:lnSpc>
              <a:spcAft>
                <a:spcPts val="0"/>
              </a:spcAft>
            </a:pPr>
            <a:r>
              <a:rPr sz="1200" b="0" i="0">
                <a:solidFill>
                  <a:srgbClr val="121B15"/>
                </a:solidFill>
                <a:latin typeface="Segoe UI"/>
              </a:rPr>
              <a:t>Get a real per-feature contribution value</a:t>
            </a:r>
          </a:p>
        </p:txBody>
      </p:sp>
      <p:sp>
        <p:nvSpPr>
          <p:cNvPr id="13" name="Oval 12"/>
          <p:cNvSpPr/>
          <p:nvPr/>
        </p:nvSpPr>
        <p:spPr>
          <a:xfrm>
            <a:off x="640080" y="4050792"/>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4</a:t>
            </a:r>
          </a:p>
        </p:txBody>
      </p:sp>
      <p:sp>
        <p:nvSpPr>
          <p:cNvPr id="14" name="TextBox 13"/>
          <p:cNvSpPr txBox="1"/>
          <p:nvPr/>
        </p:nvSpPr>
        <p:spPr>
          <a:xfrm>
            <a:off x="1143000" y="4032504"/>
            <a:ext cx="5303520" cy="457200"/>
          </a:xfrm>
          <a:prstGeom prst="rect">
            <a:avLst/>
          </a:prstGeom>
          <a:noFill/>
        </p:spPr>
        <p:txBody>
          <a:bodyPr wrap="square" anchor="ctr" lIns="0" rIns="0" tIns="0" bIns="0">
            <a:spAutoFit/>
          </a:bodyPr>
          <a:lstStyle/>
          <a:p>
            <a:pPr algn="l">
              <a:lnSpc>
                <a:spcPct val="110000"/>
              </a:lnSpc>
              <a:spcAft>
                <a:spcPts val="0"/>
              </a:spcAft>
            </a:pPr>
            <a:r>
              <a:rPr sz="1200" b="0" i="0">
                <a:solidFill>
                  <a:srgbClr val="121B15"/>
                </a:solidFill>
                <a:latin typeface="Segoe UI"/>
              </a:rPr>
              <a:t>Sort contributions by magnitude (largest influence first)</a:t>
            </a:r>
          </a:p>
        </p:txBody>
      </p:sp>
      <p:sp>
        <p:nvSpPr>
          <p:cNvPr id="15" name="Oval 14"/>
          <p:cNvSpPr/>
          <p:nvPr/>
        </p:nvSpPr>
        <p:spPr>
          <a:xfrm>
            <a:off x="640080" y="4562856"/>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5</a:t>
            </a:r>
          </a:p>
        </p:txBody>
      </p:sp>
      <p:sp>
        <p:nvSpPr>
          <p:cNvPr id="16" name="TextBox 15"/>
          <p:cNvSpPr txBox="1"/>
          <p:nvPr/>
        </p:nvSpPr>
        <p:spPr>
          <a:xfrm>
            <a:off x="1143000" y="4544568"/>
            <a:ext cx="5303520" cy="457200"/>
          </a:xfrm>
          <a:prstGeom prst="rect">
            <a:avLst/>
          </a:prstGeom>
          <a:noFill/>
        </p:spPr>
        <p:txBody>
          <a:bodyPr wrap="square" anchor="ctr" lIns="0" rIns="0" tIns="0" bIns="0">
            <a:spAutoFit/>
          </a:bodyPr>
          <a:lstStyle/>
          <a:p>
            <a:pPr algn="l">
              <a:lnSpc>
                <a:spcPct val="110000"/>
              </a:lnSpc>
              <a:spcAft>
                <a:spcPts val="0"/>
              </a:spcAft>
            </a:pPr>
            <a:r>
              <a:rPr sz="1200" b="0" i="0">
                <a:solidFill>
                  <a:srgbClr val="121B15"/>
                </a:solidFill>
                <a:latin typeface="Segoe UI"/>
              </a:rPr>
              <a:t>Generate a natural-language explanation from the top features</a:t>
            </a:r>
          </a:p>
        </p:txBody>
      </p:sp>
      <p:sp>
        <p:nvSpPr>
          <p:cNvPr id="17" name="Rounded Rectangle 16"/>
          <p:cNvSpPr/>
          <p:nvPr/>
        </p:nvSpPr>
        <p:spPr>
          <a:xfrm>
            <a:off x="6537960" y="1417320"/>
            <a:ext cx="5120640" cy="4892040"/>
          </a:xfrm>
          <a:prstGeom prst="roundRect">
            <a:avLst>
              <a:gd name="adj" fmla="val 8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1645920"/>
            <a:ext cx="4572000" cy="365760"/>
          </a:xfrm>
          <a:prstGeom prst="rect">
            <a:avLst/>
          </a:prstGeom>
          <a:noFill/>
        </p:spPr>
        <p:txBody>
          <a:bodyPr wrap="square" anchor="t" lIns="0" rIns="0" tIns="0" bIns="0">
            <a:spAutoFit/>
          </a:bodyPr>
          <a:lstStyle/>
          <a:p>
            <a:pPr algn="l">
              <a:lnSpc>
                <a:spcPct val="110000"/>
              </a:lnSpc>
              <a:spcAft>
                <a:spcPts val="0"/>
              </a:spcAft>
            </a:pPr>
            <a:r>
              <a:rPr sz="1300" b="1" i="0">
                <a:solidFill>
                  <a:srgbClr val="66BB6A"/>
                </a:solidFill>
                <a:latin typeface="Segoe UI Semibold"/>
              </a:rPr>
              <a:t>Feature Importance (Active Model: Random Forest)</a:t>
            </a:r>
          </a:p>
        </p:txBody>
      </p:sp>
      <p:sp>
        <p:nvSpPr>
          <p:cNvPr id="19" name="TextBox 18"/>
          <p:cNvSpPr txBox="1"/>
          <p:nvPr/>
        </p:nvSpPr>
        <p:spPr>
          <a:xfrm>
            <a:off x="6812280" y="2331720"/>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rainfall</a:t>
            </a:r>
          </a:p>
        </p:txBody>
      </p:sp>
      <p:sp>
        <p:nvSpPr>
          <p:cNvPr id="20" name="Rounded Rectangle 19"/>
          <p:cNvSpPr/>
          <p:nvPr/>
        </p:nvSpPr>
        <p:spPr>
          <a:xfrm>
            <a:off x="8092440" y="2423160"/>
            <a:ext cx="1965960"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95560" y="2331720"/>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22.1%</a:t>
            </a:r>
          </a:p>
        </p:txBody>
      </p:sp>
      <p:sp>
        <p:nvSpPr>
          <p:cNvPr id="22" name="TextBox 21"/>
          <p:cNvSpPr txBox="1"/>
          <p:nvPr/>
        </p:nvSpPr>
        <p:spPr>
          <a:xfrm>
            <a:off x="6812280" y="2734056"/>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humidity</a:t>
            </a:r>
          </a:p>
        </p:txBody>
      </p:sp>
      <p:sp>
        <p:nvSpPr>
          <p:cNvPr id="23" name="Rounded Rectangle 22"/>
          <p:cNvSpPr/>
          <p:nvPr/>
        </p:nvSpPr>
        <p:spPr>
          <a:xfrm>
            <a:off x="8092440" y="2825496"/>
            <a:ext cx="1880753"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95560" y="2734056"/>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21.2%</a:t>
            </a:r>
          </a:p>
        </p:txBody>
      </p:sp>
      <p:sp>
        <p:nvSpPr>
          <p:cNvPr id="25" name="TextBox 24"/>
          <p:cNvSpPr txBox="1"/>
          <p:nvPr/>
        </p:nvSpPr>
        <p:spPr>
          <a:xfrm>
            <a:off x="6812280" y="3136392"/>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K</a:t>
            </a:r>
          </a:p>
        </p:txBody>
      </p:sp>
      <p:sp>
        <p:nvSpPr>
          <p:cNvPr id="26" name="Rounded Rectangle 25"/>
          <p:cNvSpPr/>
          <p:nvPr/>
        </p:nvSpPr>
        <p:spPr>
          <a:xfrm>
            <a:off x="8092440" y="3227832"/>
            <a:ext cx="1590519"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95560" y="3136392"/>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17.9%</a:t>
            </a:r>
          </a:p>
        </p:txBody>
      </p:sp>
      <p:sp>
        <p:nvSpPr>
          <p:cNvPr id="28" name="TextBox 27"/>
          <p:cNvSpPr txBox="1"/>
          <p:nvPr/>
        </p:nvSpPr>
        <p:spPr>
          <a:xfrm>
            <a:off x="6812280" y="3538728"/>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P</a:t>
            </a:r>
          </a:p>
        </p:txBody>
      </p:sp>
      <p:sp>
        <p:nvSpPr>
          <p:cNvPr id="29" name="Rounded Rectangle 28"/>
          <p:cNvSpPr/>
          <p:nvPr/>
        </p:nvSpPr>
        <p:spPr>
          <a:xfrm>
            <a:off x="8092440" y="3630168"/>
            <a:ext cx="1364189"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95560" y="3538728"/>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15.4%</a:t>
            </a:r>
          </a:p>
        </p:txBody>
      </p:sp>
      <p:sp>
        <p:nvSpPr>
          <p:cNvPr id="31" name="TextBox 30"/>
          <p:cNvSpPr txBox="1"/>
          <p:nvPr/>
        </p:nvSpPr>
        <p:spPr>
          <a:xfrm>
            <a:off x="6812280" y="3941064"/>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N</a:t>
            </a:r>
          </a:p>
        </p:txBody>
      </p:sp>
      <p:sp>
        <p:nvSpPr>
          <p:cNvPr id="32" name="Rounded Rectangle 31"/>
          <p:cNvSpPr/>
          <p:nvPr/>
        </p:nvSpPr>
        <p:spPr>
          <a:xfrm>
            <a:off x="8092440" y="4032504"/>
            <a:ext cx="922181"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95560" y="3941064"/>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10.4%</a:t>
            </a:r>
          </a:p>
        </p:txBody>
      </p:sp>
      <p:sp>
        <p:nvSpPr>
          <p:cNvPr id="34" name="TextBox 33"/>
          <p:cNvSpPr txBox="1"/>
          <p:nvPr/>
        </p:nvSpPr>
        <p:spPr>
          <a:xfrm>
            <a:off x="6812280" y="4343400"/>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temperature</a:t>
            </a:r>
          </a:p>
        </p:txBody>
      </p:sp>
      <p:sp>
        <p:nvSpPr>
          <p:cNvPr id="35" name="Rounded Rectangle 34"/>
          <p:cNvSpPr/>
          <p:nvPr/>
        </p:nvSpPr>
        <p:spPr>
          <a:xfrm>
            <a:off x="8092440" y="4434840"/>
            <a:ext cx="672775"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95560" y="4343400"/>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7.6%</a:t>
            </a:r>
          </a:p>
        </p:txBody>
      </p:sp>
      <p:sp>
        <p:nvSpPr>
          <p:cNvPr id="37" name="TextBox 36"/>
          <p:cNvSpPr txBox="1"/>
          <p:nvPr/>
        </p:nvSpPr>
        <p:spPr>
          <a:xfrm>
            <a:off x="6812280" y="4745736"/>
            <a:ext cx="1234440" cy="402336"/>
          </a:xfrm>
          <a:prstGeom prst="rect">
            <a:avLst/>
          </a:prstGeom>
          <a:noFill/>
        </p:spPr>
        <p:txBody>
          <a:bodyPr wrap="square" anchor="ctr" lIns="0" rIns="0" tIns="0" bIns="0">
            <a:spAutoFit/>
          </a:bodyPr>
          <a:lstStyle/>
          <a:p>
            <a:pPr algn="l">
              <a:lnSpc>
                <a:spcPct val="100000"/>
              </a:lnSpc>
              <a:spcAft>
                <a:spcPts val="0"/>
              </a:spcAft>
            </a:pPr>
            <a:r>
              <a:rPr sz="1050" b="1" i="0">
                <a:solidFill>
                  <a:srgbClr val="FFFFFF"/>
                </a:solidFill>
                <a:latin typeface="Segoe UI"/>
              </a:rPr>
              <a:t>ph</a:t>
            </a:r>
          </a:p>
        </p:txBody>
      </p:sp>
      <p:sp>
        <p:nvSpPr>
          <p:cNvPr id="38" name="Rounded Rectangle 37"/>
          <p:cNvSpPr/>
          <p:nvPr/>
        </p:nvSpPr>
        <p:spPr>
          <a:xfrm>
            <a:off x="8092440" y="4837176"/>
            <a:ext cx="478398" cy="219456"/>
          </a:xfrm>
          <a:prstGeom prst="roundRect">
            <a:avLst>
              <a:gd name="adj" fmla="val 3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4745736"/>
            <a:ext cx="1280160" cy="402336"/>
          </a:xfrm>
          <a:prstGeom prst="rect">
            <a:avLst/>
          </a:prstGeom>
          <a:noFill/>
        </p:spPr>
        <p:txBody>
          <a:bodyPr wrap="square" anchor="ctr" lIns="0" rIns="0" tIns="0" bIns="0">
            <a:spAutoFit/>
          </a:bodyPr>
          <a:lstStyle/>
          <a:p>
            <a:pPr algn="l">
              <a:lnSpc>
                <a:spcPct val="100000"/>
              </a:lnSpc>
              <a:spcAft>
                <a:spcPts val="0"/>
              </a:spcAft>
            </a:pPr>
            <a:r>
              <a:rPr sz="1050" b="0" i="0">
                <a:solidFill>
                  <a:srgbClr val="FFFFFF"/>
                </a:solidFill>
                <a:latin typeface="Segoe UI"/>
              </a:rPr>
              <a:t>5.4%</a:t>
            </a:r>
          </a:p>
        </p:txBody>
      </p:sp>
      <p:sp>
        <p:nvSpPr>
          <p:cNvPr id="40" name="TextBox 39"/>
          <p:cNvSpPr txBox="1"/>
          <p:nvPr/>
        </p:nvSpPr>
        <p:spPr>
          <a:xfrm>
            <a:off x="6812280" y="5193792"/>
            <a:ext cx="4572000" cy="822960"/>
          </a:xfrm>
          <a:prstGeom prst="rect">
            <a:avLst/>
          </a:prstGeom>
          <a:noFill/>
        </p:spPr>
        <p:txBody>
          <a:bodyPr wrap="square" anchor="t" lIns="0" rIns="0" tIns="0" bIns="0">
            <a:spAutoFit/>
          </a:bodyPr>
          <a:lstStyle/>
          <a:p>
            <a:pPr algn="l">
              <a:lnSpc>
                <a:spcPct val="125000"/>
              </a:lnSpc>
              <a:spcAft>
                <a:spcPts val="0"/>
              </a:spcAft>
            </a:pPr>
            <a:r>
              <a:rPr sz="1050" b="0" i="1">
                <a:solidFill>
                  <a:srgbClr val="AFC4B6"/>
                </a:solidFill>
                <a:latin typeface="Segoe UI"/>
              </a:rPr>
              <a:t>e.g. "Rice received a strong recommendation mainly because current rainfall, nitrogen levels and humidity are favorable for this crop."</a:t>
            </a:r>
          </a:p>
        </p:txBody>
      </p:sp>
      <p:cxnSp>
        <p:nvCxnSpPr>
          <p:cNvPr id="41" name="Connector 40"/>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43" name="TextBox 42"/>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CURRENT IMPLEMENTATION — PHASE 1</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What Is Working Today (Phase-1 Baseline)</a:t>
            </a:r>
          </a:p>
        </p:txBody>
      </p:sp>
      <p:sp>
        <p:nvSpPr>
          <p:cNvPr id="6" name="Oval 5"/>
          <p:cNvSpPr/>
          <p:nvPr/>
        </p:nvSpPr>
        <p:spPr>
          <a:xfrm>
            <a:off x="640080" y="15087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7" name="TextBox 6"/>
          <p:cNvSpPr txBox="1"/>
          <p:nvPr/>
        </p:nvSpPr>
        <p:spPr>
          <a:xfrm>
            <a:off x="1051560" y="14904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JWT-based authentication (register / login)</a:t>
            </a:r>
          </a:p>
        </p:txBody>
      </p:sp>
      <p:sp>
        <p:nvSpPr>
          <p:cNvPr id="8" name="Oval 7"/>
          <p:cNvSpPr/>
          <p:nvPr/>
        </p:nvSpPr>
        <p:spPr>
          <a:xfrm>
            <a:off x="640080" y="19659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9" name="TextBox 8"/>
          <p:cNvSpPr txBox="1"/>
          <p:nvPr/>
        </p:nvSpPr>
        <p:spPr>
          <a:xfrm>
            <a:off x="1051560" y="19476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Farm creation &amp; soil parameter input form</a:t>
            </a:r>
          </a:p>
        </p:txBody>
      </p:sp>
      <p:sp>
        <p:nvSpPr>
          <p:cNvPr id="10" name="Oval 9"/>
          <p:cNvSpPr/>
          <p:nvPr/>
        </p:nvSpPr>
        <p:spPr>
          <a:xfrm>
            <a:off x="640080" y="24231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11" name="TextBox 10"/>
          <p:cNvSpPr txBox="1"/>
          <p:nvPr/>
        </p:nvSpPr>
        <p:spPr>
          <a:xfrm>
            <a:off x="1051560" y="24048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Farmer dashboard with soil health snapshot</a:t>
            </a:r>
          </a:p>
        </p:txBody>
      </p:sp>
      <p:sp>
        <p:nvSpPr>
          <p:cNvPr id="12" name="Oval 11"/>
          <p:cNvSpPr/>
          <p:nvPr/>
        </p:nvSpPr>
        <p:spPr>
          <a:xfrm>
            <a:off x="640080" y="28803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13" name="TextBox 12"/>
          <p:cNvSpPr txBox="1"/>
          <p:nvPr/>
        </p:nvSpPr>
        <p:spPr>
          <a:xfrm>
            <a:off x="1051560" y="28620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Crop recommendation engine (trained Random Forest, real inference)</a:t>
            </a:r>
          </a:p>
        </p:txBody>
      </p:sp>
      <p:sp>
        <p:nvSpPr>
          <p:cNvPr id="14" name="Oval 13"/>
          <p:cNvSpPr/>
          <p:nvPr/>
        </p:nvSpPr>
        <p:spPr>
          <a:xfrm>
            <a:off x="640080" y="33375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15" name="TextBox 14"/>
          <p:cNvSpPr txBox="1"/>
          <p:nvPr/>
        </p:nvSpPr>
        <p:spPr>
          <a:xfrm>
            <a:off x="1051560" y="33192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Top-5 ranked crops with real model probabilities</a:t>
            </a:r>
          </a:p>
        </p:txBody>
      </p:sp>
      <p:sp>
        <p:nvSpPr>
          <p:cNvPr id="16" name="Oval 15"/>
          <p:cNvSpPr/>
          <p:nvPr/>
        </p:nvSpPr>
        <p:spPr>
          <a:xfrm>
            <a:off x="640080" y="37947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17" name="TextBox 16"/>
          <p:cNvSpPr txBox="1"/>
          <p:nvPr/>
        </p:nvSpPr>
        <p:spPr>
          <a:xfrm>
            <a:off x="1051560" y="37764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Explainable AI: SHAP feature-contribution chart + generated explanation</a:t>
            </a:r>
          </a:p>
        </p:txBody>
      </p:sp>
      <p:sp>
        <p:nvSpPr>
          <p:cNvPr id="18" name="Oval 17"/>
          <p:cNvSpPr/>
          <p:nvPr/>
        </p:nvSpPr>
        <p:spPr>
          <a:xfrm>
            <a:off x="640080" y="42519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19" name="TextBox 18"/>
          <p:cNvSpPr txBox="1"/>
          <p:nvPr/>
        </p:nvSpPr>
        <p:spPr>
          <a:xfrm>
            <a:off x="1051560" y="42336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Model comparison lab: 4 trained algorithms, real metrics, confusion matrix</a:t>
            </a:r>
          </a:p>
        </p:txBody>
      </p:sp>
      <p:sp>
        <p:nvSpPr>
          <p:cNvPr id="20" name="Oval 19"/>
          <p:cNvSpPr/>
          <p:nvPr/>
        </p:nvSpPr>
        <p:spPr>
          <a:xfrm>
            <a:off x="640080" y="4709160"/>
            <a:ext cx="274320" cy="27432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Segoe UI"/>
              </a:rPr>
              <a:t>✓</a:t>
            </a:r>
          </a:p>
        </p:txBody>
      </p:sp>
      <p:sp>
        <p:nvSpPr>
          <p:cNvPr id="21" name="TextBox 20"/>
          <p:cNvSpPr txBox="1"/>
          <p:nvPr/>
        </p:nvSpPr>
        <p:spPr>
          <a:xfrm>
            <a:off x="1051560" y="4690872"/>
            <a:ext cx="5486400" cy="384048"/>
          </a:xfrm>
          <a:prstGeom prst="rect">
            <a:avLst/>
          </a:prstGeom>
          <a:noFill/>
        </p:spPr>
        <p:txBody>
          <a:bodyPr wrap="square" anchor="ctr" lIns="0" rIns="0" tIns="0" bIns="0">
            <a:spAutoFit/>
          </a:bodyPr>
          <a:lstStyle/>
          <a:p>
            <a:pPr algn="l">
              <a:lnSpc>
                <a:spcPct val="105000"/>
              </a:lnSpc>
              <a:spcAft>
                <a:spcPts val="0"/>
              </a:spcAft>
            </a:pPr>
            <a:r>
              <a:rPr sz="1200" b="0" i="0">
                <a:solidFill>
                  <a:srgbClr val="FFFFFF"/>
                </a:solidFill>
                <a:latin typeface="Segoe UI"/>
              </a:rPr>
              <a:t>Recommendation history log per farm</a:t>
            </a:r>
          </a:p>
        </p:txBody>
      </p:sp>
      <p:sp>
        <p:nvSpPr>
          <p:cNvPr id="22" name="Rounded Rectangle 21"/>
          <p:cNvSpPr/>
          <p:nvPr/>
        </p:nvSpPr>
        <p:spPr>
          <a:xfrm>
            <a:off x="7315200" y="1508760"/>
            <a:ext cx="4343400" cy="2011680"/>
          </a:xfrm>
          <a:prstGeom prst="roundRect">
            <a:avLst>
              <a:gd name="adj" fmla="val 10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1691640"/>
            <a:ext cx="38404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66BB6A"/>
                </a:solidFill>
                <a:latin typeface="Segoe UI Semibold"/>
              </a:rPr>
              <a:t>Extension Modules Delivered</a:t>
            </a:r>
          </a:p>
        </p:txBody>
      </p:sp>
      <p:sp>
        <p:nvSpPr>
          <p:cNvPr id="24" name="Rounded Rectangle 23"/>
          <p:cNvSpPr/>
          <p:nvPr/>
        </p:nvSpPr>
        <p:spPr>
          <a:xfrm>
            <a:off x="7589520" y="2148840"/>
            <a:ext cx="3794760" cy="384048"/>
          </a:xfrm>
          <a:prstGeom prst="roundRect">
            <a:avLst>
              <a:gd name="adj" fmla="val 50000"/>
            </a:avLst>
          </a:prstGeom>
          <a:solidFill>
            <a:srgbClr val="244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89520" y="2148840"/>
            <a:ext cx="3415284" cy="384048"/>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2148840"/>
            <a:ext cx="3794760" cy="384048"/>
          </a:xfrm>
          <a:prstGeom prst="rect">
            <a:avLst/>
          </a:prstGeom>
          <a:noFill/>
        </p:spPr>
        <p:txBody>
          <a:bodyPr wrap="square" anchor="ctr" lIns="0" rIns="0" tIns="0" bIns="0">
            <a:spAutoFit/>
          </a:bodyPr>
          <a:lstStyle/>
          <a:p>
            <a:pPr algn="ctr">
              <a:lnSpc>
                <a:spcPct val="100000"/>
              </a:lnSpc>
              <a:spcAft>
                <a:spcPts val="0"/>
              </a:spcAft>
            </a:pPr>
            <a:r>
              <a:rPr sz="1500" b="1" i="0">
                <a:solidFill>
                  <a:srgbClr val="121B15"/>
                </a:solidFill>
                <a:latin typeface="Segoe UI"/>
              </a:rPr>
              <a:t>9 / 10</a:t>
            </a:r>
          </a:p>
        </p:txBody>
      </p:sp>
      <p:sp>
        <p:nvSpPr>
          <p:cNvPr id="27" name="TextBox 26"/>
          <p:cNvSpPr txBox="1"/>
          <p:nvPr/>
        </p:nvSpPr>
        <p:spPr>
          <a:xfrm>
            <a:off x="7589520" y="2697480"/>
            <a:ext cx="3840480" cy="731520"/>
          </a:xfrm>
          <a:prstGeom prst="rect">
            <a:avLst/>
          </a:prstGeom>
          <a:noFill/>
        </p:spPr>
        <p:txBody>
          <a:bodyPr wrap="square" anchor="t" lIns="0" rIns="0" tIns="0" bIns="0">
            <a:spAutoFit/>
          </a:bodyPr>
          <a:lstStyle/>
          <a:p>
            <a:pPr algn="l">
              <a:lnSpc>
                <a:spcPct val="125000"/>
              </a:lnSpc>
              <a:spcAft>
                <a:spcPts val="0"/>
              </a:spcAft>
            </a:pPr>
            <a:r>
              <a:rPr sz="1050" b="0" i="1">
                <a:solidFill>
                  <a:srgbClr val="AFC4B6"/>
                </a:solidFill>
                <a:latin typeface="Segoe UI"/>
              </a:rPr>
              <a:t>Baseline crop recommendation system verified end-to-end. 9 of the 10 originally-planned extension modules (see next slide) are now implemented and tested — only Satellite/NDVI remains future scope.</a:t>
            </a:r>
          </a:p>
        </p:txBody>
      </p:sp>
      <p:sp>
        <p:nvSpPr>
          <p:cNvPr id="28" name="Rounded Rectangle 27"/>
          <p:cNvSpPr/>
          <p:nvPr/>
        </p:nvSpPr>
        <p:spPr>
          <a:xfrm>
            <a:off x="7315200" y="3749039"/>
            <a:ext cx="4343400" cy="2560320"/>
          </a:xfrm>
          <a:prstGeom prst="roundRect">
            <a:avLst>
              <a:gd name="adj" fmla="val 10000"/>
            </a:avLst>
          </a:prstGeom>
          <a:solidFill>
            <a:srgbClr val="2E2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3931920"/>
            <a:ext cx="3840480" cy="320040"/>
          </a:xfrm>
          <a:prstGeom prst="rect">
            <a:avLst/>
          </a:prstGeom>
          <a:noFill/>
        </p:spPr>
        <p:txBody>
          <a:bodyPr wrap="square" anchor="t" lIns="0" rIns="0" tIns="0" bIns="0">
            <a:spAutoFit/>
          </a:bodyPr>
          <a:lstStyle/>
          <a:p>
            <a:pPr algn="l">
              <a:lnSpc>
                <a:spcPct val="110000"/>
              </a:lnSpc>
              <a:spcAft>
                <a:spcPts val="0"/>
              </a:spcAft>
            </a:pPr>
            <a:r>
              <a:rPr sz="1250" b="1" i="0">
                <a:solidFill>
                  <a:srgbClr val="D8A63A"/>
                </a:solidFill>
                <a:latin typeface="Segoe UI Semibold"/>
              </a:rPr>
              <a:t>Under Development / Not Yet Wired to ML</a:t>
            </a:r>
          </a:p>
        </p:txBody>
      </p:sp>
      <p:sp>
        <p:nvSpPr>
          <p:cNvPr id="30" name="TextBox 29"/>
          <p:cNvSpPr txBox="1"/>
          <p:nvPr/>
        </p:nvSpPr>
        <p:spPr>
          <a:xfrm>
            <a:off x="7589520" y="4343400"/>
            <a:ext cx="3840480" cy="1828800"/>
          </a:xfrm>
          <a:prstGeom prst="rect">
            <a:avLst/>
          </a:prstGeom>
          <a:noFill/>
        </p:spPr>
        <p:txBody>
          <a:bodyPr wrap="square" anchor="t" lIns="0" rIns="0" tIns="0" bIns="0">
            <a:spAutoFit/>
          </a:bodyPr>
          <a:lstStyle/>
          <a:p>
            <a:pPr algn="l">
              <a:lnSpc>
                <a:spcPct val="140000"/>
              </a:lnSpc>
              <a:spcAft>
                <a:spcPts val="0"/>
              </a:spcAft>
            </a:pPr>
            <a:r>
              <a:rPr sz="1100" b="0" i="0">
                <a:solidFill>
                  <a:srgbClr val="FFFFFF"/>
                </a:solidFill>
                <a:latin typeface="Segoe UI"/>
              </a:rPr>
              <a:t>•  Live weather data integration (currently mock/demo provider)</a:t>
            </a:r>
          </a:p>
          <a:p>
            <a:pPr algn="l">
              <a:lnSpc>
                <a:spcPct val="140000"/>
              </a:lnSpc>
              <a:spcAft>
                <a:spcPts val="0"/>
              </a:spcAft>
            </a:pPr>
            <a:r>
              <a:rPr sz="1100" b="0" i="0">
                <a:solidFill>
                  <a:srgbClr val="FFFFFF"/>
                </a:solidFill>
                <a:latin typeface="Segoe UI"/>
              </a:rPr>
              <a:t>•  Region/soil-type-specific model retraining</a:t>
            </a:r>
          </a:p>
          <a:p>
            <a:pPr algn="l">
              <a:lnSpc>
                <a:spcPct val="140000"/>
              </a:lnSpc>
              <a:spcAft>
                <a:spcPts val="0"/>
              </a:spcAft>
            </a:pPr>
            <a:r>
              <a:rPr sz="1100" b="0" i="0">
                <a:solidFill>
                  <a:srgbClr val="FFFFFF"/>
                </a:solidFill>
                <a:latin typeface="Segoe UI"/>
              </a:rPr>
              <a:t>•  Deployment-grade UI polish &amp; user testing</a:t>
            </a:r>
          </a:p>
          <a:p>
            <a:pPr algn="l">
              <a:lnSpc>
                <a:spcPct val="140000"/>
              </a:lnSpc>
              <a:spcAft>
                <a:spcPts val="0"/>
              </a:spcAft>
            </a:pPr>
            <a:r>
              <a:rPr sz="1100" b="0" i="0">
                <a:solidFill>
                  <a:srgbClr val="FFFFFF"/>
                </a:solidFill>
                <a:latin typeface="Segoe UI"/>
              </a:rPr>
              <a:t>•  Satellite/NDVI monitoring (no data provider connected)</a:t>
            </a:r>
          </a:p>
        </p:txBody>
      </p:sp>
      <p:cxnSp>
        <p:nvCxnSpPr>
          <p:cNvPr id="31" name="Connector 30"/>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33" name="TextBox 32"/>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RESULTS &amp; EVALUATION</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Model Performance on Held-Out Test Data</a:t>
            </a:r>
          </a:p>
        </p:txBody>
      </p:sp>
      <p:sp>
        <p:nvSpPr>
          <p:cNvPr id="6" name="TextBox 5"/>
          <p:cNvSpPr txBox="1"/>
          <p:nvPr/>
        </p:nvSpPr>
        <p:spPr>
          <a:xfrm>
            <a:off x="640080" y="1371600"/>
            <a:ext cx="10881360" cy="365760"/>
          </a:xfrm>
          <a:prstGeom prst="rect">
            <a:avLst/>
          </a:prstGeom>
          <a:noFill/>
        </p:spPr>
        <p:txBody>
          <a:bodyPr wrap="square" anchor="t" lIns="0" rIns="0" tIns="0" bIns="0">
            <a:spAutoFit/>
          </a:bodyPr>
          <a:lstStyle/>
          <a:p>
            <a:pPr algn="l">
              <a:lnSpc>
                <a:spcPct val="100000"/>
              </a:lnSpc>
              <a:spcAft>
                <a:spcPts val="0"/>
              </a:spcAft>
            </a:pPr>
            <a:r>
              <a:rPr sz="1150" b="0" i="1">
                <a:solidFill>
                  <a:srgbClr val="5B6B60"/>
                </a:solidFill>
                <a:latin typeface="Segoe UI"/>
              </a:rPr>
              <a:t>Stratified 80/20 split (1,760 train / 440 test rows), random_state=42 — metrics from models/metrics.json</a:t>
            </a:r>
          </a:p>
        </p:txBody>
      </p:sp>
      <p:graphicFrame>
        <p:nvGraphicFramePr>
          <p:cNvPr id="7" name="Table 6"/>
          <p:cNvGraphicFramePr>
            <a:graphicFrameLocks noGrp="1"/>
          </p:cNvGraphicFramePr>
          <p:nvPr/>
        </p:nvGraphicFramePr>
        <p:xfrm>
          <a:off x="640080" y="1874519"/>
          <a:ext cx="10881358" cy="1828800"/>
        </p:xfrm>
        <a:graphic>
          <a:graphicData uri="http://schemas.openxmlformats.org/drawingml/2006/table">
            <a:tbl>
              <a:tblPr firstRow="1" bandRow="1">
                <a:tableStyleId>{5C22544A-7EE6-4342-B048-85BDC9FD1C3A}</a:tableStyleId>
              </a:tblPr>
              <a:tblGrid>
                <a:gridCol w="2611526"/>
                <a:gridCol w="1523390"/>
                <a:gridCol w="1523390"/>
                <a:gridCol w="1523390"/>
                <a:gridCol w="1523390"/>
                <a:gridCol w="2176272"/>
              </a:tblGrid>
              <a:tr h="365760">
                <a:tc>
                  <a:txBody>
                    <a:bodyPr wrap="square"/>
                    <a:lstStyle/>
                    <a:p>
                      <a:pPr algn="l"/>
                      <a:r>
                        <a:rPr sz="1200" b="1">
                          <a:solidFill>
                            <a:srgbClr val="FFFFFF"/>
                          </a:solidFill>
                          <a:latin typeface="Segoe UI Semibold"/>
                        </a:rPr>
                        <a:t>Model</a:t>
                      </a:r>
                    </a:p>
                  </a:txBody>
                  <a:tcPr marL="101600" marR="101600" marT="50800" marB="50800" anchor="ctr">
                    <a:solidFill>
                      <a:srgbClr val="2E7D32"/>
                    </a:solidFill>
                  </a:tcPr>
                </a:tc>
                <a:tc>
                  <a:txBody>
                    <a:bodyPr wrap="square"/>
                    <a:lstStyle/>
                    <a:p>
                      <a:pPr algn="ctr"/>
                      <a:r>
                        <a:rPr sz="1200" b="1">
                          <a:solidFill>
                            <a:srgbClr val="FFFFFF"/>
                          </a:solidFill>
                          <a:latin typeface="Segoe UI Semibold"/>
                        </a:rPr>
                        <a:t>Accuracy</a:t>
                      </a:r>
                    </a:p>
                  </a:txBody>
                  <a:tcPr marL="101600" marR="101600" marT="50800" marB="50800" anchor="ctr">
                    <a:solidFill>
                      <a:srgbClr val="2E7D32"/>
                    </a:solidFill>
                  </a:tcPr>
                </a:tc>
                <a:tc>
                  <a:txBody>
                    <a:bodyPr wrap="square"/>
                    <a:lstStyle/>
                    <a:p>
                      <a:pPr algn="ctr"/>
                      <a:r>
                        <a:rPr sz="1200" b="1">
                          <a:solidFill>
                            <a:srgbClr val="FFFFFF"/>
                          </a:solidFill>
                          <a:latin typeface="Segoe UI Semibold"/>
                        </a:rPr>
                        <a:t>Precision</a:t>
                      </a:r>
                    </a:p>
                  </a:txBody>
                  <a:tcPr marL="101600" marR="101600" marT="50800" marB="50800" anchor="ctr">
                    <a:solidFill>
                      <a:srgbClr val="2E7D32"/>
                    </a:solidFill>
                  </a:tcPr>
                </a:tc>
                <a:tc>
                  <a:txBody>
                    <a:bodyPr wrap="square"/>
                    <a:lstStyle/>
                    <a:p>
                      <a:pPr algn="ctr"/>
                      <a:r>
                        <a:rPr sz="1200" b="1">
                          <a:solidFill>
                            <a:srgbClr val="FFFFFF"/>
                          </a:solidFill>
                          <a:latin typeface="Segoe UI Semibold"/>
                        </a:rPr>
                        <a:t>Recall</a:t>
                      </a:r>
                    </a:p>
                  </a:txBody>
                  <a:tcPr marL="101600" marR="101600" marT="50800" marB="50800" anchor="ctr">
                    <a:solidFill>
                      <a:srgbClr val="2E7D32"/>
                    </a:solidFill>
                  </a:tcPr>
                </a:tc>
                <a:tc>
                  <a:txBody>
                    <a:bodyPr wrap="square"/>
                    <a:lstStyle/>
                    <a:p>
                      <a:pPr algn="ctr"/>
                      <a:r>
                        <a:rPr sz="1200" b="1">
                          <a:solidFill>
                            <a:srgbClr val="FFFFFF"/>
                          </a:solidFill>
                          <a:latin typeface="Segoe UI Semibold"/>
                        </a:rPr>
                        <a:t>F1-Score</a:t>
                      </a:r>
                    </a:p>
                  </a:txBody>
                  <a:tcPr marL="101600" marR="101600" marT="50800" marB="50800" anchor="ctr">
                    <a:solidFill>
                      <a:srgbClr val="2E7D32"/>
                    </a:solidFill>
                  </a:tcPr>
                </a:tc>
                <a:tc>
                  <a:txBody>
                    <a:bodyPr wrap="square"/>
                    <a:lstStyle/>
                    <a:p>
                      <a:pPr algn="ctr"/>
                      <a:r>
                        <a:rPr sz="1200" b="1">
                          <a:solidFill>
                            <a:srgbClr val="FFFFFF"/>
                          </a:solidFill>
                          <a:latin typeface="Segoe UI Semibold"/>
                        </a:rPr>
                        <a:t>5-Fold CV Mean</a:t>
                      </a:r>
                    </a:p>
                  </a:txBody>
                  <a:tcPr marL="101600" marR="101600" marT="50800" marB="50800" anchor="ctr">
                    <a:solidFill>
                      <a:srgbClr val="2E7D32"/>
                    </a:solidFill>
                  </a:tcPr>
                </a:tc>
              </a:tr>
              <a:tr h="365760">
                <a:tc>
                  <a:txBody>
                    <a:bodyPr wrap="square"/>
                    <a:lstStyle/>
                    <a:p>
                      <a:pPr algn="l"/>
                      <a:r>
                        <a:rPr sz="1150">
                          <a:solidFill>
                            <a:srgbClr val="121B15"/>
                          </a:solidFill>
                          <a:latin typeface="Segoe UI"/>
                        </a:rPr>
                        <a:t>Random Forest (active)</a:t>
                      </a:r>
                    </a:p>
                  </a:txBody>
                  <a:tcPr marL="101600" marR="101600" marT="50800" marB="50800" anchor="ctr">
                    <a:solidFill>
                      <a:srgbClr val="FFFFFF"/>
                    </a:solidFill>
                  </a:tcPr>
                </a:tc>
                <a:tc>
                  <a:txBody>
                    <a:bodyPr wrap="square"/>
                    <a:lstStyle/>
                    <a:p>
                      <a:pPr algn="ctr"/>
                      <a:r>
                        <a:rPr sz="1150">
                          <a:solidFill>
                            <a:srgbClr val="121B15"/>
                          </a:solidFill>
                          <a:latin typeface="Segoe UI"/>
                        </a:rPr>
                        <a:t>99.32%</a:t>
                      </a:r>
                    </a:p>
                  </a:txBody>
                  <a:tcPr marL="101600" marR="101600" marT="50800" marB="50800" anchor="ctr">
                    <a:solidFill>
                      <a:srgbClr val="FFFFFF"/>
                    </a:solidFill>
                  </a:tcPr>
                </a:tc>
                <a:tc>
                  <a:txBody>
                    <a:bodyPr wrap="square"/>
                    <a:lstStyle/>
                    <a:p>
                      <a:pPr algn="ctr"/>
                      <a:r>
                        <a:rPr sz="1150">
                          <a:solidFill>
                            <a:srgbClr val="121B15"/>
                          </a:solidFill>
                          <a:latin typeface="Segoe UI"/>
                        </a:rPr>
                        <a:t>99.35%</a:t>
                      </a:r>
                    </a:p>
                  </a:txBody>
                  <a:tcPr marL="101600" marR="101600" marT="50800" marB="50800" anchor="ctr">
                    <a:solidFill>
                      <a:srgbClr val="FFFFFF"/>
                    </a:solidFill>
                  </a:tcPr>
                </a:tc>
                <a:tc>
                  <a:txBody>
                    <a:bodyPr wrap="square"/>
                    <a:lstStyle/>
                    <a:p>
                      <a:pPr algn="ctr"/>
                      <a:r>
                        <a:rPr sz="1150">
                          <a:solidFill>
                            <a:srgbClr val="121B15"/>
                          </a:solidFill>
                          <a:latin typeface="Segoe UI"/>
                        </a:rPr>
                        <a:t>99.32%</a:t>
                      </a:r>
                    </a:p>
                  </a:txBody>
                  <a:tcPr marL="101600" marR="101600" marT="50800" marB="50800" anchor="ctr">
                    <a:solidFill>
                      <a:srgbClr val="FFFFFF"/>
                    </a:solidFill>
                  </a:tcPr>
                </a:tc>
                <a:tc>
                  <a:txBody>
                    <a:bodyPr wrap="square"/>
                    <a:lstStyle/>
                    <a:p>
                      <a:pPr algn="ctr"/>
                      <a:r>
                        <a:rPr sz="1150">
                          <a:solidFill>
                            <a:srgbClr val="121B15"/>
                          </a:solidFill>
                          <a:latin typeface="Segoe UI"/>
                        </a:rPr>
                        <a:t>99.32%</a:t>
                      </a:r>
                    </a:p>
                  </a:txBody>
                  <a:tcPr marL="101600" marR="101600" marT="50800" marB="50800" anchor="ctr">
                    <a:solidFill>
                      <a:srgbClr val="FFFFFF"/>
                    </a:solidFill>
                  </a:tcPr>
                </a:tc>
                <a:tc>
                  <a:txBody>
                    <a:bodyPr wrap="square"/>
                    <a:lstStyle/>
                    <a:p>
                      <a:pPr algn="ctr"/>
                      <a:r>
                        <a:rPr sz="1150">
                          <a:solidFill>
                            <a:srgbClr val="121B15"/>
                          </a:solidFill>
                          <a:latin typeface="Segoe UI"/>
                        </a:rPr>
                        <a:t>99.41% (+/-0.27%)</a:t>
                      </a:r>
                    </a:p>
                  </a:txBody>
                  <a:tcPr marL="101600" marR="101600" marT="50800" marB="50800" anchor="ctr">
                    <a:solidFill>
                      <a:srgbClr val="FFFFFF"/>
                    </a:solidFill>
                  </a:tcPr>
                </a:tc>
              </a:tr>
              <a:tr h="365760">
                <a:tc>
                  <a:txBody>
                    <a:bodyPr wrap="square"/>
                    <a:lstStyle/>
                    <a:p>
                      <a:pPr algn="l"/>
                      <a:r>
                        <a:rPr sz="1150">
                          <a:solidFill>
                            <a:srgbClr val="121B15"/>
                          </a:solidFill>
                          <a:latin typeface="Segoe UI"/>
                        </a:rPr>
                        <a:t>Gradient Boosting</a:t>
                      </a:r>
                    </a:p>
                  </a:txBody>
                  <a:tcPr marL="101600" marR="101600" marT="50800" marB="50800" anchor="ctr">
                    <a:solidFill>
                      <a:srgbClr val="EEF5EE"/>
                    </a:solidFill>
                  </a:tcPr>
                </a:tc>
                <a:tc>
                  <a:txBody>
                    <a:bodyPr wrap="square"/>
                    <a:lstStyle/>
                    <a:p>
                      <a:pPr algn="ctr"/>
                      <a:r>
                        <a:rPr sz="1150">
                          <a:solidFill>
                            <a:srgbClr val="121B15"/>
                          </a:solidFill>
                          <a:latin typeface="Segoe UI"/>
                        </a:rPr>
                        <a:t>98.86%</a:t>
                      </a:r>
                    </a:p>
                  </a:txBody>
                  <a:tcPr marL="101600" marR="101600" marT="50800" marB="50800" anchor="ctr">
                    <a:solidFill>
                      <a:srgbClr val="EEF5EE"/>
                    </a:solidFill>
                  </a:tcPr>
                </a:tc>
                <a:tc>
                  <a:txBody>
                    <a:bodyPr wrap="square"/>
                    <a:lstStyle/>
                    <a:p>
                      <a:pPr algn="ctr"/>
                      <a:r>
                        <a:rPr sz="1150">
                          <a:solidFill>
                            <a:srgbClr val="121B15"/>
                          </a:solidFill>
                          <a:latin typeface="Segoe UI"/>
                        </a:rPr>
                        <a:t>98.97%</a:t>
                      </a:r>
                    </a:p>
                  </a:txBody>
                  <a:tcPr marL="101600" marR="101600" marT="50800" marB="50800" anchor="ctr">
                    <a:solidFill>
                      <a:srgbClr val="EEF5EE"/>
                    </a:solidFill>
                  </a:tcPr>
                </a:tc>
                <a:tc>
                  <a:txBody>
                    <a:bodyPr wrap="square"/>
                    <a:lstStyle/>
                    <a:p>
                      <a:pPr algn="ctr"/>
                      <a:r>
                        <a:rPr sz="1150">
                          <a:solidFill>
                            <a:srgbClr val="121B15"/>
                          </a:solidFill>
                          <a:latin typeface="Segoe UI"/>
                        </a:rPr>
                        <a:t>98.86%</a:t>
                      </a:r>
                    </a:p>
                  </a:txBody>
                  <a:tcPr marL="101600" marR="101600" marT="50800" marB="50800" anchor="ctr">
                    <a:solidFill>
                      <a:srgbClr val="EEF5EE"/>
                    </a:solidFill>
                  </a:tcPr>
                </a:tc>
                <a:tc>
                  <a:txBody>
                    <a:bodyPr wrap="square"/>
                    <a:lstStyle/>
                    <a:p>
                      <a:pPr algn="ctr"/>
                      <a:r>
                        <a:rPr sz="1150">
                          <a:solidFill>
                            <a:srgbClr val="121B15"/>
                          </a:solidFill>
                          <a:latin typeface="Segoe UI"/>
                        </a:rPr>
                        <a:t>98.87%</a:t>
                      </a:r>
                    </a:p>
                  </a:txBody>
                  <a:tcPr marL="101600" marR="101600" marT="50800" marB="50800" anchor="ctr">
                    <a:solidFill>
                      <a:srgbClr val="EEF5EE"/>
                    </a:solidFill>
                  </a:tcPr>
                </a:tc>
                <a:tc>
                  <a:txBody>
                    <a:bodyPr wrap="square"/>
                    <a:lstStyle/>
                    <a:p>
                      <a:pPr algn="ctr"/>
                      <a:r>
                        <a:rPr sz="1150">
                          <a:solidFill>
                            <a:srgbClr val="121B15"/>
                          </a:solidFill>
                          <a:latin typeface="Segoe UI"/>
                        </a:rPr>
                        <a:t>99.09% (+/-0.32%)</a:t>
                      </a:r>
                    </a:p>
                  </a:txBody>
                  <a:tcPr marL="101600" marR="101600" marT="50800" marB="50800" anchor="ctr">
                    <a:solidFill>
                      <a:srgbClr val="EEF5EE"/>
                    </a:solidFill>
                  </a:tcPr>
                </a:tc>
              </a:tr>
              <a:tr h="365760">
                <a:tc>
                  <a:txBody>
                    <a:bodyPr wrap="square"/>
                    <a:lstStyle/>
                    <a:p>
                      <a:pPr algn="l"/>
                      <a:r>
                        <a:rPr sz="1150">
                          <a:solidFill>
                            <a:srgbClr val="121B15"/>
                          </a:solidFill>
                          <a:latin typeface="Segoe UI"/>
                        </a:rPr>
                        <a:t>XGBoost</a:t>
                      </a:r>
                    </a:p>
                  </a:txBody>
                  <a:tcPr marL="101600" marR="101600" marT="50800" marB="50800" anchor="ctr">
                    <a:solidFill>
                      <a:srgbClr val="FFFFFF"/>
                    </a:solidFill>
                  </a:tcPr>
                </a:tc>
                <a:tc>
                  <a:txBody>
                    <a:bodyPr wrap="square"/>
                    <a:lstStyle/>
                    <a:p>
                      <a:pPr algn="ctr"/>
                      <a:r>
                        <a:rPr sz="1150">
                          <a:solidFill>
                            <a:srgbClr val="121B15"/>
                          </a:solidFill>
                          <a:latin typeface="Segoe UI"/>
                        </a:rPr>
                        <a:t>98.64%</a:t>
                      </a:r>
                    </a:p>
                  </a:txBody>
                  <a:tcPr marL="101600" marR="101600" marT="50800" marB="50800" anchor="ctr">
                    <a:solidFill>
                      <a:srgbClr val="FFFFFF"/>
                    </a:solidFill>
                  </a:tcPr>
                </a:tc>
                <a:tc>
                  <a:txBody>
                    <a:bodyPr wrap="square"/>
                    <a:lstStyle/>
                    <a:p>
                      <a:pPr algn="ctr"/>
                      <a:r>
                        <a:rPr sz="1150">
                          <a:solidFill>
                            <a:srgbClr val="121B15"/>
                          </a:solidFill>
                          <a:latin typeface="Segoe UI"/>
                        </a:rPr>
                        <a:t>98.74%</a:t>
                      </a:r>
                    </a:p>
                  </a:txBody>
                  <a:tcPr marL="101600" marR="101600" marT="50800" marB="50800" anchor="ctr">
                    <a:solidFill>
                      <a:srgbClr val="FFFFFF"/>
                    </a:solidFill>
                  </a:tcPr>
                </a:tc>
                <a:tc>
                  <a:txBody>
                    <a:bodyPr wrap="square"/>
                    <a:lstStyle/>
                    <a:p>
                      <a:pPr algn="ctr"/>
                      <a:r>
                        <a:rPr sz="1150">
                          <a:solidFill>
                            <a:srgbClr val="121B15"/>
                          </a:solidFill>
                          <a:latin typeface="Segoe UI"/>
                        </a:rPr>
                        <a:t>98.64%</a:t>
                      </a:r>
                    </a:p>
                  </a:txBody>
                  <a:tcPr marL="101600" marR="101600" marT="50800" marB="50800" anchor="ctr">
                    <a:solidFill>
                      <a:srgbClr val="FFFFFF"/>
                    </a:solidFill>
                  </a:tcPr>
                </a:tc>
                <a:tc>
                  <a:txBody>
                    <a:bodyPr wrap="square"/>
                    <a:lstStyle/>
                    <a:p>
                      <a:pPr algn="ctr"/>
                      <a:r>
                        <a:rPr sz="1150">
                          <a:solidFill>
                            <a:srgbClr val="121B15"/>
                          </a:solidFill>
                          <a:latin typeface="Segoe UI"/>
                        </a:rPr>
                        <a:t>98.62%</a:t>
                      </a:r>
                    </a:p>
                  </a:txBody>
                  <a:tcPr marL="101600" marR="101600" marT="50800" marB="50800" anchor="ctr">
                    <a:solidFill>
                      <a:srgbClr val="FFFFFF"/>
                    </a:solidFill>
                  </a:tcPr>
                </a:tc>
                <a:tc>
                  <a:txBody>
                    <a:bodyPr wrap="square"/>
                    <a:lstStyle/>
                    <a:p>
                      <a:pPr algn="ctr"/>
                      <a:r>
                        <a:rPr sz="1150">
                          <a:solidFill>
                            <a:srgbClr val="121B15"/>
                          </a:solidFill>
                          <a:latin typeface="Segoe UI"/>
                        </a:rPr>
                        <a:t>99.32% (+/-0.20%)</a:t>
                      </a:r>
                    </a:p>
                  </a:txBody>
                  <a:tcPr marL="101600" marR="101600" marT="50800" marB="50800" anchor="ctr">
                    <a:solidFill>
                      <a:srgbClr val="FFFFFF"/>
                    </a:solidFill>
                  </a:tcPr>
                </a:tc>
              </a:tr>
              <a:tr h="365760">
                <a:tc>
                  <a:txBody>
                    <a:bodyPr wrap="square"/>
                    <a:lstStyle/>
                    <a:p>
                      <a:pPr algn="l"/>
                      <a:r>
                        <a:rPr sz="1150">
                          <a:solidFill>
                            <a:srgbClr val="121B15"/>
                          </a:solidFill>
                          <a:latin typeface="Segoe UI"/>
                        </a:rPr>
                        <a:t>SVM (RBF)</a:t>
                      </a:r>
                    </a:p>
                  </a:txBody>
                  <a:tcPr marL="101600" marR="101600" marT="50800" marB="50800" anchor="ctr">
                    <a:solidFill>
                      <a:srgbClr val="EEF5EE"/>
                    </a:solidFill>
                  </a:tcPr>
                </a:tc>
                <a:tc>
                  <a:txBody>
                    <a:bodyPr wrap="square"/>
                    <a:lstStyle/>
                    <a:p>
                      <a:pPr algn="ctr"/>
                      <a:r>
                        <a:rPr sz="1150">
                          <a:solidFill>
                            <a:srgbClr val="121B15"/>
                          </a:solidFill>
                          <a:latin typeface="Segoe UI"/>
                        </a:rPr>
                        <a:t>98.41%</a:t>
                      </a:r>
                    </a:p>
                  </a:txBody>
                  <a:tcPr marL="101600" marR="101600" marT="50800" marB="50800" anchor="ctr">
                    <a:solidFill>
                      <a:srgbClr val="EEF5EE"/>
                    </a:solidFill>
                  </a:tcPr>
                </a:tc>
                <a:tc>
                  <a:txBody>
                    <a:bodyPr wrap="square"/>
                    <a:lstStyle/>
                    <a:p>
                      <a:pPr algn="ctr"/>
                      <a:r>
                        <a:rPr sz="1150">
                          <a:solidFill>
                            <a:srgbClr val="121B15"/>
                          </a:solidFill>
                          <a:latin typeface="Segoe UI"/>
                        </a:rPr>
                        <a:t>98.66%</a:t>
                      </a:r>
                    </a:p>
                  </a:txBody>
                  <a:tcPr marL="101600" marR="101600" marT="50800" marB="50800" anchor="ctr">
                    <a:solidFill>
                      <a:srgbClr val="EEF5EE"/>
                    </a:solidFill>
                  </a:tcPr>
                </a:tc>
                <a:tc>
                  <a:txBody>
                    <a:bodyPr wrap="square"/>
                    <a:lstStyle/>
                    <a:p>
                      <a:pPr algn="ctr"/>
                      <a:r>
                        <a:rPr sz="1150">
                          <a:solidFill>
                            <a:srgbClr val="121B15"/>
                          </a:solidFill>
                          <a:latin typeface="Segoe UI"/>
                        </a:rPr>
                        <a:t>98.41%</a:t>
                      </a:r>
                    </a:p>
                  </a:txBody>
                  <a:tcPr marL="101600" marR="101600" marT="50800" marB="50800" anchor="ctr">
                    <a:solidFill>
                      <a:srgbClr val="EEF5EE"/>
                    </a:solidFill>
                  </a:tcPr>
                </a:tc>
                <a:tc>
                  <a:txBody>
                    <a:bodyPr wrap="square"/>
                    <a:lstStyle/>
                    <a:p>
                      <a:pPr algn="ctr"/>
                      <a:r>
                        <a:rPr sz="1150">
                          <a:solidFill>
                            <a:srgbClr val="121B15"/>
                          </a:solidFill>
                          <a:latin typeface="Segoe UI"/>
                        </a:rPr>
                        <a:t>98.39%</a:t>
                      </a:r>
                    </a:p>
                  </a:txBody>
                  <a:tcPr marL="101600" marR="101600" marT="50800" marB="50800" anchor="ctr">
                    <a:solidFill>
                      <a:srgbClr val="EEF5EE"/>
                    </a:solidFill>
                  </a:tcPr>
                </a:tc>
                <a:tc>
                  <a:txBody>
                    <a:bodyPr wrap="square"/>
                    <a:lstStyle/>
                    <a:p>
                      <a:pPr algn="ctr"/>
                      <a:r>
                        <a:rPr sz="1150">
                          <a:solidFill>
                            <a:srgbClr val="121B15"/>
                          </a:solidFill>
                          <a:latin typeface="Segoe UI"/>
                        </a:rPr>
                        <a:t>97.82% (+/-0.40%)</a:t>
                      </a:r>
                    </a:p>
                  </a:txBody>
                  <a:tcPr marL="101600" marR="101600" marT="50800" marB="50800" anchor="ctr">
                    <a:solidFill>
                      <a:srgbClr val="EEF5EE"/>
                    </a:solidFill>
                  </a:tcPr>
                </a:tc>
              </a:tr>
            </a:tbl>
          </a:graphicData>
        </a:graphic>
      </p:graphicFrame>
      <p:sp>
        <p:nvSpPr>
          <p:cNvPr id="8" name="TextBox 7"/>
          <p:cNvSpPr txBox="1"/>
          <p:nvPr/>
        </p:nvSpPr>
        <p:spPr>
          <a:xfrm>
            <a:off x="640080" y="3977639"/>
            <a:ext cx="5212080" cy="292608"/>
          </a:xfrm>
          <a:prstGeom prst="rect">
            <a:avLst/>
          </a:prstGeom>
          <a:noFill/>
        </p:spPr>
        <p:txBody>
          <a:bodyPr wrap="square" anchor="t" lIns="0" rIns="0" tIns="0" bIns="0">
            <a:spAutoFit/>
          </a:bodyPr>
          <a:lstStyle/>
          <a:p>
            <a:pPr algn="l">
              <a:lnSpc>
                <a:spcPct val="100000"/>
              </a:lnSpc>
              <a:spcAft>
                <a:spcPts val="0"/>
              </a:spcAft>
            </a:pPr>
            <a:r>
              <a:rPr sz="1300" b="1" i="0">
                <a:solidFill>
                  <a:srgbClr val="121B15"/>
                </a:solidFill>
                <a:latin typeface="Segoe UI Semibold"/>
              </a:rPr>
              <a:t>Random Forest Feature Importance</a:t>
            </a:r>
          </a:p>
        </p:txBody>
      </p:sp>
      <p:sp>
        <p:nvSpPr>
          <p:cNvPr id="9" name="TextBox 8"/>
          <p:cNvSpPr txBox="1"/>
          <p:nvPr/>
        </p:nvSpPr>
        <p:spPr>
          <a:xfrm>
            <a:off x="640080" y="4315968"/>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rainfall</a:t>
            </a:r>
          </a:p>
        </p:txBody>
      </p:sp>
      <p:sp>
        <p:nvSpPr>
          <p:cNvPr id="10" name="Rounded Rectangle 9"/>
          <p:cNvSpPr/>
          <p:nvPr/>
        </p:nvSpPr>
        <p:spPr>
          <a:xfrm>
            <a:off x="1783080" y="4379976"/>
            <a:ext cx="3063240"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4315968"/>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22.1%</a:t>
            </a:r>
          </a:p>
        </p:txBody>
      </p:sp>
      <p:sp>
        <p:nvSpPr>
          <p:cNvPr id="12" name="TextBox 11"/>
          <p:cNvSpPr txBox="1"/>
          <p:nvPr/>
        </p:nvSpPr>
        <p:spPr>
          <a:xfrm>
            <a:off x="640080" y="4622292"/>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humidity</a:t>
            </a:r>
          </a:p>
        </p:txBody>
      </p:sp>
      <p:sp>
        <p:nvSpPr>
          <p:cNvPr id="13" name="Rounded Rectangle 12"/>
          <p:cNvSpPr/>
          <p:nvPr/>
        </p:nvSpPr>
        <p:spPr>
          <a:xfrm>
            <a:off x="1783080" y="4686300"/>
            <a:ext cx="2930476"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80" y="4622292"/>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21.2%</a:t>
            </a:r>
          </a:p>
        </p:txBody>
      </p:sp>
      <p:sp>
        <p:nvSpPr>
          <p:cNvPr id="15" name="TextBox 14"/>
          <p:cNvSpPr txBox="1"/>
          <p:nvPr/>
        </p:nvSpPr>
        <p:spPr>
          <a:xfrm>
            <a:off x="640080" y="4928616"/>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K</a:t>
            </a:r>
          </a:p>
        </p:txBody>
      </p:sp>
      <p:sp>
        <p:nvSpPr>
          <p:cNvPr id="16" name="Rounded Rectangle 15"/>
          <p:cNvSpPr/>
          <p:nvPr/>
        </p:nvSpPr>
        <p:spPr>
          <a:xfrm>
            <a:off x="1783080" y="4992624"/>
            <a:ext cx="2478251"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80" y="4928616"/>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17.9%</a:t>
            </a:r>
          </a:p>
        </p:txBody>
      </p:sp>
      <p:sp>
        <p:nvSpPr>
          <p:cNvPr id="18" name="TextBox 17"/>
          <p:cNvSpPr txBox="1"/>
          <p:nvPr/>
        </p:nvSpPr>
        <p:spPr>
          <a:xfrm>
            <a:off x="640080" y="5234940"/>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P</a:t>
            </a:r>
          </a:p>
        </p:txBody>
      </p:sp>
      <p:sp>
        <p:nvSpPr>
          <p:cNvPr id="19" name="Rounded Rectangle 18"/>
          <p:cNvSpPr/>
          <p:nvPr/>
        </p:nvSpPr>
        <p:spPr>
          <a:xfrm>
            <a:off x="1783080" y="5298948"/>
            <a:ext cx="2125598"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83480" y="5234940"/>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15.4%</a:t>
            </a:r>
          </a:p>
        </p:txBody>
      </p:sp>
      <p:sp>
        <p:nvSpPr>
          <p:cNvPr id="21" name="TextBox 20"/>
          <p:cNvSpPr txBox="1"/>
          <p:nvPr/>
        </p:nvSpPr>
        <p:spPr>
          <a:xfrm>
            <a:off x="640080" y="5541264"/>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N</a:t>
            </a:r>
          </a:p>
        </p:txBody>
      </p:sp>
      <p:sp>
        <p:nvSpPr>
          <p:cNvPr id="22" name="Rounded Rectangle 21"/>
          <p:cNvSpPr/>
          <p:nvPr/>
        </p:nvSpPr>
        <p:spPr>
          <a:xfrm>
            <a:off x="1783080" y="5605272"/>
            <a:ext cx="1436887"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3480" y="5541264"/>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10.4%</a:t>
            </a:r>
          </a:p>
        </p:txBody>
      </p:sp>
      <p:sp>
        <p:nvSpPr>
          <p:cNvPr id="24" name="TextBox 23"/>
          <p:cNvSpPr txBox="1"/>
          <p:nvPr/>
        </p:nvSpPr>
        <p:spPr>
          <a:xfrm>
            <a:off x="640080" y="5847588"/>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temperature</a:t>
            </a:r>
          </a:p>
        </p:txBody>
      </p:sp>
      <p:sp>
        <p:nvSpPr>
          <p:cNvPr id="25" name="Rounded Rectangle 24"/>
          <p:cNvSpPr/>
          <p:nvPr/>
        </p:nvSpPr>
        <p:spPr>
          <a:xfrm>
            <a:off x="1783080" y="5911596"/>
            <a:ext cx="1048278"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83480" y="5847588"/>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7.6%</a:t>
            </a:r>
          </a:p>
        </p:txBody>
      </p:sp>
      <p:sp>
        <p:nvSpPr>
          <p:cNvPr id="27" name="TextBox 26"/>
          <p:cNvSpPr txBox="1"/>
          <p:nvPr/>
        </p:nvSpPr>
        <p:spPr>
          <a:xfrm>
            <a:off x="640080" y="6153912"/>
            <a:ext cx="1097280" cy="306324"/>
          </a:xfrm>
          <a:prstGeom prst="rect">
            <a:avLst/>
          </a:prstGeom>
          <a:noFill/>
        </p:spPr>
        <p:txBody>
          <a:bodyPr wrap="square" anchor="ctr" lIns="0" rIns="0" tIns="0" bIns="0">
            <a:spAutoFit/>
          </a:bodyPr>
          <a:lstStyle/>
          <a:p>
            <a:pPr algn="l">
              <a:lnSpc>
                <a:spcPct val="100000"/>
              </a:lnSpc>
              <a:spcAft>
                <a:spcPts val="0"/>
              </a:spcAft>
            </a:pPr>
            <a:r>
              <a:rPr sz="1000" b="1" i="0">
                <a:solidFill>
                  <a:srgbClr val="121B15"/>
                </a:solidFill>
                <a:latin typeface="Segoe UI"/>
              </a:rPr>
              <a:t>ph</a:t>
            </a:r>
          </a:p>
        </p:txBody>
      </p:sp>
      <p:sp>
        <p:nvSpPr>
          <p:cNvPr id="28" name="Rounded Rectangle 27"/>
          <p:cNvSpPr/>
          <p:nvPr/>
        </p:nvSpPr>
        <p:spPr>
          <a:xfrm>
            <a:off x="1783080" y="6217920"/>
            <a:ext cx="745411" cy="173736"/>
          </a:xfrm>
          <a:prstGeom prst="roundRect">
            <a:avLst>
              <a:gd name="adj" fmla="val 3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83480" y="6153912"/>
            <a:ext cx="822960" cy="306324"/>
          </a:xfrm>
          <a:prstGeom prst="rect">
            <a:avLst/>
          </a:prstGeom>
          <a:noFill/>
        </p:spPr>
        <p:txBody>
          <a:bodyPr wrap="square" anchor="ctr" lIns="0" rIns="0" tIns="0" bIns="0">
            <a:spAutoFit/>
          </a:bodyPr>
          <a:lstStyle/>
          <a:p>
            <a:pPr algn="l">
              <a:lnSpc>
                <a:spcPct val="100000"/>
              </a:lnSpc>
              <a:spcAft>
                <a:spcPts val="0"/>
              </a:spcAft>
            </a:pPr>
            <a:r>
              <a:rPr sz="1000" b="0" i="0">
                <a:solidFill>
                  <a:srgbClr val="5B6B60"/>
                </a:solidFill>
                <a:latin typeface="Segoe UI"/>
              </a:rPr>
              <a:t>5.4%</a:t>
            </a:r>
          </a:p>
        </p:txBody>
      </p:sp>
      <p:sp>
        <p:nvSpPr>
          <p:cNvPr id="30" name="Rounded Rectangle 29"/>
          <p:cNvSpPr/>
          <p:nvPr/>
        </p:nvSpPr>
        <p:spPr>
          <a:xfrm>
            <a:off x="6217920" y="3977639"/>
            <a:ext cx="5303520" cy="2148840"/>
          </a:xfrm>
          <a:prstGeom prst="roundRect">
            <a:avLst>
              <a:gd name="adj" fmla="val 8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4160520"/>
            <a:ext cx="4754880" cy="320040"/>
          </a:xfrm>
          <a:prstGeom prst="rect">
            <a:avLst/>
          </a:prstGeom>
          <a:noFill/>
        </p:spPr>
        <p:txBody>
          <a:bodyPr wrap="square" anchor="t" lIns="0" rIns="0" tIns="0" bIns="0">
            <a:spAutoFit/>
          </a:bodyPr>
          <a:lstStyle/>
          <a:p>
            <a:pPr algn="l">
              <a:lnSpc>
                <a:spcPct val="100000"/>
              </a:lnSpc>
              <a:spcAft>
                <a:spcPts val="0"/>
              </a:spcAft>
            </a:pPr>
            <a:r>
              <a:rPr sz="1300" b="1" i="0">
                <a:solidFill>
                  <a:srgbClr val="D8A63A"/>
                </a:solidFill>
                <a:latin typeface="Segoe UI Semibold"/>
              </a:rPr>
              <a:t>Honest Reading of These Numbers</a:t>
            </a:r>
          </a:p>
        </p:txBody>
      </p:sp>
      <p:sp>
        <p:nvSpPr>
          <p:cNvPr id="32" name="TextBox 31"/>
          <p:cNvSpPr txBox="1"/>
          <p:nvPr/>
        </p:nvSpPr>
        <p:spPr>
          <a:xfrm>
            <a:off x="6492240" y="4526280"/>
            <a:ext cx="4754880" cy="1508760"/>
          </a:xfrm>
          <a:prstGeom prst="rect">
            <a:avLst/>
          </a:prstGeom>
          <a:noFill/>
        </p:spPr>
        <p:txBody>
          <a:bodyPr wrap="square" anchor="t" lIns="0" rIns="0" tIns="0" bIns="0">
            <a:spAutoFit/>
          </a:bodyPr>
          <a:lstStyle/>
          <a:p>
            <a:pPr algn="l">
              <a:lnSpc>
                <a:spcPct val="135000"/>
              </a:lnSpc>
              <a:spcAft>
                <a:spcPts val="0"/>
              </a:spcAft>
            </a:pPr>
            <a:r>
              <a:rPr sz="1100" b="0" i="0">
                <a:solidFill>
                  <a:srgbClr val="FFFFFF"/>
                </a:solidFill>
                <a:latin typeface="Segoe UI"/>
              </a:rPr>
              <a:t>This benchmark dataset is clean and perfectly balanced (100 samples/class), which is why all 4 models score 98-99%. Real field data is noisier — validating on messier, region-specific data is planned as the model matures beyond Phase 1.</a:t>
            </a:r>
          </a:p>
        </p:txBody>
      </p:sp>
      <p:cxnSp>
        <p:nvCxnSpPr>
          <p:cNvPr id="33" name="Connector 32"/>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35" name="TextBox 34"/>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9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RESULT SCREENSHOTS</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121B15"/>
                </a:solidFill>
                <a:latin typeface="Segoe UI Semibold"/>
              </a:rPr>
              <a:t>Application Walkthrough (Live Screens)</a:t>
            </a:r>
          </a:p>
        </p:txBody>
      </p:sp>
      <p:sp>
        <p:nvSpPr>
          <p:cNvPr id="6" name="Rounded Rectangle 5"/>
          <p:cNvSpPr/>
          <p:nvPr/>
        </p:nvSpPr>
        <p:spPr>
          <a:xfrm>
            <a:off x="640080" y="1463040"/>
            <a:ext cx="5394960" cy="214884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png"/>
          <p:cNvPicPr>
            <a:picLocks noChangeAspect="1"/>
          </p:cNvPicPr>
          <p:nvPr/>
        </p:nvPicPr>
        <p:blipFill>
          <a:blip r:embed="rId2"/>
          <a:srcRect t="15258" b="15258"/>
          <a:stretch>
            <a:fillRect/>
          </a:stretch>
        </p:blipFill>
        <p:spPr>
          <a:xfrm>
            <a:off x="749808" y="1874520"/>
            <a:ext cx="5175504" cy="1627633"/>
          </a:xfrm>
          <a:prstGeom prst="rect">
            <a:avLst/>
          </a:prstGeom>
          <a:effectLst/>
        </p:spPr>
      </p:pic>
      <p:sp>
        <p:nvSpPr>
          <p:cNvPr id="8" name="TextBox 7"/>
          <p:cNvSpPr txBox="1"/>
          <p:nvPr/>
        </p:nvSpPr>
        <p:spPr>
          <a:xfrm>
            <a:off x="749808" y="1536192"/>
            <a:ext cx="5175504" cy="292608"/>
          </a:xfrm>
          <a:prstGeom prst="rect">
            <a:avLst/>
          </a:prstGeom>
          <a:noFill/>
        </p:spPr>
        <p:txBody>
          <a:bodyPr wrap="square" anchor="t" lIns="0" rIns="0" tIns="0" bIns="0">
            <a:spAutoFit/>
          </a:bodyPr>
          <a:lstStyle/>
          <a:p>
            <a:pPr algn="l">
              <a:lnSpc>
                <a:spcPct val="100000"/>
              </a:lnSpc>
              <a:spcAft>
                <a:spcPts val="0"/>
              </a:spcAft>
            </a:pPr>
            <a:r>
              <a:rPr sz="1250" b="1" i="0">
                <a:solidFill>
                  <a:srgbClr val="121B15"/>
                </a:solidFill>
                <a:latin typeface="Segoe UI"/>
              </a:rPr>
              <a:t>Introduction — System Landing Page</a:t>
            </a:r>
          </a:p>
        </p:txBody>
      </p:sp>
      <p:sp>
        <p:nvSpPr>
          <p:cNvPr id="9" name="Rounded Rectangle 8"/>
          <p:cNvSpPr/>
          <p:nvPr/>
        </p:nvSpPr>
        <p:spPr>
          <a:xfrm>
            <a:off x="6309360" y="1463040"/>
            <a:ext cx="5394960" cy="214884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oil.png"/>
          <p:cNvPicPr>
            <a:picLocks noChangeAspect="1"/>
          </p:cNvPicPr>
          <p:nvPr/>
        </p:nvPicPr>
        <p:blipFill>
          <a:blip r:embed="rId3"/>
          <a:srcRect t="15258" b="15258"/>
          <a:stretch>
            <a:fillRect/>
          </a:stretch>
        </p:blipFill>
        <p:spPr>
          <a:xfrm>
            <a:off x="6419088" y="1874520"/>
            <a:ext cx="5175504" cy="1627633"/>
          </a:xfrm>
          <a:prstGeom prst="rect">
            <a:avLst/>
          </a:prstGeom>
          <a:effectLst/>
        </p:spPr>
      </p:pic>
      <p:sp>
        <p:nvSpPr>
          <p:cNvPr id="11" name="TextBox 10"/>
          <p:cNvSpPr txBox="1"/>
          <p:nvPr/>
        </p:nvSpPr>
        <p:spPr>
          <a:xfrm>
            <a:off x="6419088" y="1536192"/>
            <a:ext cx="5175504" cy="292608"/>
          </a:xfrm>
          <a:prstGeom prst="rect">
            <a:avLst/>
          </a:prstGeom>
          <a:noFill/>
        </p:spPr>
        <p:txBody>
          <a:bodyPr wrap="square" anchor="t" lIns="0" rIns="0" tIns="0" bIns="0">
            <a:spAutoFit/>
          </a:bodyPr>
          <a:lstStyle/>
          <a:p>
            <a:pPr algn="l">
              <a:lnSpc>
                <a:spcPct val="100000"/>
              </a:lnSpc>
              <a:spcAft>
                <a:spcPts val="0"/>
              </a:spcAft>
            </a:pPr>
            <a:r>
              <a:rPr sz="1250" b="1" i="0">
                <a:solidFill>
                  <a:srgbClr val="121B15"/>
                </a:solidFill>
                <a:latin typeface="Segoe UI"/>
              </a:rPr>
              <a:t>Farmer Dashboard</a:t>
            </a:r>
          </a:p>
        </p:txBody>
      </p:sp>
      <p:sp>
        <p:nvSpPr>
          <p:cNvPr id="12" name="Rounded Rectangle 11"/>
          <p:cNvSpPr/>
          <p:nvPr/>
        </p:nvSpPr>
        <p:spPr>
          <a:xfrm>
            <a:off x="640080" y="3931920"/>
            <a:ext cx="5394960" cy="214884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op-recommendation.png"/>
          <p:cNvPicPr>
            <a:picLocks noChangeAspect="1"/>
          </p:cNvPicPr>
          <p:nvPr/>
        </p:nvPicPr>
        <p:blipFill>
          <a:blip r:embed="rId4"/>
          <a:srcRect t="15258" b="15258"/>
          <a:stretch>
            <a:fillRect/>
          </a:stretch>
        </p:blipFill>
        <p:spPr>
          <a:xfrm>
            <a:off x="749808" y="4343400"/>
            <a:ext cx="5175504" cy="1627633"/>
          </a:xfrm>
          <a:prstGeom prst="rect">
            <a:avLst/>
          </a:prstGeom>
          <a:effectLst/>
        </p:spPr>
      </p:pic>
      <p:sp>
        <p:nvSpPr>
          <p:cNvPr id="14" name="TextBox 13"/>
          <p:cNvSpPr txBox="1"/>
          <p:nvPr/>
        </p:nvSpPr>
        <p:spPr>
          <a:xfrm>
            <a:off x="749808" y="4005072"/>
            <a:ext cx="5175504" cy="292608"/>
          </a:xfrm>
          <a:prstGeom prst="rect">
            <a:avLst/>
          </a:prstGeom>
          <a:noFill/>
        </p:spPr>
        <p:txBody>
          <a:bodyPr wrap="square" anchor="t" lIns="0" rIns="0" tIns="0" bIns="0">
            <a:spAutoFit/>
          </a:bodyPr>
          <a:lstStyle/>
          <a:p>
            <a:pPr algn="l">
              <a:lnSpc>
                <a:spcPct val="100000"/>
              </a:lnSpc>
              <a:spcAft>
                <a:spcPts val="0"/>
              </a:spcAft>
            </a:pPr>
            <a:r>
              <a:rPr sz="1250" b="1" i="0">
                <a:solidFill>
                  <a:srgbClr val="121B15"/>
                </a:solidFill>
                <a:latin typeface="Segoe UI"/>
              </a:rPr>
              <a:t>Crop Recommendation — Top-5 AI Results</a:t>
            </a:r>
          </a:p>
        </p:txBody>
      </p:sp>
      <p:sp>
        <p:nvSpPr>
          <p:cNvPr id="15" name="Rounded Rectangle 14"/>
          <p:cNvSpPr/>
          <p:nvPr/>
        </p:nvSpPr>
        <p:spPr>
          <a:xfrm>
            <a:off x="6309360" y="3931920"/>
            <a:ext cx="5394960" cy="2148840"/>
          </a:xfrm>
          <a:prstGeom prst="roundRect">
            <a:avLst>
              <a:gd name="adj" fmla="val 5000"/>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ap-explanation.png"/>
          <p:cNvPicPr>
            <a:picLocks noChangeAspect="1"/>
          </p:cNvPicPr>
          <p:nvPr/>
        </p:nvPicPr>
        <p:blipFill>
          <a:blip r:embed="rId5"/>
          <a:srcRect t="15258" b="15258"/>
          <a:stretch>
            <a:fillRect/>
          </a:stretch>
        </p:blipFill>
        <p:spPr>
          <a:xfrm>
            <a:off x="6419088" y="4343400"/>
            <a:ext cx="5175504" cy="1627633"/>
          </a:xfrm>
          <a:prstGeom prst="rect">
            <a:avLst/>
          </a:prstGeom>
          <a:effectLst/>
        </p:spPr>
      </p:pic>
      <p:sp>
        <p:nvSpPr>
          <p:cNvPr id="17" name="TextBox 16"/>
          <p:cNvSpPr txBox="1"/>
          <p:nvPr/>
        </p:nvSpPr>
        <p:spPr>
          <a:xfrm>
            <a:off x="6419088" y="4005072"/>
            <a:ext cx="5175504" cy="292608"/>
          </a:xfrm>
          <a:prstGeom prst="rect">
            <a:avLst/>
          </a:prstGeom>
          <a:noFill/>
        </p:spPr>
        <p:txBody>
          <a:bodyPr wrap="square" anchor="t" lIns="0" rIns="0" tIns="0" bIns="0">
            <a:spAutoFit/>
          </a:bodyPr>
          <a:lstStyle/>
          <a:p>
            <a:pPr algn="l">
              <a:lnSpc>
                <a:spcPct val="100000"/>
              </a:lnSpc>
              <a:spcAft>
                <a:spcPts val="0"/>
              </a:spcAft>
            </a:pPr>
            <a:r>
              <a:rPr sz="1250" b="1" i="0">
                <a:solidFill>
                  <a:srgbClr val="121B15"/>
                </a:solidFill>
                <a:latin typeface="Segoe UI"/>
              </a:rPr>
              <a:t>Explainable AI — "Why This Crop?"</a:t>
            </a:r>
          </a:p>
        </p:txBody>
      </p:sp>
      <p:cxnSp>
        <p:nvCxnSpPr>
          <p:cNvPr id="18" name="Connector 17"/>
          <p:cNvCxnSpPr/>
          <p:nvPr/>
        </p:nvCxnSpPr>
        <p:spPr>
          <a:xfrm>
            <a:off x="640080" y="6510528"/>
            <a:ext cx="10908792" cy="0"/>
          </a:xfrm>
          <a:prstGeom prst="line">
            <a:avLst/>
          </a:prstGeom>
          <a:ln w="9525">
            <a:solidFill>
              <a:srgbClr val="DDE7D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60"/>
                </a:solidFill>
                <a:latin typeface="Segoe UI"/>
              </a:rPr>
              <a:t>AI Based Crop Recommendation</a:t>
            </a:r>
          </a:p>
        </p:txBody>
      </p:sp>
      <p:sp>
        <p:nvSpPr>
          <p:cNvPr id="20" name="TextBox 1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5B6B60"/>
                </a:solidFill>
                <a:latin typeface="Segoe UI"/>
              </a:rPr>
              <a:t>Phase-1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LIMITATIONS</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Honest Constraints of the Current Build</a:t>
            </a:r>
          </a:p>
        </p:txBody>
      </p:sp>
      <p:sp>
        <p:nvSpPr>
          <p:cNvPr id="6" name="Oval 5"/>
          <p:cNvSpPr/>
          <p:nvPr/>
        </p:nvSpPr>
        <p:spPr>
          <a:xfrm>
            <a:off x="640080" y="1554480"/>
            <a:ext cx="329184" cy="329184"/>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7" name="TextBox 6"/>
          <p:cNvSpPr txBox="1"/>
          <p:nvPr/>
        </p:nvSpPr>
        <p:spPr>
          <a:xfrm>
            <a:off x="1188720" y="1508760"/>
            <a:ext cx="2377440" cy="640080"/>
          </a:xfrm>
          <a:prstGeom prst="rect">
            <a:avLst/>
          </a:prstGeom>
          <a:noFill/>
        </p:spPr>
        <p:txBody>
          <a:bodyPr wrap="square" anchor="t" lIns="0" rIns="0" tIns="0" bIns="0">
            <a:spAutoFit/>
          </a:bodyPr>
          <a:lstStyle/>
          <a:p>
            <a:pPr algn="l">
              <a:lnSpc>
                <a:spcPct val="100000"/>
              </a:lnSpc>
              <a:spcAft>
                <a:spcPts val="0"/>
              </a:spcAft>
            </a:pPr>
            <a:r>
              <a:rPr sz="1300" b="1" i="0">
                <a:solidFill>
                  <a:srgbClr val="D8A63A"/>
                </a:solidFill>
                <a:latin typeface="Segoe UI"/>
              </a:rPr>
              <a:t>Benchmark dataset</a:t>
            </a:r>
          </a:p>
        </p:txBody>
      </p:sp>
      <p:sp>
        <p:nvSpPr>
          <p:cNvPr id="8" name="TextBox 7"/>
          <p:cNvSpPr txBox="1"/>
          <p:nvPr/>
        </p:nvSpPr>
        <p:spPr>
          <a:xfrm>
            <a:off x="3703320" y="1481328"/>
            <a:ext cx="7498079" cy="777240"/>
          </a:xfrm>
          <a:prstGeom prst="rect">
            <a:avLst/>
          </a:prstGeom>
          <a:noFill/>
        </p:spPr>
        <p:txBody>
          <a:bodyPr wrap="square" anchor="t" lIns="0" rIns="0" tIns="0" bIns="0">
            <a:spAutoFit/>
          </a:bodyPr>
          <a:lstStyle/>
          <a:p>
            <a:pPr algn="l">
              <a:lnSpc>
                <a:spcPct val="125000"/>
              </a:lnSpc>
              <a:spcAft>
                <a:spcPts val="0"/>
              </a:spcAft>
            </a:pPr>
            <a:r>
              <a:rPr sz="1200" b="0" i="0">
                <a:solidFill>
                  <a:srgbClr val="FFFFFF"/>
                </a:solidFill>
                <a:latin typeface="Segoe UI"/>
              </a:rPr>
              <a:t>Clean, perfectly balanced (100 samples/crop); real field data is noisier, which inflates today's accuracy numbers.</a:t>
            </a:r>
          </a:p>
        </p:txBody>
      </p:sp>
      <p:sp>
        <p:nvSpPr>
          <p:cNvPr id="9" name="Oval 8"/>
          <p:cNvSpPr/>
          <p:nvPr/>
        </p:nvSpPr>
        <p:spPr>
          <a:xfrm>
            <a:off x="640080" y="2450592"/>
            <a:ext cx="329184" cy="329184"/>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10" name="TextBox 9"/>
          <p:cNvSpPr txBox="1"/>
          <p:nvPr/>
        </p:nvSpPr>
        <p:spPr>
          <a:xfrm>
            <a:off x="1188720" y="2404872"/>
            <a:ext cx="2377440" cy="640080"/>
          </a:xfrm>
          <a:prstGeom prst="rect">
            <a:avLst/>
          </a:prstGeom>
          <a:noFill/>
        </p:spPr>
        <p:txBody>
          <a:bodyPr wrap="square" anchor="t" lIns="0" rIns="0" tIns="0" bIns="0">
            <a:spAutoFit/>
          </a:bodyPr>
          <a:lstStyle/>
          <a:p>
            <a:pPr algn="l">
              <a:lnSpc>
                <a:spcPct val="100000"/>
              </a:lnSpc>
              <a:spcAft>
                <a:spcPts val="0"/>
              </a:spcAft>
            </a:pPr>
            <a:r>
              <a:rPr sz="1300" b="1" i="0">
                <a:solidFill>
                  <a:srgbClr val="D8A63A"/>
                </a:solidFill>
                <a:latin typeface="Segoe UI"/>
              </a:rPr>
              <a:t>No soil-type / location signal</a:t>
            </a:r>
          </a:p>
        </p:txBody>
      </p:sp>
      <p:sp>
        <p:nvSpPr>
          <p:cNvPr id="11" name="TextBox 10"/>
          <p:cNvSpPr txBox="1"/>
          <p:nvPr/>
        </p:nvSpPr>
        <p:spPr>
          <a:xfrm>
            <a:off x="3703320" y="2377440"/>
            <a:ext cx="7498079" cy="777240"/>
          </a:xfrm>
          <a:prstGeom prst="rect">
            <a:avLst/>
          </a:prstGeom>
          <a:noFill/>
        </p:spPr>
        <p:txBody>
          <a:bodyPr wrap="square" anchor="t" lIns="0" rIns="0" tIns="0" bIns="0">
            <a:spAutoFit/>
          </a:bodyPr>
          <a:lstStyle/>
          <a:p>
            <a:pPr algn="l">
              <a:lnSpc>
                <a:spcPct val="125000"/>
              </a:lnSpc>
              <a:spcAft>
                <a:spcPts val="0"/>
              </a:spcAft>
            </a:pPr>
            <a:r>
              <a:rPr sz="1200" b="0" i="0">
                <a:solidFill>
                  <a:srgbClr val="FFFFFF"/>
                </a:solidFill>
                <a:latin typeface="Segoe UI"/>
              </a:rPr>
              <a:t>Soil type, location and irrigation availability are collected in the UI but not yet used as model inputs.</a:t>
            </a:r>
          </a:p>
        </p:txBody>
      </p:sp>
      <p:sp>
        <p:nvSpPr>
          <p:cNvPr id="12" name="Oval 11"/>
          <p:cNvSpPr/>
          <p:nvPr/>
        </p:nvSpPr>
        <p:spPr>
          <a:xfrm>
            <a:off x="640080" y="3346704"/>
            <a:ext cx="329184" cy="329184"/>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13" name="TextBox 12"/>
          <p:cNvSpPr txBox="1"/>
          <p:nvPr/>
        </p:nvSpPr>
        <p:spPr>
          <a:xfrm>
            <a:off x="1188720" y="3300984"/>
            <a:ext cx="2377440" cy="640080"/>
          </a:xfrm>
          <a:prstGeom prst="rect">
            <a:avLst/>
          </a:prstGeom>
          <a:noFill/>
        </p:spPr>
        <p:txBody>
          <a:bodyPr wrap="square" anchor="t" lIns="0" rIns="0" tIns="0" bIns="0">
            <a:spAutoFit/>
          </a:bodyPr>
          <a:lstStyle/>
          <a:p>
            <a:pPr algn="l">
              <a:lnSpc>
                <a:spcPct val="100000"/>
              </a:lnSpc>
              <a:spcAft>
                <a:spcPts val="0"/>
              </a:spcAft>
            </a:pPr>
            <a:r>
              <a:rPr sz="1300" b="1" i="0">
                <a:solidFill>
                  <a:srgbClr val="D8A63A"/>
                </a:solidFill>
                <a:latin typeface="Segoe UI"/>
              </a:rPr>
              <a:t>SVM not feature-scaled</a:t>
            </a:r>
          </a:p>
        </p:txBody>
      </p:sp>
      <p:sp>
        <p:nvSpPr>
          <p:cNvPr id="14" name="TextBox 13"/>
          <p:cNvSpPr txBox="1"/>
          <p:nvPr/>
        </p:nvSpPr>
        <p:spPr>
          <a:xfrm>
            <a:off x="3703320" y="3273552"/>
            <a:ext cx="7498079" cy="777240"/>
          </a:xfrm>
          <a:prstGeom prst="rect">
            <a:avLst/>
          </a:prstGeom>
          <a:noFill/>
        </p:spPr>
        <p:txBody>
          <a:bodyPr wrap="square" anchor="t" lIns="0" rIns="0" tIns="0" bIns="0">
            <a:spAutoFit/>
          </a:bodyPr>
          <a:lstStyle/>
          <a:p>
            <a:pPr algn="l">
              <a:lnSpc>
                <a:spcPct val="125000"/>
              </a:lnSpc>
              <a:spcAft>
                <a:spcPts val="0"/>
              </a:spcAft>
            </a:pPr>
            <a:r>
              <a:rPr sz="1200" b="0" i="0">
                <a:solidFill>
                  <a:srgbClr val="FFFFFF"/>
                </a:solidFill>
                <a:latin typeface="Segoe UI"/>
              </a:rPr>
              <a:t>SVM is trained on raw features in this MVP; a StandardScaler step is the documented next improvement.</a:t>
            </a:r>
          </a:p>
        </p:txBody>
      </p:sp>
      <p:sp>
        <p:nvSpPr>
          <p:cNvPr id="15" name="Oval 14"/>
          <p:cNvSpPr/>
          <p:nvPr/>
        </p:nvSpPr>
        <p:spPr>
          <a:xfrm>
            <a:off x="640080" y="4242816"/>
            <a:ext cx="329184" cy="329184"/>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16" name="TextBox 15"/>
          <p:cNvSpPr txBox="1"/>
          <p:nvPr/>
        </p:nvSpPr>
        <p:spPr>
          <a:xfrm>
            <a:off x="1188720" y="4197096"/>
            <a:ext cx="2377440" cy="640080"/>
          </a:xfrm>
          <a:prstGeom prst="rect">
            <a:avLst/>
          </a:prstGeom>
          <a:noFill/>
        </p:spPr>
        <p:txBody>
          <a:bodyPr wrap="square" anchor="t" lIns="0" rIns="0" tIns="0" bIns="0">
            <a:spAutoFit/>
          </a:bodyPr>
          <a:lstStyle/>
          <a:p>
            <a:pPr algn="l">
              <a:lnSpc>
                <a:spcPct val="100000"/>
              </a:lnSpc>
              <a:spcAft>
                <a:spcPts val="0"/>
              </a:spcAft>
            </a:pPr>
            <a:r>
              <a:rPr sz="1300" b="1" i="0">
                <a:solidFill>
                  <a:srgbClr val="D8A63A"/>
                </a:solidFill>
                <a:latin typeface="Segoe UI"/>
              </a:rPr>
              <a:t>Single global model</a:t>
            </a:r>
          </a:p>
        </p:txBody>
      </p:sp>
      <p:sp>
        <p:nvSpPr>
          <p:cNvPr id="17" name="TextBox 16"/>
          <p:cNvSpPr txBox="1"/>
          <p:nvPr/>
        </p:nvSpPr>
        <p:spPr>
          <a:xfrm>
            <a:off x="3703320" y="4169664"/>
            <a:ext cx="7498079" cy="777240"/>
          </a:xfrm>
          <a:prstGeom prst="rect">
            <a:avLst/>
          </a:prstGeom>
          <a:noFill/>
        </p:spPr>
        <p:txBody>
          <a:bodyPr wrap="square" anchor="t" lIns="0" rIns="0" tIns="0" bIns="0">
            <a:spAutoFit/>
          </a:bodyPr>
          <a:lstStyle/>
          <a:p>
            <a:pPr algn="l">
              <a:lnSpc>
                <a:spcPct val="125000"/>
              </a:lnSpc>
              <a:spcAft>
                <a:spcPts val="0"/>
              </a:spcAft>
            </a:pPr>
            <a:r>
              <a:rPr sz="1200" b="0" i="0">
                <a:solidFill>
                  <a:srgbClr val="FFFFFF"/>
                </a:solidFill>
                <a:latin typeface="Segoe UI"/>
              </a:rPr>
              <a:t>One model for all regions — not yet specialized to India's diverse agro-climatic zones.</a:t>
            </a:r>
          </a:p>
        </p:txBody>
      </p:sp>
      <p:sp>
        <p:nvSpPr>
          <p:cNvPr id="18" name="Oval 17"/>
          <p:cNvSpPr/>
          <p:nvPr/>
        </p:nvSpPr>
        <p:spPr>
          <a:xfrm>
            <a:off x="640080" y="5138928"/>
            <a:ext cx="329184" cy="329184"/>
          </a:xfrm>
          <a:prstGeom prst="ellipse">
            <a:avLst/>
          </a:prstGeom>
          <a:solidFill>
            <a:srgbClr val="C64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a:t>
            </a:r>
          </a:p>
        </p:txBody>
      </p:sp>
      <p:sp>
        <p:nvSpPr>
          <p:cNvPr id="19" name="TextBox 18"/>
          <p:cNvSpPr txBox="1"/>
          <p:nvPr/>
        </p:nvSpPr>
        <p:spPr>
          <a:xfrm>
            <a:off x="1188720" y="5093208"/>
            <a:ext cx="2377440" cy="640080"/>
          </a:xfrm>
          <a:prstGeom prst="rect">
            <a:avLst/>
          </a:prstGeom>
          <a:noFill/>
        </p:spPr>
        <p:txBody>
          <a:bodyPr wrap="square" anchor="t" lIns="0" rIns="0" tIns="0" bIns="0">
            <a:spAutoFit/>
          </a:bodyPr>
          <a:lstStyle/>
          <a:p>
            <a:pPr algn="l">
              <a:lnSpc>
                <a:spcPct val="100000"/>
              </a:lnSpc>
              <a:spcAft>
                <a:spcPts val="0"/>
              </a:spcAft>
            </a:pPr>
            <a:r>
              <a:rPr sz="1300" b="1" i="0">
                <a:solidFill>
                  <a:srgbClr val="D8A63A"/>
                </a:solidFill>
                <a:latin typeface="Segoe UI"/>
              </a:rPr>
              <a:t>Weather is farmer-supplied</a:t>
            </a:r>
          </a:p>
        </p:txBody>
      </p:sp>
      <p:sp>
        <p:nvSpPr>
          <p:cNvPr id="20" name="TextBox 19"/>
          <p:cNvSpPr txBox="1"/>
          <p:nvPr/>
        </p:nvSpPr>
        <p:spPr>
          <a:xfrm>
            <a:off x="3703320" y="5065776"/>
            <a:ext cx="7498079" cy="777240"/>
          </a:xfrm>
          <a:prstGeom prst="rect">
            <a:avLst/>
          </a:prstGeom>
          <a:noFill/>
        </p:spPr>
        <p:txBody>
          <a:bodyPr wrap="square" anchor="t" lIns="0" rIns="0" tIns="0" bIns="0">
            <a:spAutoFit/>
          </a:bodyPr>
          <a:lstStyle/>
          <a:p>
            <a:pPr algn="l">
              <a:lnSpc>
                <a:spcPct val="125000"/>
              </a:lnSpc>
              <a:spcAft>
                <a:spcPts val="0"/>
              </a:spcAft>
            </a:pPr>
            <a:r>
              <a:rPr sz="1200" b="0" i="0">
                <a:solidFill>
                  <a:srgbClr val="FFFFFF"/>
                </a:solidFill>
                <a:latin typeface="Segoe UI"/>
              </a:rPr>
              <a:t>Temperature / humidity / rainfall are entered values in this phase, not yet a live weather feed.</a:t>
            </a:r>
          </a:p>
        </p:txBody>
      </p:sp>
      <p:cxnSp>
        <p:nvCxnSpPr>
          <p:cNvPr id="21" name="Connector 20"/>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23" name="TextBox 22"/>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IMPLEMENTATION STATUS UPDATE</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Beyond Phase 1</a:t>
            </a:r>
          </a:p>
        </p:txBody>
      </p:sp>
      <p:sp>
        <p:nvSpPr>
          <p:cNvPr id="6" name="TextBox 5"/>
          <p:cNvSpPr txBox="1"/>
          <p:nvPr/>
        </p:nvSpPr>
        <p:spPr>
          <a:xfrm>
            <a:off x="640080" y="1371600"/>
            <a:ext cx="10789920" cy="365760"/>
          </a:xfrm>
          <a:prstGeom prst="rect">
            <a:avLst/>
          </a:prstGeom>
          <a:noFill/>
        </p:spPr>
        <p:txBody>
          <a:bodyPr wrap="square" anchor="t" lIns="0" rIns="0" tIns="0" bIns="0">
            <a:spAutoFit/>
          </a:bodyPr>
          <a:lstStyle/>
          <a:p>
            <a:pPr algn="l">
              <a:lnSpc>
                <a:spcPct val="100000"/>
              </a:lnSpc>
              <a:spcAft>
                <a:spcPts val="0"/>
              </a:spcAft>
            </a:pPr>
            <a:r>
              <a:rPr sz="1250" b="0" i="1">
                <a:solidFill>
                  <a:srgbClr val="AFC4B6"/>
                </a:solidFill>
                <a:latin typeface="Segoe UI"/>
              </a:rPr>
              <a:t>The architecture was designed to be extensible — 9 of these 10 modules are now implemented and verified end-to-end (real trained ML models, published formulas, or rule-based logic on real farm data — never fabricated). Only Satellite/NDVI has no data provider connected and remains future scope; physical IoT hardware is also not connected (the real ingestion endpoint works with demo sensor data).</a:t>
            </a:r>
          </a:p>
        </p:txBody>
      </p:sp>
      <p:sp>
        <p:nvSpPr>
          <p:cNvPr id="7" name="Rounded Rectangle 6"/>
          <p:cNvSpPr/>
          <p:nvPr/>
        </p:nvSpPr>
        <p:spPr>
          <a:xfrm>
            <a:off x="640080" y="196596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7568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Leaf Disease Detection</a:t>
            </a:r>
          </a:p>
        </p:txBody>
      </p:sp>
      <p:sp>
        <p:nvSpPr>
          <p:cNvPr id="9" name="Rounded Rectangle 8"/>
          <p:cNvSpPr/>
          <p:nvPr/>
        </p:nvSpPr>
        <p:spPr>
          <a:xfrm>
            <a:off x="2898648" y="196596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5808" y="207568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Crop Market Price Intelligence</a:t>
            </a:r>
          </a:p>
        </p:txBody>
      </p:sp>
      <p:sp>
        <p:nvSpPr>
          <p:cNvPr id="11" name="Rounded Rectangle 10"/>
          <p:cNvSpPr/>
          <p:nvPr/>
        </p:nvSpPr>
        <p:spPr>
          <a:xfrm>
            <a:off x="5157216" y="196596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94376" y="207568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Fertilizer Recommendation</a:t>
            </a:r>
          </a:p>
        </p:txBody>
      </p:sp>
      <p:sp>
        <p:nvSpPr>
          <p:cNvPr id="13" name="Rounded Rectangle 12"/>
          <p:cNvSpPr/>
          <p:nvPr/>
        </p:nvSpPr>
        <p:spPr>
          <a:xfrm>
            <a:off x="7415784" y="196596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207568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Personalized Farmer Messages</a:t>
            </a:r>
          </a:p>
        </p:txBody>
      </p:sp>
      <p:sp>
        <p:nvSpPr>
          <p:cNvPr id="15" name="Rounded Rectangle 14"/>
          <p:cNvSpPr/>
          <p:nvPr/>
        </p:nvSpPr>
        <p:spPr>
          <a:xfrm>
            <a:off x="9674352" y="196596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1512" y="207568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Yield Prediction</a:t>
            </a:r>
          </a:p>
        </p:txBody>
      </p:sp>
      <p:sp>
        <p:nvSpPr>
          <p:cNvPr id="17" name="Rounded Rectangle 16"/>
          <p:cNvSpPr/>
          <p:nvPr/>
        </p:nvSpPr>
        <p:spPr>
          <a:xfrm>
            <a:off x="640080" y="320040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31012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Water Requirement Estimation</a:t>
            </a:r>
          </a:p>
        </p:txBody>
      </p:sp>
      <p:sp>
        <p:nvSpPr>
          <p:cNvPr id="19" name="Rounded Rectangle 18"/>
          <p:cNvSpPr/>
          <p:nvPr/>
        </p:nvSpPr>
        <p:spPr>
          <a:xfrm>
            <a:off x="2898648" y="320040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35808" y="331012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Risk Prediction</a:t>
            </a:r>
          </a:p>
        </p:txBody>
      </p:sp>
      <p:sp>
        <p:nvSpPr>
          <p:cNvPr id="21" name="Rounded Rectangle 20"/>
          <p:cNvSpPr/>
          <p:nvPr/>
        </p:nvSpPr>
        <p:spPr>
          <a:xfrm>
            <a:off x="5157216" y="320040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94376" y="331012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Profit Intelligence</a:t>
            </a:r>
          </a:p>
        </p:txBody>
      </p:sp>
      <p:sp>
        <p:nvSpPr>
          <p:cNvPr id="23" name="Rounded Rectangle 22"/>
          <p:cNvSpPr/>
          <p:nvPr/>
        </p:nvSpPr>
        <p:spPr>
          <a:xfrm>
            <a:off x="7415784" y="320040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52944" y="331012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 AI Agriculture Assistant</a:t>
            </a:r>
          </a:p>
        </p:txBody>
      </p:sp>
      <p:sp>
        <p:nvSpPr>
          <p:cNvPr id="25" name="Rounded Rectangle 24"/>
          <p:cNvSpPr/>
          <p:nvPr/>
        </p:nvSpPr>
        <p:spPr>
          <a:xfrm>
            <a:off x="9674352" y="3200400"/>
            <a:ext cx="2121408" cy="1051560"/>
          </a:xfrm>
          <a:prstGeom prst="roundRect">
            <a:avLst>
              <a:gd name="adj" fmla="val 12000"/>
            </a:avLst>
          </a:prstGeom>
          <a:solidFill>
            <a:srgbClr val="153022"/>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11512" y="3310128"/>
            <a:ext cx="1847088" cy="822960"/>
          </a:xfrm>
          <a:prstGeom prst="rect">
            <a:avLst/>
          </a:prstGeom>
          <a:noFill/>
        </p:spPr>
        <p:txBody>
          <a:bodyPr wrap="square" anchor="ctr" lIns="0" rIns="0" tIns="0" bIns="0">
            <a:spAutoFit/>
          </a:bodyPr>
          <a:lstStyle/>
          <a:p>
            <a:pPr algn="ctr">
              <a:lnSpc>
                <a:spcPct val="110000"/>
              </a:lnSpc>
              <a:spcAft>
                <a:spcPts val="0"/>
              </a:spcAft>
            </a:pPr>
            <a:r>
              <a:rPr sz="1150" b="1" i="0">
                <a:solidFill>
                  <a:srgbClr val="FFFFFF"/>
                </a:solidFill>
                <a:latin typeface="Segoe UI"/>
              </a:rPr>
              <a:t>Real-Time Agri Intelligence</a:t>
            </a:r>
          </a:p>
          <a:p>
            <a:pPr algn="ctr">
              <a:lnSpc>
                <a:spcPct val="110000"/>
              </a:lnSpc>
              <a:spcAft>
                <a:spcPts val="0"/>
              </a:spcAft>
            </a:pPr>
            <a:r>
              <a:rPr sz="1150" b="1" i="0">
                <a:solidFill>
                  <a:srgbClr val="FFFFFF"/>
                </a:solidFill>
                <a:latin typeface="Segoe UI"/>
              </a:rPr>
              <a:t>(Weather / Satellite / IoT)</a:t>
            </a:r>
          </a:p>
        </p:txBody>
      </p:sp>
      <p:sp>
        <p:nvSpPr>
          <p:cNvPr id="27" name="Rounded Rectangle 26"/>
          <p:cNvSpPr/>
          <p:nvPr/>
        </p:nvSpPr>
        <p:spPr>
          <a:xfrm>
            <a:off x="640080" y="4343400"/>
            <a:ext cx="3657600" cy="384048"/>
          </a:xfrm>
          <a:prstGeom prst="roundRect">
            <a:avLst>
              <a:gd name="adj" fmla="val 50000"/>
            </a:avLst>
          </a:prstGeom>
          <a:solidFill>
            <a:srgbClr val="D8A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400" rIns="25400" tIns="0" bIns="0" wrap="none"/>
          <a:lstStyle/>
          <a:p>
            <a:pPr algn="ctr"/>
            <a:r>
              <a:rPr sz="1100" b="1">
                <a:solidFill>
                  <a:srgbClr val="121B15"/>
                </a:solidFill>
                <a:latin typeface="Segoe UI Semibold"/>
              </a:rPr>
              <a:t>9 OF 10 MODULES IMPLEMENTED</a:t>
            </a:r>
          </a:p>
        </p:txBody>
      </p:sp>
      <p:cxnSp>
        <p:nvCxnSpPr>
          <p:cNvPr id="28" name="Connector 27"/>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30" name="TextBox 29"/>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495300"/>
            <a:ext cx="88900" cy="88900"/>
          </a:xfrm>
          <a:prstGeom prst="ellips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305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66BB6A"/>
                </a:solidFill>
                <a:latin typeface="Segoe UI Semibold"/>
              </a:rPr>
              <a:t>CONCLUSION</a:t>
            </a:r>
          </a:p>
        </p:txBody>
      </p:sp>
      <p:sp>
        <p:nvSpPr>
          <p:cNvPr id="5" name="TextBox 4"/>
          <p:cNvSpPr txBox="1"/>
          <p:nvPr/>
        </p:nvSpPr>
        <p:spPr>
          <a:xfrm>
            <a:off x="640080" y="749808"/>
            <a:ext cx="10881360" cy="731520"/>
          </a:xfrm>
          <a:prstGeom prst="rect">
            <a:avLst/>
          </a:prstGeom>
          <a:noFill/>
        </p:spPr>
        <p:txBody>
          <a:bodyPr wrap="square" anchor="t" lIns="0" rIns="0" tIns="0" bIns="0">
            <a:spAutoFit/>
          </a:bodyPr>
          <a:lstStyle/>
          <a:p>
            <a:pPr algn="l">
              <a:lnSpc>
                <a:spcPct val="100000"/>
              </a:lnSpc>
              <a:spcAft>
                <a:spcPts val="0"/>
              </a:spcAft>
            </a:pPr>
            <a:r>
              <a:rPr sz="3200" b="1" i="0">
                <a:solidFill>
                  <a:srgbClr val="FFFFFF"/>
                </a:solidFill>
                <a:latin typeface="Segoe UI Semibold"/>
              </a:rPr>
              <a:t>Summary &amp; Path Forward</a:t>
            </a:r>
          </a:p>
        </p:txBody>
      </p:sp>
      <p:sp>
        <p:nvSpPr>
          <p:cNvPr id="6" name="Rounded Rectangle 5"/>
          <p:cNvSpPr/>
          <p:nvPr/>
        </p:nvSpPr>
        <p:spPr>
          <a:xfrm>
            <a:off x="594360" y="1508760"/>
            <a:ext cx="1109472" cy="77724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Problem</a:t>
            </a:r>
          </a:p>
        </p:txBody>
      </p:sp>
      <p:sp>
        <p:nvSpPr>
          <p:cNvPr id="8" name="Isosceles Triangle 7"/>
          <p:cNvSpPr/>
          <p:nvPr/>
        </p:nvSpPr>
        <p:spPr>
          <a:xfrm rot="5400000">
            <a:off x="1708404"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50136"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86712"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Research</a:t>
            </a:r>
          </a:p>
        </p:txBody>
      </p:sp>
      <p:sp>
        <p:nvSpPr>
          <p:cNvPr id="11" name="Isosceles Triangle 10"/>
          <p:cNvSpPr/>
          <p:nvPr/>
        </p:nvSpPr>
        <p:spPr>
          <a:xfrm rot="5400000">
            <a:off x="2964180"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05912"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42488"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Dataset</a:t>
            </a:r>
          </a:p>
        </p:txBody>
      </p:sp>
      <p:sp>
        <p:nvSpPr>
          <p:cNvPr id="14" name="Isosceles Triangle 13"/>
          <p:cNvSpPr/>
          <p:nvPr/>
        </p:nvSpPr>
        <p:spPr>
          <a:xfrm rot="5400000">
            <a:off x="4219956"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61688"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8264"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Preprocessing</a:t>
            </a:r>
          </a:p>
        </p:txBody>
      </p:sp>
      <p:sp>
        <p:nvSpPr>
          <p:cNvPr id="17" name="Isosceles Triangle 16"/>
          <p:cNvSpPr/>
          <p:nvPr/>
        </p:nvSpPr>
        <p:spPr>
          <a:xfrm rot="5400000">
            <a:off x="5475732"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17464"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54040"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ML Approach</a:t>
            </a:r>
          </a:p>
        </p:txBody>
      </p:sp>
      <p:sp>
        <p:nvSpPr>
          <p:cNvPr id="20" name="Isosceles Triangle 19"/>
          <p:cNvSpPr/>
          <p:nvPr/>
        </p:nvSpPr>
        <p:spPr>
          <a:xfrm rot="5400000">
            <a:off x="6731508"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73240"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9816"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Training &amp; Testing</a:t>
            </a:r>
          </a:p>
        </p:txBody>
      </p:sp>
      <p:sp>
        <p:nvSpPr>
          <p:cNvPr id="23" name="Isosceles Triangle 22"/>
          <p:cNvSpPr/>
          <p:nvPr/>
        </p:nvSpPr>
        <p:spPr>
          <a:xfrm rot="5400000">
            <a:off x="7987284"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29016"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5592"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Current Build Status</a:t>
            </a:r>
          </a:p>
        </p:txBody>
      </p:sp>
      <p:sp>
        <p:nvSpPr>
          <p:cNvPr id="26" name="Isosceles Triangle 25"/>
          <p:cNvSpPr/>
          <p:nvPr/>
        </p:nvSpPr>
        <p:spPr>
          <a:xfrm rot="5400000">
            <a:off x="9243060"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84792" y="1508760"/>
            <a:ext cx="1109472" cy="777240"/>
          </a:xfrm>
          <a:prstGeom prst="roundRect">
            <a:avLst>
              <a:gd name="adj" fmla="val 15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21368"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Preliminary Results</a:t>
            </a:r>
          </a:p>
        </p:txBody>
      </p:sp>
      <p:sp>
        <p:nvSpPr>
          <p:cNvPr id="29" name="Isosceles Triangle 28"/>
          <p:cNvSpPr/>
          <p:nvPr/>
        </p:nvSpPr>
        <p:spPr>
          <a:xfrm rot="5400000">
            <a:off x="10498836" y="1837944"/>
            <a:ext cx="95097" cy="118872"/>
          </a:xfrm>
          <a:prstGeom prst="triangle">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640568" y="1508760"/>
            <a:ext cx="1109472" cy="77724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77144" y="1508760"/>
            <a:ext cx="1036320" cy="777240"/>
          </a:xfrm>
          <a:prstGeom prst="rect">
            <a:avLst/>
          </a:prstGeom>
          <a:noFill/>
        </p:spPr>
        <p:txBody>
          <a:bodyPr wrap="square" anchor="ctr" lIns="0" rIns="0" tIns="0" bIns="0">
            <a:spAutoFit/>
          </a:bodyPr>
          <a:lstStyle/>
          <a:p>
            <a:pPr algn="ctr">
              <a:lnSpc>
                <a:spcPct val="100000"/>
              </a:lnSpc>
              <a:spcAft>
                <a:spcPts val="0"/>
              </a:spcAft>
            </a:pPr>
            <a:r>
              <a:rPr sz="930" b="1" i="0">
                <a:solidFill>
                  <a:srgbClr val="FFFFFF"/>
                </a:solidFill>
                <a:latin typeface="Segoe UI"/>
              </a:rPr>
              <a:t>Future Scope</a:t>
            </a:r>
          </a:p>
        </p:txBody>
      </p:sp>
      <p:sp>
        <p:nvSpPr>
          <p:cNvPr id="32" name="TextBox 31"/>
          <p:cNvSpPr txBox="1"/>
          <p:nvPr/>
        </p:nvSpPr>
        <p:spPr>
          <a:xfrm>
            <a:off x="640080" y="2651760"/>
            <a:ext cx="10881360" cy="1005840"/>
          </a:xfrm>
          <a:prstGeom prst="rect">
            <a:avLst/>
          </a:prstGeom>
          <a:noFill/>
        </p:spPr>
        <p:txBody>
          <a:bodyPr wrap="square" anchor="t" lIns="0" rIns="0" tIns="0" bIns="0">
            <a:spAutoFit/>
          </a:bodyPr>
          <a:lstStyle/>
          <a:p>
            <a:pPr algn="l">
              <a:lnSpc>
                <a:spcPct val="135000"/>
              </a:lnSpc>
              <a:spcAft>
                <a:spcPts val="0"/>
              </a:spcAft>
            </a:pPr>
            <a:r>
              <a:rPr sz="1400" b="0" i="0">
                <a:solidFill>
                  <a:srgbClr val="FFFFFF"/>
                </a:solidFill>
                <a:latin typeface="Segoe UI"/>
              </a:rPr>
              <a:t>AgriAI's crop recommendation baseline is real, trained and verified end-to-end: a public benchmark dataset, four honestly-compared ML models, a 99.3% test-accuracy Random Forest as the active model, and SHAP-based explainability. Since then, 9 of the 10 originally-planned extension modules — yield, profit, water, risk, disease detection, fertilizer, market price, notifications and the AI assistant — have also been implemented and verified end-to-end. Only satellite/NDVI monitoring remains future scope.</a:t>
            </a:r>
          </a:p>
        </p:txBody>
      </p:sp>
      <p:sp>
        <p:nvSpPr>
          <p:cNvPr id="33" name="Rounded Rectangle 32"/>
          <p:cNvSpPr/>
          <p:nvPr/>
        </p:nvSpPr>
        <p:spPr>
          <a:xfrm>
            <a:off x="640080" y="3840480"/>
            <a:ext cx="10881360" cy="2103120"/>
          </a:xfrm>
          <a:prstGeom prst="roundRect">
            <a:avLst>
              <a:gd name="adj" fmla="val 6000"/>
            </a:avLst>
          </a:prstGeom>
          <a:solidFill>
            <a:srgbClr val="153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023360"/>
            <a:ext cx="5486400" cy="320040"/>
          </a:xfrm>
          <a:prstGeom prst="rect">
            <a:avLst/>
          </a:prstGeom>
          <a:noFill/>
        </p:spPr>
        <p:txBody>
          <a:bodyPr wrap="square" anchor="t" lIns="0" rIns="0" tIns="0" bIns="0">
            <a:spAutoFit/>
          </a:bodyPr>
          <a:lstStyle/>
          <a:p>
            <a:pPr algn="l">
              <a:lnSpc>
                <a:spcPct val="100000"/>
              </a:lnSpc>
              <a:spcAft>
                <a:spcPts val="0"/>
              </a:spcAft>
            </a:pPr>
            <a:r>
              <a:rPr sz="1500" b="1" i="0">
                <a:solidFill>
                  <a:srgbClr val="66BB6A"/>
                </a:solidFill>
                <a:latin typeface="Segoe UI Semibold"/>
              </a:rPr>
              <a:t>References</a:t>
            </a:r>
          </a:p>
        </p:txBody>
      </p:sp>
      <p:sp>
        <p:nvSpPr>
          <p:cNvPr id="35" name="TextBox 34"/>
          <p:cNvSpPr txBox="1"/>
          <p:nvPr/>
        </p:nvSpPr>
        <p:spPr>
          <a:xfrm>
            <a:off x="914400" y="4389120"/>
            <a:ext cx="10332720" cy="1463040"/>
          </a:xfrm>
          <a:prstGeom prst="rect">
            <a:avLst/>
          </a:prstGeom>
          <a:noFill/>
        </p:spPr>
        <p:txBody>
          <a:bodyPr wrap="square" anchor="t" lIns="0" rIns="0" tIns="0" bIns="0">
            <a:spAutoFit/>
          </a:bodyPr>
          <a:lstStyle/>
          <a:p>
            <a:pPr algn="l">
              <a:lnSpc>
                <a:spcPct val="140000"/>
              </a:lnSpc>
              <a:spcAft>
                <a:spcPts val="0"/>
              </a:spcAft>
            </a:pPr>
            <a:r>
              <a:rPr sz="1200" b="0" i="0">
                <a:solidFill>
                  <a:srgbClr val="FFFFFF"/>
                </a:solidFill>
                <a:latin typeface="Segoe UI"/>
              </a:rPr>
              <a:t>Full reference list: 20 literature-review papers (slides 7-10) + project documentation (docs/dataset.md, docs/ml-methodology.md, docs/architecture.md, docs/xai.md, docs/future-scope.md) + ml/crop_recommendation/train.py + models/metrics.json.</a:t>
            </a:r>
          </a:p>
        </p:txBody>
      </p:sp>
      <p:cxnSp>
        <p:nvCxnSpPr>
          <p:cNvPr id="36" name="Connector 35"/>
          <p:cNvCxnSpPr/>
          <p:nvPr/>
        </p:nvCxnSpPr>
        <p:spPr>
          <a:xfrm>
            <a:off x="640080" y="6510528"/>
            <a:ext cx="10908792" cy="0"/>
          </a:xfrm>
          <a:prstGeom prst="line">
            <a:avLst/>
          </a:prstGeom>
          <a:ln w="9525">
            <a:solidFill>
              <a:srgbClr val="2A4033"/>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65392"/>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AFC4B6"/>
                </a:solidFill>
                <a:latin typeface="Segoe UI"/>
              </a:rPr>
              <a:t>AI Based Crop Recommendation</a:t>
            </a:r>
          </a:p>
        </p:txBody>
      </p:sp>
      <p:sp>
        <p:nvSpPr>
          <p:cNvPr id="38" name="TextBox 37"/>
          <p:cNvSpPr txBox="1"/>
          <p:nvPr/>
        </p:nvSpPr>
        <p:spPr>
          <a:xfrm>
            <a:off x="10058400" y="6565392"/>
            <a:ext cx="1490472" cy="274320"/>
          </a:xfrm>
          <a:prstGeom prst="rect">
            <a:avLst/>
          </a:prstGeom>
          <a:noFill/>
        </p:spPr>
        <p:txBody>
          <a:bodyPr wrap="square" anchor="t" lIns="0" rIns="0" tIns="0" bIns="0">
            <a:spAutoFit/>
          </a:bodyPr>
          <a:lstStyle/>
          <a:p>
            <a:pPr algn="r">
              <a:lnSpc>
                <a:spcPct val="100000"/>
              </a:lnSpc>
              <a:spcAft>
                <a:spcPts val="0"/>
              </a:spcAft>
            </a:pPr>
            <a:r>
              <a:rPr sz="950" b="0" i="0">
                <a:solidFill>
                  <a:srgbClr val="AFC4B6"/>
                </a:solidFill>
                <a:latin typeface="Segoe UI"/>
              </a:rPr>
              <a:t>Phase-1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